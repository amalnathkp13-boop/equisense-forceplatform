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76" r:id="rId47"/>
    <p:sldId id="277" r:id="rId48"/>
    <p:sldId id="278" r:id="rId49"/>
    <p:sldId id="279" r:id="rId50"/>
    <p:sldId id="280" r:id="rId51"/>
    <p:sldId id="281" r:id="rId52"/>
    <p:sldId id="282" r:id="rId53"/>
    <p:sldId id="283" r:id="rId54"/>
    <p:sldId id="284" r:id="rId55"/>
    <p:sldId id="285" r:id="rId56"/>
    <p:sldId id="286" r:id="rId57"/>
    <p:sldId id="287" r:id="rId58"/>
    <p:sldId id="288" r:id="rId59"/>
    <p:sldId id="289" r:id="rId60"/>
  </p:sldIdLst>
  <p:sldSz cy="6858000" cx="12192000"/>
  <p:notesSz cx="6858000" cy="9144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Poppins"/>
      <p:regular r:id="rId31"/>
      <p:bold r:id="rId32"/>
      <p:italic r:id="rId33"/>
      <p:boldItalic r:id="rId34"/>
    </p:embeddedFont>
    <p:embeddedFont>
      <p:font typeface="Inter"/>
      <p:regular r:id="rId35"/>
      <p:bold r:id="rId36"/>
      <p:italic r:id="rId37"/>
      <p:boldItalic r:id="rId38"/>
    </p:embeddedFont>
    <p:embeddedFont>
      <p:font typeface="Poppins SemiBold"/>
      <p:regular r:id="rId39"/>
      <p:bold r:id="rId40"/>
      <p:italic r:id="rId41"/>
      <p:boldItalic r:id="rId42"/>
    </p:embeddedFont>
    <p:embeddedFont>
      <p:font typeface="DM Sans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1CCE7A-FDF7-472A-909B-C5EBB1D3D8B2}">
  <a:tblStyle styleId="{3A1CCE7A-FDF7-472A-909B-C5EBB1D3D8B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27" Type="http://schemas.openxmlformats.org/officeDocument/2006/relationships/font" Target="fonts/DMSansMedium-regular.fntdata"/><Relationship Id="rId28" Type="http://schemas.openxmlformats.org/officeDocument/2006/relationships/font" Target="fonts/DMSansMedium-bold.fntdata"/><Relationship Id="rId29" Type="http://schemas.openxmlformats.org/officeDocument/2006/relationships/font" Target="fonts/DMSansMedium-italic.fntdata"/><Relationship Id="rId30" Type="http://schemas.openxmlformats.org/officeDocument/2006/relationships/font" Target="fonts/DMSansMedium-boldItalic.fntdata"/><Relationship Id="rId31" Type="http://schemas.openxmlformats.org/officeDocument/2006/relationships/font" Target="fonts/Poppins-regular.fntdata"/><Relationship Id="rId32" Type="http://schemas.openxmlformats.org/officeDocument/2006/relationships/font" Target="fonts/Poppins-bold.fntdata"/><Relationship Id="rId33" Type="http://schemas.openxmlformats.org/officeDocument/2006/relationships/font" Target="fonts/Poppins-italic.fntdata"/><Relationship Id="rId34" Type="http://schemas.openxmlformats.org/officeDocument/2006/relationships/font" Target="fonts/Poppins-boldItalic.fntdata"/><Relationship Id="rId35" Type="http://schemas.openxmlformats.org/officeDocument/2006/relationships/font" Target="fonts/Inter-regular.fntdata"/><Relationship Id="rId36" Type="http://schemas.openxmlformats.org/officeDocument/2006/relationships/font" Target="fonts/Inter-bold.fntdata"/><Relationship Id="rId37" Type="http://schemas.openxmlformats.org/officeDocument/2006/relationships/font" Target="fonts/Inter-italic.fntdata"/><Relationship Id="rId38" Type="http://schemas.openxmlformats.org/officeDocument/2006/relationships/font" Target="fonts/Inter-boldItalic.fntdata"/><Relationship Id="rId39" Type="http://schemas.openxmlformats.org/officeDocument/2006/relationships/font" Target="fonts/PoppinsSemiBold-regular.fntdata"/><Relationship Id="rId40" Type="http://schemas.openxmlformats.org/officeDocument/2006/relationships/font" Target="fonts/PoppinsSemiBold-bold.fntdata"/><Relationship Id="rId41" Type="http://schemas.openxmlformats.org/officeDocument/2006/relationships/font" Target="fonts/PoppinsSemiBold-italic.fntdata"/><Relationship Id="rId42" Type="http://schemas.openxmlformats.org/officeDocument/2006/relationships/font" Target="fonts/PoppinsSemiBold-boldItalic.fntdata"/><Relationship Id="rId43" Type="http://schemas.openxmlformats.org/officeDocument/2006/relationships/font" Target="fonts/DMSans-regular.fntdata"/><Relationship Id="rId44" Type="http://schemas.openxmlformats.org/officeDocument/2006/relationships/font" Target="fonts/DMSans-bold.fntdata"/><Relationship Id="rId45" Type="http://schemas.openxmlformats.org/officeDocument/2006/relationships/font" Target="fonts/DMSans-italic.fntdata"/><Relationship Id="rId46" Type="http://schemas.openxmlformats.org/officeDocument/2006/relationships/font" Target="fonts/DMSans-boldItalic.fntdata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14.png"/><Relationship Id="rId6" Type="http://schemas.openxmlformats.org/officeDocument/2006/relationships/image" Target="../media/image7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77.png"/><Relationship Id="rId6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81.png"/><Relationship Id="rId6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83.png"/><Relationship Id="rId6" Type="http://schemas.openxmlformats.org/officeDocument/2006/relationships/image" Target="../media/image79.png"/><Relationship Id="rId7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70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320528" y="3182619"/>
            <a:ext cx="7551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5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EquiSense Force Platform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527048" y="3931920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r>
              <a:rPr sz="1300" b="0" i="0">
                <a:solidFill>
                  <a:srgbClr val="334155"/>
                </a:solidFill>
                <a:latin typeface="DM Sans"/>
              </a:rPr>
              <a:t>Low-cost four-load-cell Centre-of-Pressure platform for balance assessment after minor lower-limb amputation</a:t>
            </a:r>
            <a:endParaRPr/>
          </a:p>
        </p:txBody>
      </p:sp>
      <p:pic>
        <p:nvPicPr>
          <p:cNvPr descr="image.png" id="87" name="Google Shape;8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70213" y="2268205"/>
            <a:ext cx="5851614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00669" y="80825"/>
            <a:ext cx="1491330" cy="78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80825"/>
            <a:ext cx="2428825" cy="7848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1527048" y="44348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DM Sans"/>
              </a:rPr>
              <a:t>Vishwakarma Application ID: </a:t>
            </a:r>
            <a:r>
              <a:rPr sz="1100" b="0" i="0">
                <a:solidFill>
                  <a:srgbClr val="0369A1"/>
                </a:solidFill>
                <a:latin typeface="DM Sans"/>
              </a:rPr>
              <a:t>[enter ID]</a:t>
            </a:r>
            <a:r>
              <a:rPr sz="1100" b="1" i="0">
                <a:solidFill>
                  <a:srgbClr val="0F172A"/>
                </a:solidFill>
                <a:latin typeface="DM Sans"/>
              </a:rPr>
              <a:t>     Track: </a:t>
            </a:r>
            <a:r>
              <a:rPr sz="1100" b="0" i="0">
                <a:solidFill>
                  <a:srgbClr val="0369A1"/>
                </a:solidFill>
                <a:latin typeface="DM Sans"/>
              </a:rPr>
              <a:t>[enter track]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527048" y="484632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DM Sans"/>
              </a:rPr>
              <a:t>Team: Dhiyadharshini V. · Kaviashree Rangasamy · Kameshwaran V. · Lakshmi Praba M.</a:t>
            </a:r>
          </a:p>
          <a:p>
            <a:pPr algn="ctr"/>
            <a:r>
              <a:rPr sz="1050" b="0" i="0">
                <a:solidFill>
                  <a:srgbClr val="64748B"/>
                </a:solidFill>
                <a:latin typeface="DM Sans"/>
              </a:rPr>
              <a:t>Supervisor: Mrs. C. Radhika, AP/BME · Department of Biomedical Engineering, Tamil Nadu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Problem Context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9860" y="484632"/>
            <a:ext cx="134874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09860" y="484632"/>
            <a:ext cx="134874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PROBLEM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2670048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033272"/>
            <a:ext cx="2487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369A1"/>
                </a:solidFill>
                <a:latin typeface="Poppins"/>
              </a:rPr>
              <a:t>56.1%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53312"/>
            <a:ext cx="24871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LIMB-LOSS COHORT WHO FELL IN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960120"/>
            <a:ext cx="2670048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47288" y="1033272"/>
            <a:ext cx="2487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369A1"/>
                </a:solidFill>
                <a:latin typeface="Poppins"/>
              </a:rPr>
              <a:t>70.9%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1353312"/>
            <a:ext cx="24871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INDIAN DIABETIC AMPUTATIONS: MINOR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960120"/>
            <a:ext cx="2670048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1033272"/>
            <a:ext cx="2487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369A1"/>
                </a:solidFill>
                <a:latin typeface="Poppins"/>
              </a:rPr>
              <a:t>₹8,00,000+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353312"/>
            <a:ext cx="24871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COST OF A RESEARCH FORCE PLATE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960120"/>
            <a:ext cx="2670048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79992" y="1033272"/>
            <a:ext cx="2487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369A1"/>
                </a:solidFill>
                <a:latin typeface="Poppins"/>
              </a:rPr>
              <a:t>0–56 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92" y="1353312"/>
            <a:ext cx="24871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BERG SCALE: ORDINAL, NO mm SWAY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" y="1737360"/>
            <a:ext cx="5431536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oot_b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" y="2196424"/>
            <a:ext cx="5321808" cy="264803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0352" y="5340096"/>
            <a:ext cx="5431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Figure: Forefoot loss shortens the plantarflexor lever arm and anterior base of support (schematic)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1737360"/>
            <a:ext cx="5431536" cy="3803904"/>
          </a:xfrm>
          <a:prstGeom prst="roundRect">
            <a:avLst>
              <a:gd name="adj" fmla="val 1923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446520" y="1956816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65976" y="1901952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Target Beneficiary &amp; Problem Statement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240280"/>
            <a:ext cx="502920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60" b="1" i="0">
                <a:solidFill>
                  <a:srgbClr val="0F172A"/>
                </a:solidFill>
                <a:latin typeface="DM Sans"/>
              </a:rPr>
              <a:t>Target User: </a:t>
            </a:r>
            <a:r>
              <a:rPr sz="960" b="0" i="0">
                <a:solidFill>
                  <a:srgbClr val="334155"/>
                </a:solidFill>
                <a:latin typeface="DM Sans"/>
              </a:rPr>
              <a:t>People after minor lower-limb amputation (toe, ray, transmetatarsal) caused by diabetes or PAD, and the physiotherapists in district-level rehabilitation centres in India who treat them.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60" b="1" i="0">
                <a:solidFill>
                  <a:srgbClr val="0F172A"/>
                </a:solidFill>
                <a:latin typeface="DM Sans"/>
              </a:rPr>
              <a:t>Problem Statement: </a:t>
            </a:r>
            <a:r>
              <a:rPr sz="960" b="0" i="0">
                <a:solidFill>
                  <a:srgbClr val="334155"/>
                </a:solidFill>
                <a:latin typeface="DM Sans"/>
              </a:rPr>
              <a:t>Losing the forefoot shortens the actuator (ankle lever arm), and diabetic neuropathy dulls the sensor (plantar feedback). Sway corrections become larger and faster, so fall risk goes up.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60" b="1" i="0">
                <a:solidFill>
                  <a:srgbClr val="0F172A"/>
                </a:solidFill>
                <a:latin typeface="DM Sans"/>
              </a:rPr>
              <a:t>Operational Gap: </a:t>
            </a:r>
            <a:r>
              <a:rPr sz="960" b="0" i="0">
                <a:solidFill>
                  <a:srgbClr val="334155"/>
                </a:solidFill>
                <a:latin typeface="DM Sans"/>
              </a:rPr>
              <a:t>Clinics score balance with ordinal tests (Berg Balance Scale, Timed Up and Go). Objective centre-of-pressure posturography needs a lab force plate costing ₹8 lakh or more.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60" b="1" i="0">
                <a:solidFill>
                  <a:srgbClr val="0F172A"/>
                </a:solidFill>
                <a:latin typeface="DM Sans"/>
              </a:rPr>
              <a:t>Public Search Disclosure: </a:t>
            </a:r>
            <a:r>
              <a:rPr sz="960" b="0" i="0">
                <a:solidFill>
                  <a:srgbClr val="334155"/>
                </a:solidFill>
                <a:latin typeface="DM Sans"/>
              </a:rPr>
              <a:t>Kistler/AMTI plates are lab-bound; the Wii Balance Board is discontinued and was never built as an instrument; stock HX711 builds sample at 10 Hz, under-sampling sway.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60" b="1" i="0">
                <a:solidFill>
                  <a:srgbClr val="0F172A"/>
                </a:solidFill>
                <a:latin typeface="DM Sans"/>
              </a:rPr>
              <a:t>Measurement Need: </a:t>
            </a:r>
            <a:r>
              <a:rPr sz="960" b="0" i="0">
                <a:solidFill>
                  <a:srgbClr val="334155"/>
                </a:solidFill>
                <a:latin typeface="DM Sans"/>
              </a:rPr>
              <a:t>Objective, repeatable sway metrics (MVELO, PEA95) read against each patient's own baseline, at a cost a district clinic can afford.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Project Overview: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Team ID: [enter]  |  Track: [enter]  |  Core Innovation: battery-isolated 4-load-cell CoP platform (80 Hz, MVELO + PEA95) for ₹13,624.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User Journey: Before vs After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78440" y="484632"/>
            <a:ext cx="12801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78440" y="484632"/>
            <a:ext cx="12801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USER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5431536" cy="4526280"/>
          </a:xfrm>
          <a:prstGeom prst="roundRect">
            <a:avLst>
              <a:gd name="adj" fmla="val 1616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31520" y="1152144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1097280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Before State: Current Pain-Point Mapping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81328"/>
            <a:ext cx="50292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1600200"/>
            <a:ext cx="274320" cy="27432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15087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334155"/>
                </a:solidFill>
                <a:latin typeface="DM Sans"/>
              </a:rPr>
              <a:t>Patient with a toe or transmetatarsal amputation comes for a rehab review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46120" y="1993392"/>
            <a:ext cx="0" cy="146304"/>
          </a:xfrm>
          <a:prstGeom prst="line">
            <a:avLst/>
          </a:prstGeom>
          <a:ln w="15875">
            <a:solidFill>
              <a:srgbClr val="B9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2139696"/>
            <a:ext cx="50292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22960" y="2258568"/>
            <a:ext cx="274320" cy="27432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167127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334155"/>
                </a:solidFill>
                <a:latin typeface="DM Sans"/>
              </a:rPr>
              <a:t>Physiotherapist scores the Berg Balance Scale / TUG by eye: ordinal and observer-dependent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46120" y="2651760"/>
            <a:ext cx="0" cy="146303"/>
          </a:xfrm>
          <a:prstGeom prst="line">
            <a:avLst/>
          </a:prstGeom>
          <a:ln w="15875">
            <a:solidFill>
              <a:srgbClr val="B9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1520" y="2798063"/>
            <a:ext cx="50292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2960" y="2916935"/>
            <a:ext cx="274320" cy="27432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825495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334155"/>
                </a:solidFill>
                <a:latin typeface="DM Sans"/>
              </a:rPr>
              <a:t>No objective sway number, so slow deterioration between visits goes unseen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46120" y="3310127"/>
            <a:ext cx="0" cy="146304"/>
          </a:xfrm>
          <a:prstGeom prst="line">
            <a:avLst/>
          </a:prstGeom>
          <a:ln w="15875">
            <a:solidFill>
              <a:srgbClr val="B9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1520" y="3456431"/>
            <a:ext cx="50292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2960" y="3575303"/>
            <a:ext cx="274320" cy="27432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483863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334155"/>
                </a:solidFill>
                <a:latin typeface="DM Sans"/>
              </a:rPr>
              <a:t>Gait-lab force plates exist only in tertiary centres; action often follows a fall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206240"/>
            <a:ext cx="1600200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" y="427939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B91C1C"/>
                </a:solidFill>
                <a:latin typeface="Poppins"/>
              </a:rPr>
              <a:t>₹8 L+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99431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LAB PLATE ONLY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41448" y="4206240"/>
            <a:ext cx="1600200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532888" y="427939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B91C1C"/>
                </a:solidFill>
                <a:latin typeface="Poppins"/>
              </a:rPr>
              <a:t>10 Hz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32888" y="4599431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STOCK HX711 RATE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51376" y="4206240"/>
            <a:ext cx="1600200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242816" y="427939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B91C1C"/>
                </a:solidFill>
                <a:latin typeface="Poppins"/>
              </a:rPr>
              <a:t>Ordinal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4599431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BBS / TUG SCORES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9377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0" i="0">
                <a:solidFill>
                  <a:srgbClr val="64748B"/>
                </a:solidFill>
                <a:latin typeface="DM Sans"/>
              </a:rPr>
              <a:t>Quantified inefficiency: no affordable mm-level measure; a 10 Hz build under-samples sway velocity and makes patients look falsely stable.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7064" y="960120"/>
            <a:ext cx="5431536" cy="4526280"/>
          </a:xfrm>
          <a:prstGeom prst="roundRect">
            <a:avLst>
              <a:gd name="adj" fmla="val 161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28232" y="1152144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47688" y="1097280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After State: Future Solution Mapping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8232" y="1481328"/>
            <a:ext cx="50292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6519672" y="1600200"/>
            <a:ext cx="274320" cy="2743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85432" y="15087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334155"/>
                </a:solidFill>
                <a:latin typeface="DM Sans"/>
              </a:rPr>
              <a:t>30-s eyes-open quiet-stance baseline on EquiSense, stored for each patient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942832" y="1993392"/>
            <a:ext cx="0" cy="146304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428232" y="2139696"/>
            <a:ext cx="50292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6519672" y="2258568"/>
            <a:ext cx="274320" cy="2743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5432" y="2167127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334155"/>
                </a:solidFill>
                <a:latin typeface="DM Sans"/>
              </a:rPr>
              <a:t>4 channels at 80 Hz → CoP, MVELO, RDIST, PEA95 and ASYM_AP computed on the ESP32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942832" y="2651760"/>
            <a:ext cx="0" cy="146303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428232" y="2798063"/>
            <a:ext cx="50292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519672" y="2916935"/>
            <a:ext cx="274320" cy="2743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5432" y="2825495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334155"/>
                </a:solidFill>
                <a:latin typeface="DM Sans"/>
              </a:rPr>
              <a:t>Score = MVELO(trial) ÷ MVELO(baseline): Stable &lt; 1.5 · Moderate 1.5–2.5 · High ≥ 2.5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942832" y="3310127"/>
            <a:ext cx="0" cy="146304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6428232" y="3456431"/>
            <a:ext cx="50292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6519672" y="3575303"/>
            <a:ext cx="274320" cy="2743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5432" y="3483863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334155"/>
                </a:solidFill>
                <a:latin typeface="DM Sans"/>
              </a:rPr>
              <a:t>Trend shown on the Wi-Fi dashboard and exported as CSV for the physiotherapist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28232" y="4206240"/>
            <a:ext cx="1600200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519672" y="427939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47857"/>
                </a:solidFill>
                <a:latin typeface="Poppins"/>
              </a:rPr>
              <a:t>₹13,624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19672" y="4599431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TOTAL BUILD COST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38160" y="4206240"/>
            <a:ext cx="1600200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29600" y="427939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47857"/>
                </a:solidFill>
                <a:latin typeface="Poppins"/>
              </a:rPr>
              <a:t>≤ 5 mm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4599431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CoP RMS ERROR TARGET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48088" y="4206240"/>
            <a:ext cx="1600200" cy="649224"/>
          </a:xfrm>
          <a:prstGeom prst="roundRect">
            <a:avLst>
              <a:gd name="adj" fmla="val 84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9939528" y="427939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47857"/>
                </a:solidFill>
                <a:latin typeface="Poppins"/>
              </a:rPr>
              <a:t>30 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39528" y="4599431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0" i="0">
                <a:solidFill>
                  <a:srgbClr val="64748B"/>
                </a:solidFill>
                <a:latin typeface="DM Sans"/>
              </a:rPr>
              <a:t>PER TRIAL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28232" y="49377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0" i="0">
                <a:solidFill>
                  <a:srgbClr val="64748B"/>
                </a:solidFill>
                <a:latin typeface="DM Sans"/>
              </a:rPr>
              <a:t>Quantified efficiency: about 98% cheaper than a lab plate, portable and battery-run, with mm-level CoP read against each patient's own baseline.</a:t>
            </a:r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Note: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After-state figures are Rev 2.0 engineering targets, checked by the V1–V9 bench battery. Clinical benefit will be measured in the IEC-cleared observational study.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System Architecture &amp; Specs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35540" y="484632"/>
            <a:ext cx="16230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35540" y="484632"/>
            <a:ext cx="16230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SYSTEM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5431536" cy="4553712"/>
          </a:xfrm>
          <a:prstGeom prst="roundRect">
            <a:avLst>
              <a:gd name="adj" fmla="val 160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31520" y="1133856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1078992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System Block Diagram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17320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4672" y="1453896"/>
            <a:ext cx="48828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 i="0">
                <a:solidFill>
                  <a:srgbClr val="0F172A"/>
                </a:solidFill>
                <a:latin typeface="DM Sans"/>
              </a:rPr>
              <a:t>MECHANICAL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45920"/>
            <a:ext cx="4882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80" b="0" i="0">
                <a:solidFill>
                  <a:srgbClr val="334155"/>
                </a:solidFill>
                <a:latin typeface="DM Sans"/>
              </a:rPr>
              <a:t>450×450×6 mm Al 6061-T6 top plate → 3 mm steel Z-mount spacers → 12 mm plywood base + 4 levelling feet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46120" y="1984248"/>
            <a:ext cx="0" cy="14630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2130552"/>
            <a:ext cx="50292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" y="2167128"/>
            <a:ext cx="48828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 i="0">
                <a:solidFill>
                  <a:srgbClr val="0F172A"/>
                </a:solidFill>
                <a:latin typeface="DM Sans"/>
              </a:rPr>
              <a:t>SENSING (×4 corners at ±200 mm)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359152"/>
            <a:ext cx="4882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80" b="0" i="0">
                <a:solidFill>
                  <a:srgbClr val="334155"/>
                </a:solidFill>
                <a:latin typeface="DM Sans"/>
              </a:rPr>
              <a:t>Phaeton 611E parallel-beam load cells, 200 kg, 2.0 mV/V, full Wheatstone bridge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46120" y="2633472"/>
            <a:ext cx="0" cy="14630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1520" y="2779776"/>
            <a:ext cx="3246120" cy="640080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04672" y="2816352"/>
            <a:ext cx="30998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 i="0">
                <a:solidFill>
                  <a:srgbClr val="0F172A"/>
                </a:solidFill>
                <a:latin typeface="DM Sans"/>
              </a:rPr>
              <a:t>ANALOGUE FRONT-END (×4)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008376"/>
            <a:ext cx="3099815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80" b="0" i="0">
                <a:solidFill>
                  <a:srgbClr val="334155"/>
                </a:solidFill>
                <a:latin typeface="DM Sans"/>
              </a:rPr>
              <a:t>HX711 24-bit ΣΔ, Ch A gain 128, RATE→DVDD = 80 SPS; shared PD_SCK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779776"/>
            <a:ext cx="1645920" cy="1481328"/>
          </a:xfrm>
          <a:prstGeom prst="roundRect">
            <a:avLst>
              <a:gd name="adj" fmla="val 4938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187952" y="2816352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 i="0">
                <a:solidFill>
                  <a:srgbClr val="0F172A"/>
                </a:solidFill>
                <a:latin typeface="DM Sans"/>
              </a:rPr>
              <a:t>POWER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7952" y="3008376"/>
            <a:ext cx="1499616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80" b="0" i="0">
                <a:solidFill>
                  <a:srgbClr val="334155"/>
                </a:solidFill>
                <a:latin typeface="DM Sans"/>
              </a:rPr>
              <a:t>2×18650 Shield V8 → 5 V
AMS1117 → 3.3 V
S8550 → AVDD 4.30 V
(no mains path)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50008" y="3419856"/>
            <a:ext cx="0" cy="14630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" y="3566160"/>
            <a:ext cx="3246120" cy="694944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04672" y="3602736"/>
            <a:ext cx="30998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 i="0">
                <a:solidFill>
                  <a:srgbClr val="0F172A"/>
                </a:solidFill>
                <a:latin typeface="DM Sans"/>
              </a:rPr>
              <a:t>CONTROLLER: ESP32-WROOM-32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3794760"/>
            <a:ext cx="309981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80" b="0" i="0">
                <a:solidFill>
                  <a:srgbClr val="334155"/>
                </a:solidFill>
                <a:latin typeface="DM Sans"/>
              </a:rPr>
              <a:t>Core 1: acquisition + Butterworth + CoP + guards
Core 0: Wi-Fi dashboard, CLI, NVS baseline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50008" y="4261104"/>
            <a:ext cx="0" cy="14630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31520" y="4407408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4672" y="4443984"/>
            <a:ext cx="48828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 i="0">
                <a:solidFill>
                  <a:srgbClr val="0F172A"/>
                </a:solidFill>
                <a:latin typeface="DM Sans"/>
              </a:rPr>
              <a:t>OUTPUTS / FIRMWARE LOGIC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636008"/>
            <a:ext cx="4882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80" b="0" i="0">
                <a:solidFill>
                  <a:srgbClr val="334155"/>
                </a:solidFill>
                <a:latin typeface="DM Sans"/>
              </a:rPr>
              <a:t>JSON status at 10 Hz · serial CSV dump · status LED · baseline-ratio risk score · haptic (disabled)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977639" y="3520440"/>
            <a:ext cx="137161" cy="0"/>
          </a:xfrm>
          <a:prstGeom prst="line">
            <a:avLst/>
          </a:prstGeom>
          <a:ln w="15875">
            <a:solidFill>
              <a:srgbClr val="B9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30352" y="5138928"/>
            <a:ext cx="5431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Figure: EquiSense Rev 2.0 subsystem map (mechanical → sensing → AFE → MCU → outputs)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27064" y="960120"/>
            <a:ext cx="5431536" cy="4553712"/>
          </a:xfrm>
          <a:prstGeom prst="roundRect">
            <a:avLst>
              <a:gd name="adj" fmla="val 160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446520" y="1133856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65976" y="1078992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Engineering Target Specifications &amp; Hardware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6446520" y="1417320"/>
          <a:ext cx="5010910" cy="38679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56364"/>
                <a:gridCol w="1927273"/>
                <a:gridCol w="1927273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819" b="1" i="0">
                          <a:solidFill>
                            <a:srgbClr val="0F172A"/>
                          </a:solidFill>
                          <a:latin typeface="DM Sans"/>
                        </a:rPr>
                        <a:t>Parameter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1" i="0">
                          <a:solidFill>
                            <a:srgbClr val="0F172A"/>
                          </a:solidFill>
                          <a:latin typeface="DM Sans"/>
                        </a:rPr>
                        <a:t>Target spec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1" i="0">
                          <a:solidFill>
                            <a:srgbClr val="0F172A"/>
                          </a:solidFill>
                          <a:latin typeface="DM Sans"/>
                        </a:rPr>
                        <a:t>Selected hardware / protocol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Sampling rate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80 Hz per channel (trial blocked &lt; 60 Hz)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HX711, RATE pin 15 tied to DVDD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Force capacity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4 × 200 kg = 800 kg; SF &gt; 5.3 at 150 kg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Phaeton 611E, 2.0 mV/V, IP65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ADC range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±16.8 mV FS (1.95× headroom)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HX711 Channel A, gain 128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CoP accuracy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≤ 5 mm RMS, ≤ 10 mm max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400 × 400 mm sensor rectangle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CoP noise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&lt; 1.0 mm RMS (70 kg static)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Butterworth LPF, fc 10 Hz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Inter-ADC skew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≤ 12.5 ms (≤ 0.13 mm at 10 mm/s)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Shared PD_SCK on GPIO 27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Power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Battery-isolated, no mains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2×18650 Shield V8 → AMS1117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Controller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Dual-core 240 MHz, Wi-Fi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ESP32-WROOM-32 (NodeMCU-32S)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Architecture Rationale: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one shared PD_SCK clock with four dedicated DOUT lines starts all conversions together; battery power removes 50 Hz mains pickup; gain 128 keeps 1.95× headroom over 200 kg.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Signal Chain, CoP Maths &amp; Firmware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35540" y="484632"/>
            <a:ext cx="16230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35540" y="484632"/>
            <a:ext cx="16230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SYSTEM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5431536" cy="4553712"/>
          </a:xfrm>
          <a:prstGeom prst="roundRect">
            <a:avLst>
              <a:gd name="adj" fmla="val 160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31520" y="1133856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1078992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Platform Coordinates &amp; Centre-of-Pressure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6424" y="1444752"/>
            <a:ext cx="2496312" cy="2496312"/>
          </a:xfrm>
          <a:prstGeom prst="roundRect">
            <a:avLst>
              <a:gd name="adj" fmla="val 1465"/>
            </a:avLst>
          </a:prstGeom>
          <a:solidFill>
            <a:srgbClr val="E2E8F0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1234440" y="1572768"/>
            <a:ext cx="2240280" cy="2240280"/>
          </a:xfrm>
          <a:prstGeom prst="roundRect">
            <a:avLst>
              <a:gd name="adj" fmla="val 816"/>
            </a:avLst>
          </a:prstGeom>
          <a:solidFill>
            <a:srgbClr val="FFFFFF"/>
          </a:solidFill>
          <a:ln w="15875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307592" y="1645920"/>
            <a:ext cx="2093976" cy="2093976"/>
          </a:xfrm>
          <a:prstGeom prst="roundRect">
            <a:avLst>
              <a:gd name="adj" fmla="val 873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2354580" y="2692908"/>
            <a:ext cx="6858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54580" y="2007108"/>
            <a:ext cx="0" cy="68580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012948" y="2601468"/>
            <a:ext cx="274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F172A"/>
                </a:solidFill>
                <a:latin typeface="DM Sans"/>
              </a:rPr>
              <a:t>+X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0300" y="1851660"/>
            <a:ext cx="274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F172A"/>
                </a:solidFill>
                <a:latin typeface="DM Sans"/>
              </a:rPr>
              <a:t>+Y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0532" y="2720340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DM Sans"/>
              </a:rPr>
              <a:t>(0,0)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1453895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389888" y="172821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369A1"/>
                </a:solidFill>
                <a:latin typeface="DM Sans"/>
              </a:rPr>
              <a:t>FL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55848" y="1453895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71800" y="172821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369A1"/>
                </a:solidFill>
                <a:latin typeface="DM Sans"/>
              </a:rPr>
              <a:t>FR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5568" y="3694176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3474720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369A1"/>
                </a:solidFill>
                <a:latin typeface="DM Sans"/>
              </a:rPr>
              <a:t>BL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5848" y="3694176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971800" y="3474720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369A1"/>
                </a:solidFill>
                <a:latin typeface="DM Sans"/>
              </a:rPr>
              <a:t>BR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995928"/>
            <a:ext cx="2788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60" b="0" i="0">
                <a:solidFill>
                  <a:srgbClr val="64748B"/>
                </a:solidFill>
                <a:latin typeface="DM Sans"/>
              </a:rPr>
              <a:t>400 mm sensor rectangle · valid CoP |X|, |Y| ≤ 195 mm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67328" y="1527048"/>
            <a:ext cx="17830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F172A"/>
                </a:solidFill>
                <a:latin typeface="DM Sans"/>
              </a:rPr>
              <a:t>Corners (mm)</a:t>
            </a:r>
          </a:p>
          <a:p>
            <a:pPr algn="l"/>
            <a:r>
              <a:rPr sz="840" b="0" i="0">
                <a:solidFill>
                  <a:srgbClr val="334155"/>
                </a:solidFill>
                <a:latin typeface="DM Sans"/>
              </a:rPr>
              <a:t>FL (−200, +200)</a:t>
            </a:r>
          </a:p>
          <a:p>
            <a:pPr algn="l"/>
            <a:r>
              <a:rPr sz="840" b="0" i="0">
                <a:solidFill>
                  <a:srgbClr val="334155"/>
                </a:solidFill>
                <a:latin typeface="DM Sans"/>
              </a:rPr>
              <a:t>FR (+200, +200)</a:t>
            </a:r>
          </a:p>
          <a:p>
            <a:pPr algn="l"/>
            <a:r>
              <a:rPr sz="840" b="0" i="0">
                <a:solidFill>
                  <a:srgbClr val="334155"/>
                </a:solidFill>
                <a:latin typeface="DM Sans"/>
              </a:rPr>
              <a:t>BL (−200, −200)</a:t>
            </a:r>
          </a:p>
          <a:p>
            <a:pPr algn="l"/>
            <a:r>
              <a:rPr sz="840" b="0" i="0">
                <a:solidFill>
                  <a:srgbClr val="334155"/>
                </a:solidFill>
                <a:latin typeface="DM Sans"/>
              </a:rPr>
              <a:t>BR (+200, −200)</a:t>
            </a:r>
          </a:p>
          <a:p>
            <a:pPr algn="l"/>
            <a:r>
              <a:rPr sz="840" b="0" i="0">
                <a:solidFill>
                  <a:srgbClr val="334155"/>
                </a:solidFill>
                <a:latin typeface="DM Sans"/>
              </a:rPr>
              <a:t/>
            </a:r>
          </a:p>
          <a:p>
            <a:pPr algn="l"/>
            <a:r>
              <a:rPr sz="840" b="1" i="0">
                <a:solidFill>
                  <a:srgbClr val="0F172A"/>
                </a:solidFill>
                <a:latin typeface="DM Sans"/>
              </a:rPr>
              <a:t>Plate envelope</a:t>
            </a:r>
          </a:p>
          <a:p>
            <a:pPr algn="l"/>
            <a:r>
              <a:rPr sz="840" b="0" i="0">
                <a:solidFill>
                  <a:srgbClr val="334155"/>
                </a:solidFill>
                <a:latin typeface="DM Sans"/>
              </a:rPr>
              <a:t>450 × 450 × 6 mm</a:t>
            </a:r>
          </a:p>
          <a:p>
            <a:pPr algn="l"/>
            <a:r>
              <a:rPr sz="840" b="0" i="0">
                <a:solidFill>
                  <a:srgbClr val="334155"/>
                </a:solidFill>
                <a:latin typeface="DM Sans"/>
              </a:rPr>
              <a:t/>
            </a:r>
          </a:p>
          <a:p>
            <a:pPr algn="l"/>
            <a:r>
              <a:rPr sz="840" b="1" i="0">
                <a:solidFill>
                  <a:srgbClr val="0F172A"/>
                </a:solidFill>
                <a:latin typeface="DM Sans"/>
              </a:rPr>
              <a:t>Front = anterior (+Y)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15968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1" i="0">
                <a:solidFill>
                  <a:srgbClr val="0F172A"/>
                </a:solidFill>
                <a:latin typeface="DM Sans"/>
              </a:rPr>
              <a:t>X_CoP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 = 200 · [(F_FR + F_BR) − (F_FL + F_BL)] / ΣF</a:t>
            </a:r>
          </a:p>
          <a:p>
            <a:pPr algn="l"/>
            <a:r>
              <a:rPr sz="919" b="1" i="0">
                <a:solidFill>
                  <a:srgbClr val="0F172A"/>
                </a:solidFill>
                <a:latin typeface="DM Sans"/>
              </a:rPr>
              <a:t>Y_CoP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 = 200 · [(F_FL + F_FR) − (F_BL + F_BR)] / ΣF</a:t>
            </a:r>
          </a:p>
          <a:p>
            <a:pPr algn="l"/>
            <a:r>
              <a:rPr sz="919" b="1" i="0">
                <a:solidFill>
                  <a:srgbClr val="0F172A"/>
                </a:solidFill>
                <a:latin typeface="DM Sans"/>
              </a:rPr>
              <a:t>Guards: 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clamp F_i &lt; 0 → 0 · compute only if ΣF ≥ 20 kg · reject samples outside ±195 mm</a:t>
            </a:r>
          </a:p>
          <a:p>
            <a:pPr algn="l"/>
            <a:r>
              <a:rPr sz="919" b="1" i="0">
                <a:solidFill>
                  <a:srgbClr val="0F172A"/>
                </a:solidFill>
                <a:latin typeface="DM Sans"/>
              </a:rPr>
              <a:t>PEA95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 = 2π · F₀.₀₅(2, N−2) · (N+1)(N−1)/[N(N−2)] · √det(S)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27064" y="960120"/>
            <a:ext cx="5431536" cy="4553712"/>
          </a:xfrm>
          <a:prstGeom prst="roundRect">
            <a:avLst>
              <a:gd name="adj" fmla="val 160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446520" y="1133856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665976" y="1078992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Dual-Core Firmware &amp; Signal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1417320"/>
            <a:ext cx="501091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556248" y="1472184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47857"/>
                </a:solidFill>
                <a:latin typeface="Poppins"/>
              </a:rPr>
              <a:t>CORE 1 · priority 3 · real-time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169164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0" i="0">
                <a:solidFill>
                  <a:srgbClr val="334155"/>
                </a:solidFill>
                <a:latin typeface="DM Sans"/>
              </a:rPr>
              <a:t>Wait for all 4 DOUT lines low → 25 PD_SCK pulses inside taskENTER_CRITICAL (a pulse &gt; 60 µs would power the HX711 down)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46520" y="2221992"/>
            <a:ext cx="501091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556248" y="2276856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47857"/>
                </a:solidFill>
                <a:latin typeface="Poppins"/>
              </a:rPr>
              <a:t>FILTER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56248" y="249631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0" i="0">
                <a:solidFill>
                  <a:srgbClr val="334155"/>
                </a:solidFill>
                <a:latin typeface="DM Sans"/>
              </a:rPr>
              <a:t>2nd-order Butterworth, DF-II transposed, fs 80 Hz, fc 10 Hz, ~12 ms delay; b = [0.0976, 0.1953, 0.0976], a = [1, −0.9428, 0.3333]; state seeded from F[0]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46520" y="3026664"/>
            <a:ext cx="501091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556248" y="3081528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47857"/>
                </a:solidFill>
                <a:latin typeface="Poppins"/>
              </a:rPr>
              <a:t>METRICS (Prieto 1996)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56248" y="3300984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0" i="0">
                <a:solidFill>
                  <a:srgbClr val="334155"/>
                </a:solidFill>
                <a:latin typeface="DM Sans"/>
              </a:rPr>
              <a:t>TOTEX path length, MVELO = TOTEX/T (primary), RDIST, PEA95 prediction ellipse, ASYM_LR / ASYM_AP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46520" y="3831336"/>
            <a:ext cx="501091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556248" y="3886200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47857"/>
                </a:solidFill>
                <a:latin typeface="Poppins"/>
              </a:rPr>
              <a:t>CORE 0 · housekeeping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6248" y="410565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0" i="0">
                <a:solidFill>
                  <a:srgbClr val="334155"/>
                </a:solidFill>
                <a:latin typeface="DM Sans"/>
              </a:rPr>
              <a:t>JSON status at 10 Hz, serial CLI (rate, trial 30, dump), Wi-Fi dashboard, baseline kept in NVS; spinlock-guarded buffers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46520" y="4636008"/>
            <a:ext cx="501091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556248" y="46908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47857"/>
                </a:solidFill>
                <a:latin typeface="Poppins"/>
              </a:rPr>
              <a:t>OFFLINE (official numbers)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6248" y="4910328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0" i="0">
                <a:solidFill>
                  <a:srgbClr val="334155"/>
                </a:solidFill>
                <a:latin typeface="DM Sans"/>
              </a:rPr>
              <a:t>4th-order zero-phase filtfilt, fc 10 Hz, in analyze_cop.py; 25-point affine grid fit in analyze_grid.py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Why a prediction ellipse: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confidence ellipses shrink as 1/N, so longer recordings make a patient look more stable; the PEA95 is asymptotically independent of N (Schubert &amp; Kirchner, 2014).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CAD Design &amp; Mechanical Specs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78440" y="484632"/>
            <a:ext cx="12801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78440" y="484632"/>
            <a:ext cx="12801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CAD 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4160520" cy="4343400"/>
          </a:xfrm>
          <a:prstGeom prst="roundRect">
            <a:avLst>
              <a:gd name="adj" fmla="val 131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d_expl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47" y="1014984"/>
            <a:ext cx="3966728" cy="423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340096"/>
            <a:ext cx="4160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Figure: FreeCAD exploded assembly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28032" y="960120"/>
            <a:ext cx="3154680" cy="2084831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ad_is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4215" y="1014984"/>
            <a:ext cx="3002312" cy="19751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28032" y="3072384"/>
            <a:ext cx="3154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Assembled, 25-point test grid on top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3310128"/>
            <a:ext cx="3154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cad_top_xr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2480" y="3364992"/>
            <a:ext cx="2345783" cy="18836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28032" y="5340096"/>
            <a:ext cx="3154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X-ray view: Z-mounted cells at corners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960120"/>
            <a:ext cx="3538728" cy="4553712"/>
          </a:xfrm>
          <a:prstGeom prst="roundRect">
            <a:avLst>
              <a:gd name="adj" fmla="val 2067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302752" y="1133856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522208" y="10789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Material Selection &amp; Mechanics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1417320"/>
            <a:ext cx="324612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19" b="1" i="0">
                <a:solidFill>
                  <a:srgbClr val="0F172A"/>
                </a:solidFill>
                <a:latin typeface="DM Sans"/>
              </a:rPr>
              <a:t>Top plate: 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6 mm Al 6061-T6 tooling plate (yield 276 MPa): flat, stiff and light; 25-point grid and 400 mm scribe engraved for V6/V7.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19" b="1" i="0">
                <a:solidFill>
                  <a:srgbClr val="0F172A"/>
                </a:solidFill>
                <a:latin typeface="DM Sans"/>
              </a:rPr>
              <a:t>Load path: 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4× Phaeton 611E bars; loaded end under each corner at (±200, ±200) mm, fixed end inboard.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19" b="1" i="0">
                <a:solidFill>
                  <a:srgbClr val="0F172A"/>
                </a:solidFill>
                <a:latin typeface="DM Sans"/>
              </a:rPr>
              <a:t>Z-mount: 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3 mm ground-steel spacers above and below, so each beam deflects freely; M6 8.8 bolts at 8 N·m.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19" b="1" i="0">
                <a:solidFill>
                  <a:srgbClr val="0F172A"/>
                </a:solidFill>
                <a:latin typeface="DM Sans"/>
              </a:rPr>
              <a:t>Base: 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12 mm marine plywood on four M8 rubber levelling feet; electronics and battery sit in the 28 mm cavity.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19" b="1" i="0">
                <a:solidFill>
                  <a:srgbClr val="0F172A"/>
                </a:solidFill>
                <a:latin typeface="DM Sans"/>
              </a:rPr>
              <a:t>Levelling: 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shims hold support heights within 0.2 mm (four supports are statically indeterminate).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19" b="1" i="0">
                <a:solidFill>
                  <a:srgbClr val="0F172A"/>
                </a:solidFill>
                <a:latin typeface="DM Sans"/>
              </a:rPr>
              <a:t>Capacity: 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800 kg gross; safety factor &gt; 5.3 for a 150 kg participant. Step height 71 mm.</a:t>
            </a:r>
          </a:p>
          <a:p>
            <a:pPr marL="146304" indent="-146304">
              <a:lnSpc>
                <a:spcPct val="108000"/>
              </a:lnSpc>
              <a:spcAft>
                <a:spcPts val="5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19" b="1" i="0">
                <a:solidFill>
                  <a:srgbClr val="0F172A"/>
                </a:solidFill>
                <a:latin typeface="DM Sans"/>
              </a:rPr>
              <a:t>Portability: </a:t>
            </a:r>
            <a:r>
              <a:rPr sz="919" b="0" i="0">
                <a:solidFill>
                  <a:srgbClr val="334155"/>
                </a:solidFill>
                <a:latin typeface="DM Sans"/>
              </a:rPr>
              <a:t>the top plate weighs about 3.3 kg (6 mm Al), keeping the platform portable between clinics.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Native files (hardware/cad in the repo):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EquiSense_ForcePlatform.FCStd + .step (FreeCAD 1.1): 44 solids: 2 plates, 4 load cells, 8 spacers, 16 M6 bolts, 4 feet, enclosure, battery pack, plus gauge seals and cable stubs.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FEA: Top-Plate Stress &amp; Deflection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78440" y="484632"/>
            <a:ext cx="12801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78440" y="484632"/>
            <a:ext cx="12801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CAD 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69037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ea_p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" y="1054531"/>
            <a:ext cx="6793992" cy="3057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33672"/>
            <a:ext cx="6903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Figure: CalculiX linear-static result, 6 mm plate, 2,943 N on two foot pads (supports white, feet dashed)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0352" y="4526280"/>
          <a:ext cx="6903719" cy="914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25631"/>
                <a:gridCol w="2239044"/>
                <a:gridCol w="2239044"/>
              </a:tblGrid>
              <a:tr h="228600"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Result (2 × 150 kg load)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6 mm plate (baseline)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10 mm plate (option)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Max deflection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2.56 mm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0.61 mm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Field stress &gt; 40 mm from supports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56 MPa → FoS 4.9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21 MPa → FoS 13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Peak at spacer edge (singular)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276 MPa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120 MPa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616952" y="960120"/>
            <a:ext cx="4041648" cy="4553712"/>
          </a:xfrm>
          <a:prstGeom prst="roundRect">
            <a:avLst>
              <a:gd name="adj" fmla="val 180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818120" y="1133856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37576" y="1078992"/>
            <a:ext cx="352958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FEA Stress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1417320"/>
            <a:ext cx="370332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Model: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Al 6061-T6 plate (E 68.9 GPa, ν 0.33) fixed on four 24 × 30 mm spacer faces at (±200, ±200) mm.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Load case: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2 × 150 kg = 2,943 N for step-on impact, spread over two 100 × 250 mm foot pads at a 200 mm stance.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Mesh: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Gmsh 2nd-order tetrahedra, 56,502 nodes and 28,287 elements, 1–8 mm.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Stress: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Field stress stays ≤ 56 MPa (FoS 4.9). The 276 MPa peak is a sharp-corner singularity at the spacer edge, not a bulk failure.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Deflection: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2.56 mm at centre leaves only ~1.4 mm over the 24 mm electronics enclosure.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CoP effect: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Bending does not change the force balance; CoP stays a statics result as long as nothing touches the plate.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Comparison: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the 10 mm option was re-run with identical mesh settings (56,335 nodes) for a like-for-like check.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Design Iteration: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radius the spacer edges and cap the enclosure at 20 mm (≥ 5 mm clearance). A 10 mm plate cuts sag by 76% and is the upgrade path if V6 grid residuals exceed 3 mm.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Electronics Schematic (KiCad 10)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78440" y="484632"/>
            <a:ext cx="12801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78440" y="484632"/>
            <a:ext cx="12801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ELECTRONICS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3611880" cy="4343400"/>
          </a:xfrm>
          <a:prstGeom prst="roundRect">
            <a:avLst>
              <a:gd name="adj" fmla="val 151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sch_mc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2906" y="1014984"/>
            <a:ext cx="2046770" cy="423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330952"/>
            <a:ext cx="3611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Power, ESP32 and haptic driver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960120"/>
            <a:ext cx="3685032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ch_ch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3715" y="1014984"/>
            <a:ext cx="3341520" cy="2724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51960" y="3822191"/>
            <a:ext cx="368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HX711 channel 1 of 4 (FL)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069080"/>
            <a:ext cx="368503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ch_sli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8" y="4123944"/>
            <a:ext cx="1832294" cy="11247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51960" y="5330952"/>
            <a:ext cx="368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Full A3 sheet: EquiSense_schematic.pdf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4152" y="960120"/>
            <a:ext cx="3584448" cy="4553712"/>
          </a:xfrm>
          <a:prstGeom prst="roundRect">
            <a:avLst>
              <a:gd name="adj" fmla="val 204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257031" y="1133856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76488" y="10789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ESP32 Pin Map &amp; Power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57031" y="1417320"/>
          <a:ext cx="3218686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41493"/>
                <a:gridCol w="459812"/>
                <a:gridCol w="1517381"/>
              </a:tblGrid>
              <a:tr h="228600">
                <a:tc>
                  <a:txBody>
                    <a:bodyPr wrap="square"/>
                    <a:lstStyle/>
                    <a:p>
                      <a:r>
                        <a:rPr sz="819" b="1" i="0">
                          <a:solidFill>
                            <a:srgbClr val="0F172A"/>
                          </a:solidFill>
                          <a:latin typeface="DM Sans"/>
                        </a:rPr>
                        <a:t>Signal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1" i="0">
                          <a:solidFill>
                            <a:srgbClr val="0F172A"/>
                          </a:solidFill>
                          <a:latin typeface="DM Sans"/>
                        </a:rPr>
                        <a:t>GPIO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1" i="0">
                          <a:solidFill>
                            <a:srgbClr val="0F172A"/>
                          </a:solidFill>
                          <a:latin typeface="DM Sans"/>
                        </a:rPr>
                        <a:t>Notes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PD_SCK (shared)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27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Clock to all 4 HX711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DT_FL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32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Front-left data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DT_FR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Front-right data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DT_BL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25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Back-left data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DT_BR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26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Back-right data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HAPTIC_PWM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14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AO3400A + 1N4007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STATUS LED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 b="0" i="0">
                          <a:solidFill>
                            <a:srgbClr val="334155"/>
                          </a:solidFill>
                          <a:latin typeface="DM Sans"/>
                        </a:rPr>
                        <a:t>Self-test / errors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257031" y="3337560"/>
            <a:ext cx="324612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60" b="1" i="0">
                <a:solidFill>
                  <a:srgbClr val="0F172A"/>
                </a:solidFill>
                <a:latin typeface="DM Sans"/>
              </a:rPr>
              <a:t>AVDD: </a:t>
            </a:r>
            <a:r>
              <a:rPr sz="860" b="0" i="0">
                <a:solidFill>
                  <a:srgbClr val="334155"/>
                </a:solidFill>
                <a:latin typeface="DM Sans"/>
              </a:rPr>
              <a:t>1.25 V × (1 + 20k/8.2k) = 4.30 V per channel via S8550; bridge E+ = AVDD.</a:t>
            </a:r>
          </a:p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60" b="1" i="0">
                <a:solidFill>
                  <a:srgbClr val="0F172A"/>
                </a:solidFill>
                <a:latin typeface="DM Sans"/>
              </a:rPr>
              <a:t>Bridge: </a:t>
            </a:r>
            <a:r>
              <a:rPr sz="860" b="0" i="0">
                <a:solidFill>
                  <a:srgbClr val="334155"/>
                </a:solidFill>
                <a:latin typeface="DM Sans"/>
              </a:rPr>
              <a:t>Red E+, Black E−, White A−, Green A+; Channel B unused (NC).</a:t>
            </a:r>
          </a:p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60" b="1" i="0">
                <a:solidFill>
                  <a:srgbClr val="0F172A"/>
                </a:solidFill>
                <a:latin typeface="DM Sans"/>
              </a:rPr>
              <a:t>Avoided pins: </a:t>
            </a:r>
            <a:r>
              <a:rPr sz="860" b="0" i="0">
                <a:solidFill>
                  <a:srgbClr val="334155"/>
                </a:solidFill>
                <a:latin typeface="DM Sans"/>
              </a:rPr>
              <a:t>GPIO 6–11 (flash), 12 (strap), 34–39 (input-only).</a:t>
            </a:r>
          </a:p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60" b="1" i="0">
                <a:solidFill>
                  <a:srgbClr val="0F172A"/>
                </a:solidFill>
                <a:latin typeface="DM Sans"/>
              </a:rPr>
              <a:t>Haptic: </a:t>
            </a:r>
            <a:r>
              <a:rPr sz="860" b="0" i="0">
                <a:solidFill>
                  <a:srgbClr val="334155"/>
                </a:solidFill>
                <a:latin typeface="DM Sans"/>
              </a:rPr>
              <a:t>JP1 removed and firmware off for human trials.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ERC: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KiCad 10 ERC returns 0 errors and 0 warnings (46 symbols, 43 named nets). RATE (pin 15) is tied to DVDD (pin 16); the Rev 2.0 note's "pin 6" is VBG, not a 3.3 V rail.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Itemised Bill of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72700" y="484632"/>
            <a:ext cx="148590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172700" y="484632"/>
            <a:ext cx="148590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ELECTRONICS &amp; BOM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960120"/>
          <a:ext cx="11128245" cy="44622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50311"/>
                <a:gridCol w="3671174"/>
                <a:gridCol w="573621"/>
                <a:gridCol w="917793"/>
                <a:gridCol w="1032517"/>
                <a:gridCol w="2982829"/>
              </a:tblGrid>
              <a:tr h="278892"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Component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Part / specification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Qty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Unit (₹)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Total (₹)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Sourcing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Load cell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Phaeton 611E, 200 kg, 2.0 mV/V, IP65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650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2,600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Domestic · industrial weighing supplier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24-bit ADC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HX711 breakout (green PCB), RATE mod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120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480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Domestic · electronics retail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Microcontroller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ESP32 NodeMCU-32S V1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450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450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Domestic · electronics retail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Top plate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6 mm Al 6061-T6, 450 × 450 mm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1,800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1,800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Local waterjet / machine shop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Base plate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12 mm marine plywood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900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900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Local timber supplier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Z-mount spacers &amp; shims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3 mm mild steel, laser-cut, ground flat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90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720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Local laser-cutting shop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Fasteners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M6 grade 8.8 bolts, Nyloc nuts, washers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16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192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Local fastener depot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Levelling feet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M8 adjustable, rubber pad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60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240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Local hardware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Power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18650 Battery Shield V8 (2 cells)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700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700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Domestic · electronics retail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Haptic actuator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10 mm ERM motor + MOSFET driver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165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165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Domestic · electronics retail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Enclosure &amp; cabling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Enclosure, cable glands, 4-core loom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600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600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Local electrical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Calibration service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Certified masses 5/10/20 kg (secondary std.)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3,000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3,000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Accredited calibration lab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Subtotal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11,847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Contingency (15%)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Mechanical rework / spare parts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>1,777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0" i="0">
                          <a:solidFill>
                            <a:srgbClr val="334155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Total build cost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≈ US$166 at ₹82/US$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₹13,624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 b="1" i="0">
                          <a:solidFill>
                            <a:srgbClr val="0F172A"/>
                          </a:solidFill>
                          <a:latin typeface="DM Sans"/>
                        </a:rPr>
                        <a:t>All items available in India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Procurement Status: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no imported parts; the critical path is machining the plate and spacers. Vendor lead times will be confirmed at PO (Nov 2026).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Your Maker Journey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78440" y="484632"/>
            <a:ext cx="12801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78440" y="484632"/>
            <a:ext cx="12801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MAKER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265176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sch_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65" y="1014984"/>
            <a:ext cx="2500533" cy="20391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310128" y="960120"/>
            <a:ext cx="265176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cad_is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4992" y="1198388"/>
            <a:ext cx="2542032" cy="16723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352" y="3136392"/>
            <a:ext cx="5431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60" b="0" i="1">
                <a:solidFill>
                  <a:srgbClr val="64748B"/>
                </a:solidFill>
                <a:latin typeface="DM Sans"/>
              </a:rPr>
              <a:t>Original design assets: KiCad HX711 channel (left) and FreeCAD assembly (right)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01568"/>
            <a:ext cx="5431536" cy="1901952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3886200"/>
            <a:ext cx="50657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60" b="0" i="0">
                <a:solidFill>
                  <a:srgbClr val="64748B"/>
                </a:solidFill>
                <a:latin typeface="DM Sans"/>
              </a:rPr>
              <a:t>[ Insert team lab photo ]</a:t>
            </a:r>
          </a:p>
          <a:p>
            <a:pPr algn="ctr"/>
            <a:r>
              <a:rPr sz="960" b="0" i="0">
                <a:solidFill>
                  <a:srgbClr val="64748B"/>
                </a:solidFill>
                <a:latin typeface="DM Sans"/>
              </a:rPr>
              <a:t>Team members modelling, soldering or assembling, wearing institutional ID badges, plus a joint review photo with the faculty guide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960120"/>
            <a:ext cx="5431536" cy="4553712"/>
          </a:xfrm>
          <a:prstGeom prst="roundRect">
            <a:avLst>
              <a:gd name="adj" fmla="val 160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446520" y="1133856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5976" y="1078992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Stage 1 → Stage 2 Engineering Iterations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417320"/>
            <a:ext cx="502920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Rev 1 → Rev 2 audit: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10 specification errors fixed: gain 32 → 128, 10 → 80 Hz, "perfect sync" replaced by a declared 12.5 ms skew, Z-mount cross-talk claim withdrawn, shimming made mandatory, PEA95 adopted, hard-coded cut-offs replaced by a baseline-referenced score, haptic disabled.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CAD milestone: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FreeCAD 1.1 assembly (44 solids) with STEP export; CalculiX FEA of the top plate (56,502 nodes) run 14 Oct 2026.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EDA milestone: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KiCad 10 schematic, 46 symbols, ERC clean; netlist, BOM and PDF exported.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Datasheet catch: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the RATE jumper goes to DVDD (pin 16), not VBG (pin 6), giving a valid logic-high for 80 SPS.</a:t>
            </a:r>
          </a:p>
          <a:p>
            <a:pPr marL="146304" indent="-146304">
              <a:lnSpc>
                <a:spcPct val="108000"/>
              </a:lnSpc>
              <a:spcAft>
                <a:spcPts val="4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DM Sans"/>
              </a:rPr>
              <a:t>Repository: </a:t>
            </a:r>
            <a:r>
              <a:rPr sz="900" b="0" i="0">
                <a:solidFill>
                  <a:srgbClr val="334155"/>
                </a:solidFill>
                <a:latin typeface="DM Sans"/>
              </a:rPr>
              <a:t>github.com/amalnathkp13-boop/EquiSense-ForcePlatform with hardware/cad (.FCStd, .step, FEA), hardware/kicad (.kicad_sch, ERC, netlist, BOM, PDF), docs/ and analysis/.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Institutional Sign-Off: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work supervised by Mrs. C. Radhika, AP/BME, Department of Biomedical Engineering. Joint lab review photo to be added.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Safety &amp; Hazard Mitigation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78440" y="484632"/>
            <a:ext cx="12801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78440" y="484632"/>
            <a:ext cx="12801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11128248" cy="2697480"/>
          </a:xfrm>
          <a:prstGeom prst="roundRect">
            <a:avLst>
              <a:gd name="adj" fmla="val 2711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31520" y="1115568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1060704"/>
            <a:ext cx="10296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Design FMEA (Failure Mode and Effects Analysis)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371600"/>
          <a:ext cx="10725912" cy="21122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34056"/>
                <a:gridCol w="3154680"/>
                <a:gridCol w="4837176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840" b="1" i="0">
                          <a:solidFill>
                            <a:srgbClr val="0F172A"/>
                          </a:solidFill>
                          <a:latin typeface="DM Sans"/>
                        </a:rPr>
                        <a:t>Failure mode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1" i="0">
                          <a:solidFill>
                            <a:srgbClr val="0F172A"/>
                          </a:solidFill>
                          <a:latin typeface="DM Sans"/>
                        </a:rPr>
                        <a:t>Potential hazard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1" i="0">
                          <a:solidFill>
                            <a:srgbClr val="0F172A"/>
                          </a:solidFill>
                          <a:latin typeface="DM Sans"/>
                        </a:rPr>
                        <a:t>Embedded fail-safe / mitigation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HX711 left at 10 Hz (RATE mod missing)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MVELO under-read, so the patient looks falsely stable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Boot self-test measures rate; trials blocked below 60 Hz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PD_SCK pulse &gt; 60 µs (RTOS preemption)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HX711 powers down; corrupted sample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25 pulses clocked inside taskENTER_CRITICAL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Corner unloading / stepping off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CoP extrapolated beyond the sensors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Clamp F &lt; 0; CoP only when ΣF ≥ 20 kg; reject |X|, |Y| &gt; 195 mm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Uneven support heights (&gt; 0.2 mm)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Hidden CoP bias that calibration cannot see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Shims + 8 N·m torque; V6 grid residual &gt; 3 mm flags a mechanical fault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Warm-up / thermal drift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Mass and CoP drift during a trial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60-min warm-up; V5 limit &lt; 0.5% drift over 30 min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Participant loses balance on the plate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Fall injury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40" b="0" i="0">
                          <a:solidFill>
                            <a:srgbClr val="334155"/>
                          </a:solidFill>
                          <a:latin typeface="DM Sans"/>
                        </a:rPr>
                        <a:t>71 mm step height; spotter and support rail; mass ≤ 150 kg (SF &gt; 5.3)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30352" y="3794760"/>
            <a:ext cx="5468112" cy="1737360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31520" y="3950208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895344"/>
            <a:ext cx="490118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Physical Fail-Safes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80" b="0" i="0">
                <a:solidFill>
                  <a:srgbClr val="334155"/>
                </a:solidFill>
                <a:latin typeface="DM Sans"/>
              </a:rPr>
              <a:t>Battery-only supply (2×18650): no conductive path from mains to the participant.</a:t>
            </a:r>
          </a:p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80" b="0" i="0">
                <a:solidFill>
                  <a:srgbClr val="334155"/>
                </a:solidFill>
                <a:latin typeface="DM Sans"/>
              </a:rPr>
              <a:t>Haptic actuator physically isolated (JP1 removed) and disabled in firmware for trials.</a:t>
            </a:r>
          </a:p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80" b="0" i="0">
                <a:solidFill>
                  <a:srgbClr val="334155"/>
                </a:solidFill>
                <a:latin typeface="DM Sans"/>
              </a:rPr>
              <a:t>Enclosure with cable glands; load cells IP65; rubber feet stop the plate sliding.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3794760"/>
            <a:ext cx="5468112" cy="1737360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391656" y="3950208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11112" y="3895344"/>
            <a:ext cx="490118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Standards &amp; Regulatory Position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420624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80" b="0" i="0">
                <a:solidFill>
                  <a:srgbClr val="334155"/>
                </a:solidFill>
                <a:latin typeface="DM Sans"/>
              </a:rPr>
              <a:t>Investigational research instrument; no IEC 60601-1 conformity claimed; no autonomous diagnosis.</a:t>
            </a:r>
          </a:p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80" b="0" i="0">
                <a:solidFill>
                  <a:srgbClr val="334155"/>
                </a:solidFill>
                <a:latin typeface="DM Sans"/>
              </a:rPr>
              <a:t>ICMR National Ethical Guidelines (2017): observational protocol, IEC clearance before human data.</a:t>
            </a:r>
          </a:p>
          <a:p>
            <a:pPr marL="146304" indent="-146304">
              <a:lnSpc>
                <a:spcPct val="108000"/>
              </a:lnSpc>
              <a:spcAft>
                <a:spcPts val="3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880" b="0" i="0">
                <a:solidFill>
                  <a:srgbClr val="334155"/>
                </a:solidFill>
                <a:latin typeface="DM Sans"/>
              </a:rPr>
              <a:t>CDSCO Medical Device Rules 2017: haptic disabled so the study stays non-interventional.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Clinical gating: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the logistic-regression classifier ships disabled (returns UNCALIBRATED) until it is trained on ≥ 40 trials from ≥ 8 subjects with subject-disjoint cross-validation.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Roadmap: 4-Month Fabrication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78440" y="484632"/>
            <a:ext cx="12801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78440" y="484632"/>
            <a:ext cx="12801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2670048" cy="3246120"/>
          </a:xfrm>
          <a:prstGeom prst="roundRect">
            <a:avLst>
              <a:gd name="adj" fmla="val 273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30352" y="960120"/>
            <a:ext cx="2670048" cy="566928"/>
          </a:xfrm>
          <a:prstGeom prst="roundRect">
            <a:avLst>
              <a:gd name="adj" fmla="val 12903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7512" y="1005840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Month 1 · Nov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243584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DM Sans"/>
              </a:rPr>
              <a:t>Procure &amp;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691640"/>
            <a:ext cx="24231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Order cells, HX711s, ESP32, battery shield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Waterjet top plate; laser-cut spacers and shims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RATE mod on 4 boards; V1 rate test ≥ 60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83280"/>
            <a:ext cx="2395728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42900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369A1"/>
                </a:solidFill>
                <a:latin typeface="Poppins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DM Sans"/>
              </a:rPr>
              <a:t>Machined plate + 4 modified HX711 boards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2606040"/>
            <a:ext cx="146304" cy="0"/>
          </a:xfrm>
          <a:prstGeom prst="line">
            <a:avLst/>
          </a:prstGeom>
          <a:ln w="19050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46704" y="960120"/>
            <a:ext cx="2670048" cy="3246120"/>
          </a:xfrm>
          <a:prstGeom prst="roundRect">
            <a:avLst>
              <a:gd name="adj" fmla="val 273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346704" y="960120"/>
            <a:ext cx="2670048" cy="566928"/>
          </a:xfrm>
          <a:prstGeom prst="roundRect">
            <a:avLst>
              <a:gd name="adj" fmla="val 12903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83864" y="1005840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Month 2 · Dec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1243584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DM Sans"/>
              </a:rPr>
              <a:t>Assemble &amp; bring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1691640"/>
            <a:ext cx="24231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Z-mount assembly, shimming, 8 N·m torque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Dual-core firmware + Wi-Fi dashboard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V2 noise, V3 linearity, V4 mass, V5 drift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83864" y="3383280"/>
            <a:ext cx="2395728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93592" y="342900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369A1"/>
                </a:solidFill>
                <a:latin typeface="Poppins"/>
              </a:rPr>
              <a:t>DELIVERABLE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93592" y="3630168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DM Sans"/>
              </a:rPr>
              <a:t>Assembled platform streaming 80 Hz CoP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16752" y="2606040"/>
            <a:ext cx="146304" cy="0"/>
          </a:xfrm>
          <a:prstGeom prst="line">
            <a:avLst/>
          </a:prstGeom>
          <a:ln w="19050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163056" y="960120"/>
            <a:ext cx="2670048" cy="3246120"/>
          </a:xfrm>
          <a:prstGeom prst="roundRect">
            <a:avLst>
              <a:gd name="adj" fmla="val 273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163056" y="960120"/>
            <a:ext cx="2670048" cy="566928"/>
          </a:xfrm>
          <a:prstGeom prst="roundRect">
            <a:avLst>
              <a:gd name="adj" fmla="val 12903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0216" y="1005840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Month 3 · Jan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1243584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DM Sans"/>
              </a:rPr>
              <a:t>Metrology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1691640"/>
            <a:ext cx="24231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V6 25-point grid, affine fit (≤ 5 mm RMS)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V7 repeatability, V8 CoP noise, V9 cross-talk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Plate/enclosure fix if residual &gt; 3 mm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0216" y="3383280"/>
            <a:ext cx="2395728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9944" y="342900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47857"/>
                </a:solidFill>
                <a:latin typeface="Poppins"/>
              </a:rPr>
              <a:t>DELIVERABLE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9944" y="3630168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DM Sans"/>
              </a:rPr>
              <a:t>Signed V1–V9 bench test 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833104" y="2606040"/>
            <a:ext cx="146304" cy="0"/>
          </a:xfrm>
          <a:prstGeom prst="line">
            <a:avLst/>
          </a:prstGeom>
          <a:ln w="19050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979408" y="960120"/>
            <a:ext cx="2670048" cy="3246120"/>
          </a:xfrm>
          <a:prstGeom prst="roundRect">
            <a:avLst>
              <a:gd name="adj" fmla="val 273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8979408" y="960120"/>
            <a:ext cx="2670048" cy="566928"/>
          </a:xfrm>
          <a:prstGeom prst="roundRect">
            <a:avLst>
              <a:gd name="adj" fmla="val 12903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16568" y="1005840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Month 4 · Feb 2027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6568" y="1243584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DM Sans"/>
              </a:rPr>
              <a:t>Integrate &amp; document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8" y="1691640"/>
            <a:ext cx="24231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Run selftest + offline filtfilt pipeline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Submit observational protocol to IEC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59669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Freeze Rev 2.1 drawings, BOM and demo kit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16568" y="3383280"/>
            <a:ext cx="2395728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226296" y="342900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47857"/>
                </a:solidFill>
                <a:latin typeface="Poppins"/>
              </a:rPr>
              <a:t>DELIVERABLE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26296" y="3630168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DM Sans"/>
              </a:rPr>
              <a:t>IEC dossier + Stage 3 demo kit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0352" y="4370832"/>
            <a:ext cx="11128248" cy="1143000"/>
          </a:xfrm>
          <a:prstGeom prst="roundRect">
            <a:avLst>
              <a:gd name="adj" fmla="val 64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31520" y="4535424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50976" y="4480560"/>
            <a:ext cx="10296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Stage 3 Commitment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791456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DM Sans"/>
              </a:rPr>
              <a:t>A bench-validated EquiSense platform that passes V1–V9, ready for a live jury demo: standing CoP trace, MVELO and PEA95 on the Wi-Fi dashboard, and the 25-point grid accuracy run on certified masses. Human data only after IEC clearance.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Fabrication timeline: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machining (M1) → assembly and firmware (M2) → metrology V6–V9 (M3) → integration, IEC submission and Stage 3 kit (M4).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Technical Challenges &amp; Risks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78440" y="484632"/>
            <a:ext cx="12801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78440" y="484632"/>
            <a:ext cx="12801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2670048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13232" y="111556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111556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91C1C"/>
                </a:solidFill>
                <a:latin typeface="Poppins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1430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Poppins"/>
              </a:rPr>
              <a:t>Static Indeterminacy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572768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B91C1C"/>
                </a:solidFill>
                <a:latin typeface="DM Sans"/>
              </a:rPr>
              <a:t>Observed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792224"/>
            <a:ext cx="2331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DM Sans"/>
              </a:rPr>
              <a:t>Four supports on one rigid plate are statically indeterminate. A height mismatch over 0.2 mm loads one diagonal more, biasing CoP in a way per-cell calibration cannot see.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6704" y="960120"/>
            <a:ext cx="2670048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3529584" y="111556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91C1C"/>
                </a:solidFill>
                <a:latin typeface="Poppins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11430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Poppins"/>
              </a:rPr>
              <a:t>ADC Timing &amp; Sync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9584" y="1572768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B91C1C"/>
                </a:solidFill>
                <a:latin typeface="DM Sans"/>
              </a:rPr>
              <a:t>Observed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92224"/>
            <a:ext cx="2331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DM Sans"/>
              </a:rPr>
              <a:t>The four HX711s run on free-running RC oscillators (worst-case skew 12.5 ms), and a PD_SCK pulse over 60 µs puts the chip into power-down mid-read.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960120"/>
            <a:ext cx="2670048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345936" y="111556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45936" y="111556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91C1C"/>
                </a:solidFill>
                <a:latin typeface="Poppins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1430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Poppins"/>
              </a:rPr>
              <a:t>Plate Compliance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1572768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B91C1C"/>
                </a:solidFill>
                <a:latin typeface="DM Sans"/>
              </a:rPr>
              <a:t>Observed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1792224"/>
            <a:ext cx="2331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DM Sans"/>
              </a:rPr>
              <a:t>FEA: the 6 mm plate sags 2.56 mm under a 2× step-on load, leaving ~1.4 mm over the enclosure. The spacer-edge corner reaches 276 MPa (singular).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79408" y="960120"/>
            <a:ext cx="2670048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9162288" y="111556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62288" y="111556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91C1C"/>
                </a:solidFill>
                <a:latin typeface="Poppins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2912" y="11430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Poppins"/>
              </a:rPr>
              <a:t>Cross-Talk &amp; Drift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1572768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B91C1C"/>
                </a:solidFill>
                <a:latin typeface="DM Sans"/>
              </a:rPr>
              <a:t>Observed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1792224"/>
            <a:ext cx="2331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DM Sans"/>
              </a:rPr>
              <a:t>Bar cells respond to off-axis moments (the Z-mount reduces but cannot remove this), and HX711 + bridge output drifts until the system warms up.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0352" y="3456432"/>
            <a:ext cx="11128248" cy="207568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31520" y="3621024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50976" y="3566160"/>
            <a:ext cx="10296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Design Trade-offs Met During Simulation &amp; Review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31520" y="3913632"/>
          <a:ext cx="10725910" cy="14630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6838"/>
                <a:gridCol w="2750233"/>
                <a:gridCol w="2750233"/>
                <a:gridCol w="3208606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0F172A"/>
                          </a:solidFill>
                          <a:latin typeface="DM Sans"/>
                        </a:rPr>
                        <a:t>Trade-off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0F172A"/>
                          </a:solidFill>
                          <a:latin typeface="DM Sans"/>
                        </a:rPr>
                        <a:t>Option A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0F172A"/>
                          </a:solidFill>
                          <a:latin typeface="DM Sans"/>
                        </a:rPr>
                        <a:t>Option B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0F172A"/>
                          </a:solidFill>
                          <a:latin typeface="DM Sans"/>
                        </a:rPr>
                        <a:t>Decision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Plate stiffness vs weight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6 mm Al: 3.3 kg, 2.56 mm sag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10 mm Al: 5.5 kg, 0.61 mm sag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6 mm + 20 mm enclosure cap; 10 mm if V6 fails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ADC headroom vs noise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Gain 32: 1.1% of range used at 70 kg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Gain 128: 1.95× headroom at 200 kg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Gain 128 (Channel A)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Biofeedback vs study class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Haptic on: interventional (licensing)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Haptic off: observational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334155"/>
                          </a:solidFill>
                          <a:latin typeface="DM Sans"/>
                        </a:rPr>
                        <a:t>Off and JP1 removed for trials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CBD5E1"/>
                      </a:solidFill>
                    </a:lnL>
                    <a:lnR w="6350">
                      <a:solidFill>
                        <a:srgbClr val="CBD5E1"/>
                      </a:solidFill>
                    </a:lnR>
                    <a:lnT w="6350">
                      <a:solidFill>
                        <a:srgbClr val="CBD5E1"/>
                      </a:solidFill>
                    </a:lnT>
                    <a:lnB w="6350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Engineering bottleneck: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force linearity (R² &gt; 0.999) does not prove position accuracy; that depends on gain matching, true geometry and planarity, so it needs the V6 grid test.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Potential Solutions &amp; Risk Mitigation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9860" y="484632"/>
            <a:ext cx="134874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09860" y="484632"/>
            <a:ext cx="134874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RISK MITIGATION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2670048" cy="4553712"/>
          </a:xfrm>
          <a:prstGeom prst="roundRect">
            <a:avLst>
              <a:gd name="adj" fmla="val 273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13232" y="111556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111556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DM San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1430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Poppins"/>
              </a:rPr>
              <a:t>Static Indeterminacy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572768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47857"/>
                </a:solidFill>
                <a:latin typeface="DM Sans"/>
              </a:rPr>
              <a:t>Mitigation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792224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DM Sans"/>
              </a:rPr>
              <a:t>Mandatory shims with 8 N·m torque; V6 25-point affine fit separates spacing errors (fixable in firmware) from binding (residual &gt; 3 mm).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154680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369A1"/>
                </a:solidFill>
                <a:latin typeface="DM Sans"/>
              </a:rPr>
              <a:t>Verified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37413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0F172A"/>
                </a:solidFill>
                <a:latin typeface="DM Sans"/>
              </a:rPr>
              <a:t>V6 grid ≤ 5 mm RMS; V7 σ ≤ 2 mm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4069080"/>
            <a:ext cx="239572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133087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47857"/>
                </a:solidFill>
                <a:latin typeface="Poppins"/>
              </a:rPr>
              <a:t>BACKUP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52544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334155"/>
                </a:solidFill>
                <a:latin typeface="DM Sans"/>
              </a:rPr>
              <a:t>3-point kinematic seating or re-machined spacers.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46704" y="960120"/>
            <a:ext cx="2670048" cy="4553712"/>
          </a:xfrm>
          <a:prstGeom prst="roundRect">
            <a:avLst>
              <a:gd name="adj" fmla="val 273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529584" y="111556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529584" y="111556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DM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0208" y="11430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Poppins"/>
              </a:rPr>
              <a:t>ADC Timing &amp;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1572768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47857"/>
                </a:solidFill>
                <a:latin typeface="DM Sans"/>
              </a:rPr>
              <a:t>Mitigation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1792224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DM Sans"/>
              </a:rPr>
              <a:t>Shared PD_SCK starts conversions together; clocking happens in a critical section; declared skew ≤ 0.13 mm at 10 mm/s.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9584" y="3154680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369A1"/>
                </a:solidFill>
                <a:latin typeface="DM Sans"/>
              </a:rPr>
              <a:t>Verified by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9584" y="337413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0F172A"/>
                </a:solidFill>
                <a:latin typeface="DM Sans"/>
              </a:rPr>
              <a:t>V1 ≥ 60 Hz; V8 CoP noise &lt; 1 mm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83864" y="4069080"/>
            <a:ext cx="239572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4133087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47857"/>
                </a:solidFill>
                <a:latin typeface="Poppins"/>
              </a:rPr>
              <a:t>BACKUP SOLUTION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3592" y="4352544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334155"/>
                </a:solidFill>
                <a:latin typeface="DM Sans"/>
              </a:rPr>
              <a:t>ADS131M04, a 4-channel simultaneous-sampling 24-bit ADC.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3056" y="960120"/>
            <a:ext cx="2670048" cy="4553712"/>
          </a:xfrm>
          <a:prstGeom prst="roundRect">
            <a:avLst>
              <a:gd name="adj" fmla="val 273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345936" y="111556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345936" y="111556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DM Sa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11430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Poppins"/>
              </a:rPr>
              <a:t>Plate Compliance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1572768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47857"/>
                </a:solidFill>
                <a:latin typeface="DM Sans"/>
              </a:rPr>
              <a:t>Mitigation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1792224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DM Sans"/>
              </a:rPr>
              <a:t>Radius the spacer edges, cap the enclosure at 20 mm and recheck sag on the bench at 150 kg.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3154680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369A1"/>
                </a:solidFill>
                <a:latin typeface="DM Sans"/>
              </a:rPr>
              <a:t>Verified by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337413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0F172A"/>
                </a:solidFill>
                <a:latin typeface="DM Sans"/>
              </a:rPr>
              <a:t>Bench sag at 150 kg; V6 residual ≤ 3 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0216" y="4069080"/>
            <a:ext cx="239572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9944" y="4133087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47857"/>
                </a:solidFill>
                <a:latin typeface="Poppins"/>
              </a:rPr>
              <a:t>BACKUP SOLUTION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4" y="4352544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334155"/>
                </a:solidFill>
                <a:latin typeface="DM Sans"/>
              </a:rPr>
              <a:t>10 mm plate (0.61 mm sag, 120 MPa peak) or bonded stiffening ribs.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79408" y="960120"/>
            <a:ext cx="2670048" cy="4553712"/>
          </a:xfrm>
          <a:prstGeom prst="roundRect">
            <a:avLst>
              <a:gd name="adj" fmla="val 273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162288" y="111556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62288" y="111556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DM Sans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82912" y="11430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Poppins"/>
              </a:rPr>
              <a:t>Cross-Talk &amp; Drift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2288" y="1572768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47857"/>
                </a:solidFill>
                <a:latin typeface="DM Sans"/>
              </a:rPr>
              <a:t>Mitigation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1792224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DM Sans"/>
              </a:rPr>
              <a:t>V9 single-corner loading maps the coupling into a 4 × 4 correction matrix; 60-min warm-up with V5 drift &lt; 0.5%.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3154680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0369A1"/>
                </a:solidFill>
                <a:latin typeface="DM Sans"/>
              </a:rPr>
              <a:t>Verified by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337413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i="0">
                <a:solidFill>
                  <a:srgbClr val="0F172A"/>
                </a:solidFill>
                <a:latin typeface="DM Sans"/>
              </a:rPr>
              <a:t>V9 coupling map; V5 drift &lt; 0.5%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16568" y="4069080"/>
            <a:ext cx="239572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226296" y="4133087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47857"/>
                </a:solidFill>
                <a:latin typeface="Poppins"/>
              </a:rPr>
              <a:t>BACKUP SOLUTION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26296" y="4352544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334155"/>
                </a:solidFill>
                <a:latin typeface="DM Sans"/>
              </a:rPr>
              <a:t>log temperature with each trial and re-zero between trials.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669280"/>
            <a:ext cx="11128248" cy="3657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94944" y="5687568"/>
            <a:ext cx="10835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0F172A"/>
                </a:solidFill>
                <a:latin typeface="DM Sans"/>
              </a:rPr>
              <a:t>Verification: </a:t>
            </a:r>
            <a:r>
              <a:rPr sz="940" b="0" i="0">
                <a:solidFill>
                  <a:srgbClr val="475569"/>
                </a:solidFill>
                <a:latin typeface="DM Sans"/>
              </a:rPr>
              <a:t>every mitigation maps to a V1–V9 acceptance test, so a fix counts only when the corresponding bench criterion passes.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rcRect l="14673" r="15820" t="33074" b="44466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40233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25" b="1" i="0">
                <a:solidFill>
                  <a:srgbClr val="0F172A"/>
                </a:solidFill>
                <a:latin typeface="Poppins"/>
              </a:rPr>
              <a:t>References &amp;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78440" y="484632"/>
            <a:ext cx="1280160" cy="21031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78440" y="484632"/>
            <a:ext cx="1280160" cy="210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Poppins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960120"/>
            <a:ext cx="11128248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Prieto TE, Myklebust JB, Hoffmann RG, Lovett EG, Myklebust BM. Measures of postural steadiness: differences between healthy young and elderly adults. IEEE Trans Biomed Eng. 1996;43(9):956–966. doi:10.1109/10.532130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Schubert P, Kirchner M. Ellipse area calculations and their applicability in posturography. Gait &amp; Posture. 2014;39(1):518–522. doi:10.1016/j.gaitpost.2013.09.001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Winter DA. A.B.C. (Anatomy, Biomechanics and Control) of Balance during Standing and Walking. Waterloo Biomechanics; 1995.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Wong CK, Chihuri ST, Li G. Risk of fall-related injury in people with lower limb amputations: a prospective cohort study. J Rehabil Med. 2016;48:80–85. doi:10.2340/16501977-2042  (56.1% fell during follow-up)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Viswanathan V, Kumpatla S. Pattern and causes of amputation in diabetic patients: a multicentric study from India. J Assoc Physicians India. 2011;59:148–151. PMID 21751622  (70.9% of 1,295 amputations were minor)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Avia Semiconductor. HX711 24-bit ADC for weigh scales, datasheet (pin functions, RATE 10/80 SPS, AVDD regulator).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Espressif Systems. ESP32-WROOM-32 datasheet (strapping pins, flash-connected GPIO 6–11).</a:t>
            </a:r>
          </a:p>
          <a:p>
            <a:pPr marL="146304" indent="-146304">
              <a:lnSpc>
                <a:spcPct val="108000"/>
              </a:lnSpc>
              <a:spcAft>
                <a:spcPts val="600"/>
              </a:spcAft>
              <a:buClr>
                <a:srgbClr val="0369A1"/>
              </a:buClr>
              <a:buSzPct val="100000"/>
              <a:buFont typeface="Arial"/>
              <a:buChar char="▪"/>
            </a:pPr>
            <a:r>
              <a:rPr sz="940" b="0" i="0">
                <a:solidFill>
                  <a:srgbClr val="334155"/>
                </a:solidFill>
                <a:latin typeface="DM Sans"/>
              </a:rPr>
              <a:t>ICMR. National Ethical Guidelines for Biomedical and Health Research Involving Human Participants. 2017.  ·  CDSCO. Medical Device Rules, 2017.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4160520"/>
            <a:ext cx="11128248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31520" y="4306824"/>
            <a:ext cx="137160" cy="1371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4251960"/>
            <a:ext cx="10296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0F172A"/>
                </a:solidFill>
                <a:latin typeface="DM Sans"/>
              </a:rPr>
              <a:t>Image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334155"/>
                </a:solidFill>
                <a:latin typeface="DM Sans"/>
              </a:rPr>
              <a:t>All figures were produced for this project: FreeCAD 1.1 renders and CalculiX FEA (EquiSense_ForcePlatform.FCStd), KiCad 10 schematic (EquiSense.kicad_sch), and Python/matplotlib plots. No third-party images are used. Source files: github.com/amalnathkp13-boop/EquiSense-ForcePlatform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