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76" r:id="rId47"/>
    <p:sldId id="277" r:id="rId48"/>
    <p:sldId id="278" r:id="rId49"/>
    <p:sldId id="279" r:id="rId50"/>
    <p:sldId id="280" r:id="rId51"/>
    <p:sldId id="281" r:id="rId52"/>
    <p:sldId id="282" r:id="rId53"/>
    <p:sldId id="283" r:id="rId54"/>
    <p:sldId id="284" r:id="rId55"/>
    <p:sldId id="285" r:id="rId56"/>
    <p:sldId id="286" r:id="rId57"/>
    <p:sldId id="287" r:id="rId58"/>
    <p:sldId id="288" r:id="rId59"/>
    <p:sldId id="289" r:id="rId60"/>
    <p:sldId id="290" r:id="rId61"/>
    <p:sldId id="291" r:id="rId62"/>
    <p:sldId id="292" r:id="rId63"/>
    <p:sldId id="293" r:id="rId64"/>
    <p:sldId id="294" r:id="rId65"/>
  </p:sldIdLst>
  <p:sldSz cy="6858000" cx="12192000"/>
  <p:notesSz cx="6858000" cy="9144000"/>
  <p:embeddedFontLst>
    <p:embeddedFont>
      <p:font typeface="DM Sans Medium"/>
      <p:regular r:id="rId27"/>
      <p:bold r:id="rId28"/>
      <p:italic r:id="rId29"/>
      <p:boldItalic r:id="rId30"/>
    </p:embeddedFont>
    <p:embeddedFont>
      <p:font typeface="Poppins"/>
      <p:regular r:id="rId31"/>
      <p:bold r:id="rId32"/>
      <p:italic r:id="rId33"/>
      <p:boldItalic r:id="rId34"/>
    </p:embeddedFont>
    <p:embeddedFont>
      <p:font typeface="Inter"/>
      <p:regular r:id="rId35"/>
      <p:bold r:id="rId36"/>
      <p:italic r:id="rId37"/>
      <p:boldItalic r:id="rId38"/>
    </p:embeddedFont>
    <p:embeddedFont>
      <p:font typeface="Poppins SemiBold"/>
      <p:regular r:id="rId39"/>
      <p:bold r:id="rId40"/>
      <p:italic r:id="rId41"/>
      <p:boldItalic r:id="rId42"/>
    </p:embeddedFont>
    <p:embeddedFont>
      <p:font typeface="DM Sans"/>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A1CCE7A-FDF7-472A-909B-C5EBB1D3D8B2}">
  <a:tblStyle styleId="{3A1CCE7A-FDF7-472A-909B-C5EBB1D3D8B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27" Type="http://schemas.openxmlformats.org/officeDocument/2006/relationships/font" Target="fonts/DMSansMedium-regular.fntdata"/><Relationship Id="rId28" Type="http://schemas.openxmlformats.org/officeDocument/2006/relationships/font" Target="fonts/DMSansMedium-bold.fntdata"/><Relationship Id="rId29" Type="http://schemas.openxmlformats.org/officeDocument/2006/relationships/font" Target="fonts/DMSansMedium-italic.fntdata"/><Relationship Id="rId30" Type="http://schemas.openxmlformats.org/officeDocument/2006/relationships/font" Target="fonts/DMSansMedium-boldItalic.fntdata"/><Relationship Id="rId31" Type="http://schemas.openxmlformats.org/officeDocument/2006/relationships/font" Target="fonts/Poppins-regular.fntdata"/><Relationship Id="rId32" Type="http://schemas.openxmlformats.org/officeDocument/2006/relationships/font" Target="fonts/Poppins-bold.fntdata"/><Relationship Id="rId33" Type="http://schemas.openxmlformats.org/officeDocument/2006/relationships/font" Target="fonts/Poppins-italic.fntdata"/><Relationship Id="rId34" Type="http://schemas.openxmlformats.org/officeDocument/2006/relationships/font" Target="fonts/Poppins-boldItalic.fntdata"/><Relationship Id="rId35" Type="http://schemas.openxmlformats.org/officeDocument/2006/relationships/font" Target="fonts/Inter-regular.fntdata"/><Relationship Id="rId36" Type="http://schemas.openxmlformats.org/officeDocument/2006/relationships/font" Target="fonts/Inter-bold.fntdata"/><Relationship Id="rId37" Type="http://schemas.openxmlformats.org/officeDocument/2006/relationships/font" Target="fonts/Inter-italic.fntdata"/><Relationship Id="rId38" Type="http://schemas.openxmlformats.org/officeDocument/2006/relationships/font" Target="fonts/Inter-boldItalic.fntdata"/><Relationship Id="rId39" Type="http://schemas.openxmlformats.org/officeDocument/2006/relationships/font" Target="fonts/PoppinsSemiBold-regular.fntdata"/><Relationship Id="rId40" Type="http://schemas.openxmlformats.org/officeDocument/2006/relationships/font" Target="fonts/PoppinsSemiBold-bold.fntdata"/><Relationship Id="rId41" Type="http://schemas.openxmlformats.org/officeDocument/2006/relationships/font" Target="fonts/PoppinsSemiBold-italic.fntdata"/><Relationship Id="rId42" Type="http://schemas.openxmlformats.org/officeDocument/2006/relationships/font" Target="fonts/PoppinsSemiBold-boldItalic.fntdata"/><Relationship Id="rId43" Type="http://schemas.openxmlformats.org/officeDocument/2006/relationships/font" Target="fonts/DMSans-regular.fntdata"/><Relationship Id="rId44" Type="http://schemas.openxmlformats.org/officeDocument/2006/relationships/font" Target="fonts/DMSans-bold.fntdata"/><Relationship Id="rId45" Type="http://schemas.openxmlformats.org/officeDocument/2006/relationships/font" Target="fonts/DMSans-italic.fntdata"/><Relationship Id="rId46" Type="http://schemas.openxmlformats.org/officeDocument/2006/relationships/font" Target="fonts/DMSans-boldItalic.fntdata"/><Relationship Id="rId47" Type="http://schemas.openxmlformats.org/officeDocument/2006/relationships/slide" Target="slides/slide21.xml"/><Relationship Id="rId48" Type="http://schemas.openxmlformats.org/officeDocument/2006/relationships/slide" Target="slides/slide22.xml"/><Relationship Id="rId49" Type="http://schemas.openxmlformats.org/officeDocument/2006/relationships/slide" Target="slides/slide23.xml"/><Relationship Id="rId50" Type="http://schemas.openxmlformats.org/officeDocument/2006/relationships/slide" Target="slides/slide24.xml"/><Relationship Id="rId51" Type="http://schemas.openxmlformats.org/officeDocument/2006/relationships/slide" Target="slides/slide25.xml"/><Relationship Id="rId52" Type="http://schemas.openxmlformats.org/officeDocument/2006/relationships/slide" Target="slides/slide26.xml"/><Relationship Id="rId53" Type="http://schemas.openxmlformats.org/officeDocument/2006/relationships/slide" Target="slides/slide27.xml"/><Relationship Id="rId54" Type="http://schemas.openxmlformats.org/officeDocument/2006/relationships/slide" Target="slides/slide28.xml"/><Relationship Id="rId55" Type="http://schemas.openxmlformats.org/officeDocument/2006/relationships/slide" Target="slides/slide29.xml"/><Relationship Id="rId56" Type="http://schemas.openxmlformats.org/officeDocument/2006/relationships/slide" Target="slides/slide30.xml"/><Relationship Id="rId57" Type="http://schemas.openxmlformats.org/officeDocument/2006/relationships/slide" Target="slides/slide31.xml"/><Relationship Id="rId58" Type="http://schemas.openxmlformats.org/officeDocument/2006/relationships/slide" Target="slides/slide32.xml"/><Relationship Id="rId59" Type="http://schemas.openxmlformats.org/officeDocument/2006/relationships/slide" Target="slides/slide33.xml"/><Relationship Id="rId60" Type="http://schemas.openxmlformats.org/officeDocument/2006/relationships/slide" Target="slides/slide34.xml"/><Relationship Id="rId61" Type="http://schemas.openxmlformats.org/officeDocument/2006/relationships/slide" Target="slides/slide35.xml"/><Relationship Id="rId62" Type="http://schemas.openxmlformats.org/officeDocument/2006/relationships/slide" Target="slides/slide36.xml"/><Relationship Id="rId63" Type="http://schemas.openxmlformats.org/officeDocument/2006/relationships/slide" Target="slides/slide37.xml"/><Relationship Id="rId64" Type="http://schemas.openxmlformats.org/officeDocument/2006/relationships/slide" Target="slides/slide38.xml"/><Relationship Id="rId65"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14.png"/><Relationship Id="rId6" Type="http://schemas.openxmlformats.org/officeDocument/2006/relationships/image" Target="../media/image7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70.png"/><Relationship Id="rId4" Type="http://schemas.openxmlformats.org/officeDocument/2006/relationships/image" Target="../media/image14.png"/><Relationship Id="rId5" Type="http://schemas.openxmlformats.org/officeDocument/2006/relationships/image" Target="../media/image77.png"/><Relationship Id="rId6"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70.png"/><Relationship Id="rId4" Type="http://schemas.openxmlformats.org/officeDocument/2006/relationships/image" Target="../media/image14.png"/><Relationship Id="rId5"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70.png"/><Relationship Id="rId4" Type="http://schemas.openxmlformats.org/officeDocument/2006/relationships/image" Target="../media/image14.png"/><Relationship Id="rId5" Type="http://schemas.openxmlformats.org/officeDocument/2006/relationships/image" Target="../media/image78.png"/><Relationship Id="rId6"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70.png"/><Relationship Id="rId4" Type="http://schemas.openxmlformats.org/officeDocument/2006/relationships/image" Target="../media/image14.png"/><Relationship Id="rId5"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70.png"/><Relationship Id="rId4" Type="http://schemas.openxmlformats.org/officeDocument/2006/relationships/image" Target="../media/image14.png"/><Relationship Id="rId5"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70.png"/><Relationship Id="rId4" Type="http://schemas.openxmlformats.org/officeDocument/2006/relationships/image" Target="../media/image14.png"/><Relationship Id="rId5" Type="http://schemas.openxmlformats.org/officeDocument/2006/relationships/image" Target="../media/image79.png"/><Relationship Id="rId6" Type="http://schemas.openxmlformats.org/officeDocument/2006/relationships/image" Target="../media/image77.png"/><Relationship Id="rId7" Type="http://schemas.openxmlformats.org/officeDocument/2006/relationships/image" Target="../media/image80.png"/><Relationship Id="rId8"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70.png"/><Relationship Id="rId4" Type="http://schemas.openxmlformats.org/officeDocument/2006/relationships/image" Target="../media/image14.png"/><Relationship Id="rId5" Type="http://schemas.openxmlformats.org/officeDocument/2006/relationships/image" Target="../media/image81.png"/><Relationship Id="rId6"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70.png"/><Relationship Id="rId4" Type="http://schemas.openxmlformats.org/officeDocument/2006/relationships/image" Target="../media/image14.png"/><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70.png"/><Relationship Id="rId4" Type="http://schemas.openxmlformats.org/officeDocument/2006/relationships/image" Target="../media/image14.png"/><Relationship Id="rId5"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70.png"/><Relationship Id="rId4" Type="http://schemas.openxmlformats.org/officeDocument/2006/relationships/image" Target="../media/image14.png"/><Relationship Id="rId5" Type="http://schemas.openxmlformats.org/officeDocument/2006/relationships/image" Target="../media/image85.png"/><Relationship Id="rId6"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70.png"/><Relationship Id="rId4" Type="http://schemas.openxmlformats.org/officeDocument/2006/relationships/image" Target="../media/image14.png"/><Relationship Id="rId5" Type="http://schemas.openxmlformats.org/officeDocument/2006/relationships/image" Target="../media/image83.png"/><Relationship Id="rId6" Type="http://schemas.openxmlformats.org/officeDocument/2006/relationships/image" Target="../media/image77.png"/><Relationship Id="rId7" Type="http://schemas.openxmlformats.org/officeDocument/2006/relationships/image" Target="../media/image81.png"/><Relationship Id="rId8"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70.png"/><Relationship Id="rId4" Type="http://schemas.openxmlformats.org/officeDocument/2006/relationships/image" Target="../media/image14.png"/><Relationship Id="rId5"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70.png"/><Relationship Id="rId4" Type="http://schemas.openxmlformats.org/officeDocument/2006/relationships/image" Target="../media/image14.png"/><Relationship Id="rId5"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70.png"/><Relationship Id="rId4" Type="http://schemas.openxmlformats.org/officeDocument/2006/relationships/image" Target="../media/image14.png"/><Relationship Id="rId5"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70.png"/><Relationship Id="rId4" Type="http://schemas.openxmlformats.org/officeDocument/2006/relationships/image" Target="../media/image14.png"/><Relationship Id="rId5"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70.png"/><Relationship Id="rId4" Type="http://schemas.openxmlformats.org/officeDocument/2006/relationships/image" Target="../media/image14.png"/><Relationship Id="rId5"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70.png"/><Relationship Id="rId4" Type="http://schemas.openxmlformats.org/officeDocument/2006/relationships/image" Target="../media/image14.png"/><Relationship Id="rId5"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70.png"/><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70.png"/><Relationship Id="rId4" Type="http://schemas.openxmlformats.org/officeDocument/2006/relationships/image" Target="../media/image14.png"/><Relationship Id="rId5" Type="http://schemas.openxmlformats.org/officeDocument/2006/relationships/image" Target="../media/image78.png"/><Relationship Id="rId6" Type="http://schemas.openxmlformats.org/officeDocument/2006/relationships/image" Target="../media/image77.png"/><Relationship Id="rId7" Type="http://schemas.openxmlformats.org/officeDocument/2006/relationships/image" Target="../media/image79.png"/><Relationship Id="rId8" Type="http://schemas.openxmlformats.org/officeDocument/2006/relationships/image" Target="../media/image81.png"/><Relationship Id="rId9" Type="http://schemas.openxmlformats.org/officeDocument/2006/relationships/image" Target="../media/image83.png"/><Relationship Id="rId10" Type="http://schemas.openxmlformats.org/officeDocument/2006/relationships/image" Target="../media/image85.png"/><Relationship Id="rId1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2"/>
            <a:ext cx="12192000" cy="6858000"/>
          </a:xfrm>
          <a:prstGeom prst="rect">
            <a:avLst/>
          </a:prstGeom>
          <a:noFill/>
          <a:ln>
            <a:noFill/>
          </a:ln>
        </p:spPr>
      </p:pic>
      <p:sp>
        <p:nvSpPr>
          <p:cNvPr id="85" name="Google Shape;85;p13"/>
          <p:cNvSpPr txBox="1"/>
          <p:nvPr/>
        </p:nvSpPr>
        <p:spPr>
          <a:xfrm>
            <a:off x="2320528" y="3182619"/>
            <a:ext cx="7551000" cy="5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750">
                <a:solidFill>
                  <a:srgbClr val="0F172A"/>
                </a:solidFill>
                <a:latin typeface="Poppins"/>
                <a:ea typeface="Poppins"/>
                <a:cs typeface="Poppins"/>
                <a:sym typeface="Poppins"/>
              </a:rPr>
              <a:t>EquiSense Force Platform</a:t>
            </a:r>
            <a:endParaRPr/>
          </a:p>
        </p:txBody>
      </p:sp>
      <p:sp>
        <p:nvSpPr>
          <p:cNvPr id="86" name="Google Shape;86;p13"/>
          <p:cNvSpPr txBox="1"/>
          <p:nvPr/>
        </p:nvSpPr>
        <p:spPr>
          <a:xfrm>
            <a:off x="1527048" y="3931920"/>
            <a:ext cx="9144000" cy="32004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t/>
            </a:r>
            <a:r>
              <a:rPr sz="1300" b="0" i="0">
                <a:solidFill>
                  <a:srgbClr val="334155"/>
                </a:solidFill>
                <a:latin typeface="DM Sans"/>
              </a:rPr>
              <a:t>Low-cost four-load-cell Centre-of-Pressure platform for balance assessment after minor lower-limb amputation</a:t>
            </a:r>
            <a:endParaRPr/>
          </a:p>
        </p:txBody>
      </p:sp>
      <p:pic>
        <p:nvPicPr>
          <p:cNvPr descr="image.png" id="87" name="Google Shape;87;p13"/>
          <p:cNvPicPr preferRelativeResize="0"/>
          <p:nvPr/>
        </p:nvPicPr>
        <p:blipFill rotWithShape="1">
          <a:blip r:embed="rId4">
            <a:alphaModFix/>
          </a:blip>
          <a:srcRect b="0" l="0" r="0" t="0"/>
          <a:stretch/>
        </p:blipFill>
        <p:spPr>
          <a:xfrm>
            <a:off x="3170213" y="2268205"/>
            <a:ext cx="5851614" cy="577200"/>
          </a:xfrm>
          <a:prstGeom prst="rect">
            <a:avLst/>
          </a:prstGeom>
          <a:noFill/>
          <a:ln>
            <a:noFill/>
          </a:ln>
        </p:spPr>
      </p:pic>
      <p:pic>
        <p:nvPicPr>
          <p:cNvPr id="88" name="Google Shape;88;p13" title="MBF_Logo_2020.png"/>
          <p:cNvPicPr preferRelativeResize="0"/>
          <p:nvPr/>
        </p:nvPicPr>
        <p:blipFill>
          <a:blip r:embed="rId5">
            <a:alphaModFix/>
          </a:blip>
          <a:stretch>
            <a:fillRect/>
          </a:stretch>
        </p:blipFill>
        <p:spPr>
          <a:xfrm>
            <a:off x="10700669" y="80825"/>
            <a:ext cx="1491330" cy="784825"/>
          </a:xfrm>
          <a:prstGeom prst="rect">
            <a:avLst/>
          </a:prstGeom>
          <a:noFill/>
          <a:ln>
            <a:noFill/>
          </a:ln>
        </p:spPr>
      </p:pic>
      <p:pic>
        <p:nvPicPr>
          <p:cNvPr id="89" name="Google Shape;89;p13" title="VK colored transparent logo.png"/>
          <p:cNvPicPr preferRelativeResize="0"/>
          <p:nvPr/>
        </p:nvPicPr>
        <p:blipFill rotWithShape="1">
          <a:blip r:embed="rId6">
            <a:alphaModFix/>
          </a:blip>
          <a:srcRect b="44466" l="14673" r="15820" t="33074"/>
          <a:stretch/>
        </p:blipFill>
        <p:spPr>
          <a:xfrm>
            <a:off x="0" y="80825"/>
            <a:ext cx="2428825" cy="784825"/>
          </a:xfrm>
          <a:prstGeom prst="rect">
            <a:avLst/>
          </a:prstGeom>
          <a:noFill/>
          <a:ln>
            <a:noFill/>
          </a:ln>
        </p:spPr>
      </p:pic>
      <p:sp>
        <p:nvSpPr>
          <p:cNvPr id="90" name="TextBox 89"/>
          <p:cNvSpPr txBox="1"/>
          <p:nvPr/>
        </p:nvSpPr>
        <p:spPr>
          <a:xfrm>
            <a:off x="1527048" y="4434840"/>
            <a:ext cx="9144000" cy="274320"/>
          </a:xfrm>
          <a:prstGeom prst="rect">
            <a:avLst/>
          </a:prstGeom>
          <a:noFill/>
        </p:spPr>
        <p:txBody>
          <a:bodyPr wrap="square" anchor="t" lIns="0" rIns="0" tIns="0" bIns="0">
            <a:spAutoFit/>
          </a:bodyPr>
          <a:lstStyle/>
          <a:p>
            <a:pPr algn="ctr"/>
            <a:r>
              <a:rPr sz="1100" b="1" i="0">
                <a:solidFill>
                  <a:srgbClr val="0F172A"/>
                </a:solidFill>
                <a:latin typeface="DM Sans"/>
              </a:rPr>
              <a:t>Vishwakarma Application ID: </a:t>
            </a:r>
            <a:r>
              <a:rPr sz="1100" b="0" i="0">
                <a:solidFill>
                  <a:srgbClr val="0369A1"/>
                </a:solidFill>
                <a:latin typeface="DM Sans"/>
              </a:rPr>
              <a:t>[enter ID]</a:t>
            </a:r>
            <a:r>
              <a:rPr sz="1100" b="1" i="0">
                <a:solidFill>
                  <a:srgbClr val="0F172A"/>
                </a:solidFill>
                <a:latin typeface="DM Sans"/>
              </a:rPr>
              <a:t>     Track: </a:t>
            </a:r>
            <a:r>
              <a:rPr sz="1100" b="0" i="0">
                <a:solidFill>
                  <a:srgbClr val="0369A1"/>
                </a:solidFill>
                <a:latin typeface="DM Sans"/>
              </a:rPr>
              <a:t>[enter track]</a:t>
            </a:r>
          </a:p>
        </p:txBody>
      </p:sp>
      <p:sp>
        <p:nvSpPr>
          <p:cNvPr id="91" name="TextBox 90"/>
          <p:cNvSpPr txBox="1"/>
          <p:nvPr/>
        </p:nvSpPr>
        <p:spPr>
          <a:xfrm>
            <a:off x="1527048" y="4846320"/>
            <a:ext cx="9144000" cy="548640"/>
          </a:xfrm>
          <a:prstGeom prst="rect">
            <a:avLst/>
          </a:prstGeom>
          <a:noFill/>
        </p:spPr>
        <p:txBody>
          <a:bodyPr wrap="square" anchor="t" lIns="0" rIns="0" tIns="0" bIns="0">
            <a:spAutoFit/>
          </a:bodyPr>
          <a:lstStyle/>
          <a:p>
            <a:pPr algn="ctr"/>
            <a:r>
              <a:rPr sz="1050" b="0" i="0">
                <a:solidFill>
                  <a:srgbClr val="64748B"/>
                </a:solidFill>
                <a:latin typeface="DM Sans"/>
              </a:rPr>
              <a:t>Team: Dhiyadharshini V. · Kaviashree Rangasamy · Kameshwaran V. · Lakshmi Praba M.</a:t>
            </a:r>
          </a:p>
          <a:p>
            <a:pPr algn="ctr"/>
            <a:r>
              <a:rPr sz="1050" b="0" i="0">
                <a:solidFill>
                  <a:srgbClr val="64748B"/>
                </a:solidFill>
                <a:latin typeface="DM Sans"/>
              </a:rPr>
              <a:t>Supervisor: Mrs. C. Radhika, AP/BME · Department of Biomedical Engineering, Tamil Nadu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rcRect l="14673" r="15820" t="33074" b="44466"/>
          <a:stretch>
            <a:fillRect/>
          </a:stretch>
        </p:blipFill>
        <p:spPr>
          <a:xfrm>
            <a:off x="0" y="6281013"/>
            <a:ext cx="1785823" cy="576986"/>
          </a:xfrm>
          <a:prstGeom prst="rect">
            <a:avLst/>
          </a:prstGeom>
        </p:spPr>
      </p:pic>
      <p:pic>
        <p:nvPicPr>
          <p:cNvPr id="4" name="Picture 3" descr="image.png"/>
          <p:cNvPicPr>
            <a:picLocks noChangeAspect="1"/>
          </p:cNvPicPr>
          <p:nvPr/>
        </p:nvPicPr>
        <p:blipFill>
          <a:blip r:embed="rId4"/>
          <a:stretch>
            <a:fillRect/>
          </a:stretch>
        </p:blipFill>
        <p:spPr>
          <a:xfrm>
            <a:off x="11095329" y="6281013"/>
            <a:ext cx="1096365" cy="576986"/>
          </a:xfrm>
          <a:prstGeom prst="rect">
            <a:avLst/>
          </a:prstGeom>
        </p:spPr>
      </p:pic>
      <p:sp>
        <p:nvSpPr>
          <p:cNvPr id="5" name="TextBox 4"/>
          <p:cNvSpPr txBox="1"/>
          <p:nvPr/>
        </p:nvSpPr>
        <p:spPr>
          <a:xfrm>
            <a:off x="530352" y="402336"/>
            <a:ext cx="8595360" cy="365760"/>
          </a:xfrm>
          <a:prstGeom prst="rect">
            <a:avLst/>
          </a:prstGeom>
          <a:noFill/>
        </p:spPr>
        <p:txBody>
          <a:bodyPr wrap="square" anchor="t" lIns="0" rIns="0" tIns="0" bIns="0">
            <a:spAutoFit/>
          </a:bodyPr>
          <a:lstStyle/>
          <a:p>
            <a:pPr algn="l"/>
            <a:r>
              <a:rPr sz="2025" b="1" i="0">
                <a:solidFill>
                  <a:srgbClr val="0F172A"/>
                </a:solidFill>
                <a:latin typeface="Poppins"/>
              </a:rPr>
              <a:t>Project Overview &amp; Problem Statement</a:t>
            </a:r>
          </a:p>
        </p:txBody>
      </p:sp>
      <p:sp>
        <p:nvSpPr>
          <p:cNvPr id="6" name="Rounded Rectangle 5"/>
          <p:cNvSpPr/>
          <p:nvPr/>
        </p:nvSpPr>
        <p:spPr>
          <a:xfrm>
            <a:off x="10241280" y="484632"/>
            <a:ext cx="1417319" cy="210312"/>
          </a:xfrm>
          <a:prstGeom prst="roundRect">
            <a:avLst>
              <a:gd name="adj" fmla="val 50000"/>
            </a:avLst>
          </a:prstGeom>
          <a:solidFill>
            <a:srgbClr val="DCFCE7"/>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241280" y="484632"/>
            <a:ext cx="1417319" cy="210312"/>
          </a:xfrm>
          <a:prstGeom prst="rect">
            <a:avLst/>
          </a:prstGeom>
          <a:noFill/>
        </p:spPr>
        <p:txBody>
          <a:bodyPr wrap="square" anchor="ctr" lIns="0" rIns="0" tIns="0" bIns="0">
            <a:spAutoFit/>
          </a:bodyPr>
          <a:lstStyle/>
          <a:p>
            <a:pPr algn="ctr"/>
            <a:r>
              <a:rPr sz="750" b="1" i="0">
                <a:solidFill>
                  <a:srgbClr val="047857"/>
                </a:solidFill>
                <a:latin typeface="Poppins"/>
              </a:rPr>
              <a:t>PROJECT OVERVIEW</a:t>
            </a:r>
          </a:p>
        </p:txBody>
      </p:sp>
      <p:sp>
        <p:nvSpPr>
          <p:cNvPr id="8" name="Rounded Rectangle 7"/>
          <p:cNvSpPr/>
          <p:nvPr/>
        </p:nvSpPr>
        <p:spPr>
          <a:xfrm>
            <a:off x="530352" y="960120"/>
            <a:ext cx="5431536" cy="2514600"/>
          </a:xfrm>
          <a:prstGeom prst="roundRect">
            <a:avLst>
              <a:gd name="adj" fmla="val 218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d_iso.png"/>
          <p:cNvPicPr>
            <a:picLocks noChangeAspect="1"/>
          </p:cNvPicPr>
          <p:nvPr/>
        </p:nvPicPr>
        <p:blipFill>
          <a:blip r:embed="rId5"/>
          <a:stretch>
            <a:fillRect/>
          </a:stretch>
        </p:blipFill>
        <p:spPr>
          <a:xfrm>
            <a:off x="1418323" y="1014984"/>
            <a:ext cx="3655593" cy="2404872"/>
          </a:xfrm>
          <a:prstGeom prst="rect">
            <a:avLst/>
          </a:prstGeom>
        </p:spPr>
      </p:pic>
      <p:sp>
        <p:nvSpPr>
          <p:cNvPr id="10" name="TextBox 9"/>
          <p:cNvSpPr txBox="1"/>
          <p:nvPr/>
        </p:nvSpPr>
        <p:spPr>
          <a:xfrm>
            <a:off x="530352" y="3502152"/>
            <a:ext cx="5431536" cy="182880"/>
          </a:xfrm>
          <a:prstGeom prst="rect">
            <a:avLst/>
          </a:prstGeom>
          <a:noFill/>
        </p:spPr>
        <p:txBody>
          <a:bodyPr wrap="square" anchor="t" lIns="0" rIns="0" tIns="0" bIns="0">
            <a:spAutoFit/>
          </a:bodyPr>
          <a:lstStyle/>
          <a:p>
            <a:pPr algn="r"/>
            <a:r>
              <a:rPr sz="860" b="0" i="1">
                <a:solidFill>
                  <a:srgbClr val="64748B"/>
                </a:solidFill>
                <a:latin typeface="DM Sans"/>
              </a:rPr>
              <a:t>Figure: EquiSense Rev 2.0 platform, FreeCAD assembly (450 × 450 mm)</a:t>
            </a:r>
          </a:p>
        </p:txBody>
      </p:sp>
      <p:graphicFrame>
        <p:nvGraphicFramePr>
          <p:cNvPr id="11" name="Table 10"/>
          <p:cNvGraphicFramePr>
            <a:graphicFrameLocks noGrp="1"/>
          </p:cNvGraphicFramePr>
          <p:nvPr/>
        </p:nvGraphicFramePr>
        <p:xfrm>
          <a:off x="530352" y="3767328"/>
          <a:ext cx="5431535" cy="1737360"/>
        </p:xfrm>
        <a:graphic>
          <a:graphicData uri="http://schemas.openxmlformats.org/drawingml/2006/table">
            <a:tbl>
              <a:tblPr firstRow="0" bandRow="0">
                <a:tableStyleId>{5940675A-B579-460E-94D1-54222C63F5DA}</a:tableStyleId>
              </a:tblPr>
              <a:tblGrid>
                <a:gridCol w="1232365"/>
                <a:gridCol w="4199170"/>
              </a:tblGrid>
              <a:tr h="347472">
                <a:tc>
                  <a:txBody>
                    <a:bodyPr wrap="square"/>
                    <a:lstStyle/>
                    <a:p>
                      <a:r>
                        <a:rPr sz="860" b="1" i="0">
                          <a:solidFill>
                            <a:srgbClr val="0F172A"/>
                          </a:solidFill>
                          <a:latin typeface="DM Sans"/>
                        </a:rPr>
                        <a:t>Field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860" b="1" i="0">
                          <a:solidFill>
                            <a:srgbClr val="0F172A"/>
                          </a:solidFill>
                          <a:latin typeface="DM Sans"/>
                        </a:rPr>
                        <a:t>Details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r>
              <a:tr h="347472">
                <a:tc>
                  <a:txBody>
                    <a:bodyPr wrap="square"/>
                    <a:lstStyle/>
                    <a:p>
                      <a:r>
                        <a:rPr sz="860" b="0" i="0">
                          <a:solidFill>
                            <a:srgbClr val="334155"/>
                          </a:solidFill>
                          <a:latin typeface="DM Sans"/>
                        </a:rPr>
                        <a:t>Project title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EquiSense: Low-Cost Four-Load-Cell Force Platform for CoP Assessment</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347472">
                <a:tc>
                  <a:txBody>
                    <a:bodyPr wrap="square"/>
                    <a:lstStyle/>
                    <a:p>
                      <a:r>
                        <a:rPr sz="860" b="0" i="0">
                          <a:solidFill>
                            <a:srgbClr val="334155"/>
                          </a:solidFill>
                          <a:latin typeface="DM Sans"/>
                        </a:rPr>
                        <a:t>Team ID  /  Track</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[enter Team ID]  /  [enter Track]</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347472">
                <a:tc>
                  <a:txBody>
                    <a:bodyPr wrap="square"/>
                    <a:lstStyle/>
                    <a:p>
                      <a:r>
                        <a:rPr sz="860" b="0" i="0">
                          <a:solidFill>
                            <a:srgbClr val="334155"/>
                          </a:solidFill>
                          <a:latin typeface="DM Sans"/>
                        </a:rPr>
                        <a:t>Team</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Dhiyadharshini V., Kaviashree Rangasamy, Kameshwaran V., Lakshmi Praba M.</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347472">
                <a:tc>
                  <a:txBody>
                    <a:bodyPr wrap="square"/>
                    <a:lstStyle/>
                    <a:p>
                      <a:r>
                        <a:rPr sz="860" b="0" i="0">
                          <a:solidFill>
                            <a:srgbClr val="334155"/>
                          </a:solidFill>
                          <a:latin typeface="DM Sans"/>
                        </a:rPr>
                        <a:t>Supervisor</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Mrs. C. Radhika, AP/BME, Department of Biomedical Engineering</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bl>
          </a:graphicData>
        </a:graphic>
      </p:graphicFrame>
      <p:sp>
        <p:nvSpPr>
          <p:cNvPr id="12" name="Rounded Rectangle 11"/>
          <p:cNvSpPr/>
          <p:nvPr/>
        </p:nvSpPr>
        <p:spPr>
          <a:xfrm>
            <a:off x="6227064" y="960120"/>
            <a:ext cx="5431536" cy="4553712"/>
          </a:xfrm>
          <a:prstGeom prst="roundRect">
            <a:avLst>
              <a:gd name="adj" fmla="val 1606"/>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46520" y="1133856"/>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665976" y="1078992"/>
            <a:ext cx="4809744" cy="237744"/>
          </a:xfrm>
          <a:prstGeom prst="rect">
            <a:avLst/>
          </a:prstGeom>
          <a:noFill/>
        </p:spPr>
        <p:txBody>
          <a:bodyPr wrap="square" anchor="t" lIns="0" rIns="0" tIns="0" bIns="0">
            <a:spAutoFit/>
          </a:bodyPr>
          <a:lstStyle/>
          <a:p>
            <a:pPr algn="l"/>
            <a:r>
              <a:rPr sz="1125" b="1" i="0">
                <a:solidFill>
                  <a:srgbClr val="0F172A"/>
                </a:solidFill>
                <a:latin typeface="DM Sans"/>
              </a:rPr>
              <a:t>Core Innovation (one line)</a:t>
            </a:r>
          </a:p>
        </p:txBody>
      </p:sp>
      <p:sp>
        <p:nvSpPr>
          <p:cNvPr id="15" name="Rounded Rectangle 14"/>
          <p:cNvSpPr/>
          <p:nvPr/>
        </p:nvSpPr>
        <p:spPr>
          <a:xfrm>
            <a:off x="6446520" y="1417320"/>
            <a:ext cx="5010912" cy="868680"/>
          </a:xfrm>
          <a:prstGeom prst="roundRect">
            <a:avLst>
              <a:gd name="adj" fmla="val 8421"/>
            </a:avLst>
          </a:prstGeom>
          <a:solidFill>
            <a:srgbClr val="FFFFFF"/>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583680" y="1463040"/>
            <a:ext cx="4754880" cy="777240"/>
          </a:xfrm>
          <a:prstGeom prst="rect">
            <a:avLst/>
          </a:prstGeom>
          <a:noFill/>
        </p:spPr>
        <p:txBody>
          <a:bodyPr wrap="square" anchor="ctr" lIns="0" rIns="0" tIns="0" bIns="0">
            <a:spAutoFit/>
          </a:bodyPr>
          <a:lstStyle/>
          <a:p>
            <a:pPr algn="l"/>
            <a:r>
              <a:rPr sz="1019" b="1" i="0">
                <a:solidFill>
                  <a:srgbClr val="047857"/>
                </a:solidFill>
                <a:latin typeface="DM Sans"/>
              </a:rPr>
              <a:t>A battery-isolated, 80 Hz four-load-cell platform that measures centre-of-pressure sway to millimetre accuracy and reports MVELO and PEA95 against each patient's own baseline, for ₹13,624.</a:t>
            </a:r>
          </a:p>
        </p:txBody>
      </p:sp>
      <p:sp>
        <p:nvSpPr>
          <p:cNvPr id="17" name="Rounded Rectangle 16"/>
          <p:cNvSpPr/>
          <p:nvPr/>
        </p:nvSpPr>
        <p:spPr>
          <a:xfrm>
            <a:off x="6446520" y="2505456"/>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65976" y="2450592"/>
            <a:ext cx="4809744" cy="237744"/>
          </a:xfrm>
          <a:prstGeom prst="rect">
            <a:avLst/>
          </a:prstGeom>
          <a:noFill/>
        </p:spPr>
        <p:txBody>
          <a:bodyPr wrap="square" anchor="t" lIns="0" rIns="0" tIns="0" bIns="0">
            <a:spAutoFit/>
          </a:bodyPr>
          <a:lstStyle/>
          <a:p>
            <a:pPr algn="l"/>
            <a:r>
              <a:rPr sz="1125" b="1" i="0">
                <a:solidFill>
                  <a:srgbClr val="0F172A"/>
                </a:solidFill>
                <a:latin typeface="DM Sans"/>
              </a:rPr>
              <a:t>Problem Statement</a:t>
            </a:r>
          </a:p>
        </p:txBody>
      </p:sp>
      <p:sp>
        <p:nvSpPr>
          <p:cNvPr id="19" name="TextBox 18"/>
          <p:cNvSpPr txBox="1"/>
          <p:nvPr/>
        </p:nvSpPr>
        <p:spPr>
          <a:xfrm>
            <a:off x="6446520" y="2743200"/>
            <a:ext cx="5010912" cy="1051560"/>
          </a:xfrm>
          <a:prstGeom prst="rect">
            <a:avLst/>
          </a:prstGeom>
          <a:noFill/>
        </p:spPr>
        <p:txBody>
          <a:bodyPr wrap="square" anchor="t" lIns="0" rIns="0" tIns="0" bIns="0">
            <a:spAutoFit/>
          </a:bodyPr>
          <a:lstStyle/>
          <a:p>
            <a:pPr algn="l"/>
            <a:r>
              <a:rPr sz="960" b="0" i="0">
                <a:solidFill>
                  <a:srgbClr val="334155"/>
                </a:solidFill>
                <a:latin typeface="DM Sans"/>
              </a:rPr>
              <a:t>After a toe, ray or transmetatarsal amputation, the shortened forefoot and diabetic neuropathy make standing balance unstable. District rehabilitation centres can only score balance with ordinal tests (Berg, TUG), because lab force plates cost ₹8 lakh or more. Sway deterioration goes unmeasured until a fall.</a:t>
            </a:r>
          </a:p>
        </p:txBody>
      </p:sp>
      <p:sp>
        <p:nvSpPr>
          <p:cNvPr id="20" name="Rounded Rectangle 19"/>
          <p:cNvSpPr/>
          <p:nvPr/>
        </p:nvSpPr>
        <p:spPr>
          <a:xfrm>
            <a:off x="6446520" y="3922776"/>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665976" y="3867912"/>
            <a:ext cx="4809744" cy="237744"/>
          </a:xfrm>
          <a:prstGeom prst="rect">
            <a:avLst/>
          </a:prstGeom>
          <a:noFill/>
        </p:spPr>
        <p:txBody>
          <a:bodyPr wrap="square" anchor="t" lIns="0" rIns="0" tIns="0" bIns="0">
            <a:spAutoFit/>
          </a:bodyPr>
          <a:lstStyle/>
          <a:p>
            <a:pPr algn="l"/>
            <a:r>
              <a:rPr sz="1125" b="1" i="0">
                <a:solidFill>
                  <a:srgbClr val="0F172A"/>
                </a:solidFill>
                <a:latin typeface="DM Sans"/>
              </a:rPr>
              <a:t>Target Beneficiary Segment</a:t>
            </a:r>
          </a:p>
        </p:txBody>
      </p:sp>
      <p:sp>
        <p:nvSpPr>
          <p:cNvPr id="22" name="TextBox 21"/>
          <p:cNvSpPr txBox="1"/>
          <p:nvPr/>
        </p:nvSpPr>
        <p:spPr>
          <a:xfrm>
            <a:off x="6446520" y="4160520"/>
            <a:ext cx="5010912" cy="1325880"/>
          </a:xfrm>
          <a:prstGeom prst="rect">
            <a:avLst/>
          </a:prstGeom>
          <a:noFill/>
        </p:spPr>
        <p:txBody>
          <a:bodyPr wrap="square" anchor="t" lIns="0" rIns="0" tIns="0" bIns="0">
            <a:spAutoFit/>
          </a:bodyPr>
          <a:lstStyle/>
          <a:p>
            <a:pPr marL="146304" indent="-146304">
              <a:lnSpc>
                <a:spcPct val="108000"/>
              </a:lnSpc>
              <a:spcAft>
                <a:spcPts val="300"/>
              </a:spcAft>
              <a:buClr>
                <a:srgbClr val="059669"/>
              </a:buClr>
              <a:buSzPct val="100000"/>
              <a:buFont typeface="Arial"/>
              <a:buChar char="▪"/>
            </a:pPr>
            <a:r>
              <a:rPr sz="940" b="1" i="0">
                <a:solidFill>
                  <a:srgbClr val="0F172A"/>
                </a:solidFill>
                <a:latin typeface="DM Sans"/>
              </a:rPr>
              <a:t>Primary: </a:t>
            </a:r>
            <a:r>
              <a:rPr sz="940" b="0" i="0">
                <a:solidFill>
                  <a:srgbClr val="334155"/>
                </a:solidFill>
                <a:latin typeface="DM Sans"/>
              </a:rPr>
              <a:t>adults after minor lower-limb amputation from diabetes or PAD.</a:t>
            </a:r>
          </a:p>
          <a:p>
            <a:pPr marL="146304" indent="-146304">
              <a:lnSpc>
                <a:spcPct val="108000"/>
              </a:lnSpc>
              <a:spcAft>
                <a:spcPts val="300"/>
              </a:spcAft>
              <a:buClr>
                <a:srgbClr val="059669"/>
              </a:buClr>
              <a:buSzPct val="100000"/>
              <a:buFont typeface="Arial"/>
              <a:buChar char="▪"/>
            </a:pPr>
            <a:r>
              <a:rPr sz="940" b="1" i="0">
                <a:solidFill>
                  <a:srgbClr val="0F172A"/>
                </a:solidFill>
                <a:latin typeface="DM Sans"/>
              </a:rPr>
              <a:t>Users: </a:t>
            </a:r>
            <a:r>
              <a:rPr sz="940" b="0" i="0">
                <a:solidFill>
                  <a:srgbClr val="334155"/>
                </a:solidFill>
                <a:latin typeface="DM Sans"/>
              </a:rPr>
              <a:t>physiotherapists at district and taluk rehabilitation centres in India.</a:t>
            </a:r>
          </a:p>
          <a:p>
            <a:pPr marL="146304" indent="-146304">
              <a:lnSpc>
                <a:spcPct val="108000"/>
              </a:lnSpc>
              <a:spcAft>
                <a:spcPts val="300"/>
              </a:spcAft>
              <a:buClr>
                <a:srgbClr val="059669"/>
              </a:buClr>
              <a:buSzPct val="100000"/>
              <a:buFont typeface="Arial"/>
              <a:buChar char="▪"/>
            </a:pPr>
            <a:r>
              <a:rPr sz="940" b="1" i="0">
                <a:solidFill>
                  <a:srgbClr val="0F172A"/>
                </a:solidFill>
                <a:latin typeface="DM Sans"/>
              </a:rPr>
              <a:t>Secondary: </a:t>
            </a:r>
            <a:r>
              <a:rPr sz="940" b="0" i="0">
                <a:solidFill>
                  <a:srgbClr val="334155"/>
                </a:solidFill>
                <a:latin typeface="DM Sans"/>
              </a:rPr>
              <a:t>teaching labs and researchers who need affordable posturography.</a:t>
            </a:r>
          </a:p>
        </p:txBody>
      </p:sp>
      <p:pic>
        <p:nvPicPr>
          <p:cNvPr id="23" name="Picture 22" descr="image.png"/>
          <p:cNvPicPr>
            <a:picLocks noChangeAspect="1"/>
          </p:cNvPicPr>
          <p:nvPr/>
        </p:nvPicPr>
        <p:blipFill>
          <a:blip r:embed="rId6"/>
          <a:stretch>
            <a:fillRect/>
          </a:stretch>
        </p:blipFill>
        <p:spPr>
          <a:xfrm>
            <a:off x="530352" y="5669280"/>
            <a:ext cx="11128248" cy="365760"/>
          </a:xfrm>
          <a:prstGeom prst="rect">
            <a:avLst/>
          </a:prstGeom>
        </p:spPr>
      </p:pic>
      <p:sp>
        <p:nvSpPr>
          <p:cNvPr id="24" name="TextBox 23"/>
          <p:cNvSpPr txBox="1"/>
          <p:nvPr/>
        </p:nvSpPr>
        <p:spPr>
          <a:xfrm>
            <a:off x="694944" y="5687568"/>
            <a:ext cx="10835640" cy="329184"/>
          </a:xfrm>
          <a:prstGeom prst="rect">
            <a:avLst/>
          </a:prstGeom>
          <a:noFill/>
        </p:spPr>
        <p:txBody>
          <a:bodyPr wrap="square" anchor="ctr" lIns="0" rIns="0" tIns="0" bIns="0">
            <a:spAutoFit/>
          </a:bodyPr>
          <a:lstStyle/>
          <a:p>
            <a:pPr algn="l"/>
            <a:r>
              <a:rPr sz="940" b="1" i="0">
                <a:solidFill>
                  <a:srgbClr val="0F172A"/>
                </a:solidFill>
                <a:latin typeface="DM Sans"/>
              </a:rPr>
              <a:t>Status: </a:t>
            </a:r>
            <a:r>
              <a:rPr sz="940" b="0" i="0">
                <a:solidFill>
                  <a:srgbClr val="475569"/>
                </a:solidFill>
                <a:latin typeface="DM Sans"/>
              </a:rPr>
              <a:t>Rev 2.0 design frozen with CAD, FEA and schematic complete; fabrication and bench validation (V1–V9) run Nov 2026 to Feb 2027.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rcRect l="14673" r="15820" t="33074" b="44466"/>
          <a:stretch>
            <a:fillRect/>
          </a:stretch>
        </p:blipFill>
        <p:spPr>
          <a:xfrm>
            <a:off x="0" y="6281013"/>
            <a:ext cx="1785823" cy="576986"/>
          </a:xfrm>
          <a:prstGeom prst="rect">
            <a:avLst/>
          </a:prstGeom>
        </p:spPr>
      </p:pic>
      <p:pic>
        <p:nvPicPr>
          <p:cNvPr id="4" name="Picture 3" descr="image.png"/>
          <p:cNvPicPr>
            <a:picLocks noChangeAspect="1"/>
          </p:cNvPicPr>
          <p:nvPr/>
        </p:nvPicPr>
        <p:blipFill>
          <a:blip r:embed="rId4"/>
          <a:stretch>
            <a:fillRect/>
          </a:stretch>
        </p:blipFill>
        <p:spPr>
          <a:xfrm>
            <a:off x="11095329" y="6281013"/>
            <a:ext cx="1096365" cy="576986"/>
          </a:xfrm>
          <a:prstGeom prst="rect">
            <a:avLst/>
          </a:prstGeom>
        </p:spPr>
      </p:pic>
      <p:sp>
        <p:nvSpPr>
          <p:cNvPr id="5" name="TextBox 4"/>
          <p:cNvSpPr txBox="1"/>
          <p:nvPr/>
        </p:nvSpPr>
        <p:spPr>
          <a:xfrm>
            <a:off x="530352" y="402336"/>
            <a:ext cx="8595360" cy="365760"/>
          </a:xfrm>
          <a:prstGeom prst="rect">
            <a:avLst/>
          </a:prstGeom>
          <a:noFill/>
        </p:spPr>
        <p:txBody>
          <a:bodyPr wrap="square" anchor="t" lIns="0" rIns="0" tIns="0" bIns="0">
            <a:spAutoFit/>
          </a:bodyPr>
          <a:lstStyle/>
          <a:p>
            <a:pPr algn="l"/>
            <a:r>
              <a:rPr sz="2025" b="1" i="0">
                <a:solidFill>
                  <a:srgbClr val="0F172A"/>
                </a:solidFill>
                <a:latin typeface="Poppins"/>
              </a:rPr>
              <a:t>User Journey: Before vs After</a:t>
            </a:r>
          </a:p>
        </p:txBody>
      </p:sp>
      <p:sp>
        <p:nvSpPr>
          <p:cNvPr id="6" name="Rounded Rectangle 5"/>
          <p:cNvSpPr/>
          <p:nvPr/>
        </p:nvSpPr>
        <p:spPr>
          <a:xfrm>
            <a:off x="10378440" y="484632"/>
            <a:ext cx="1280160" cy="210312"/>
          </a:xfrm>
          <a:prstGeom prst="roundRect">
            <a:avLst>
              <a:gd name="adj" fmla="val 50000"/>
            </a:avLst>
          </a:prstGeom>
          <a:solidFill>
            <a:srgbClr val="DCFCE7"/>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378440" y="484632"/>
            <a:ext cx="1280160" cy="210312"/>
          </a:xfrm>
          <a:prstGeom prst="rect">
            <a:avLst/>
          </a:prstGeom>
          <a:noFill/>
        </p:spPr>
        <p:txBody>
          <a:bodyPr wrap="square" anchor="ctr" lIns="0" rIns="0" tIns="0" bIns="0">
            <a:spAutoFit/>
          </a:bodyPr>
          <a:lstStyle/>
          <a:p>
            <a:pPr algn="ctr"/>
            <a:r>
              <a:rPr sz="750" b="1" i="0">
                <a:solidFill>
                  <a:srgbClr val="047857"/>
                </a:solidFill>
                <a:latin typeface="Poppins"/>
              </a:rPr>
              <a:t>USER JOURNEY</a:t>
            </a:r>
          </a:p>
        </p:txBody>
      </p:sp>
      <p:sp>
        <p:nvSpPr>
          <p:cNvPr id="8" name="Rounded Rectangle 7"/>
          <p:cNvSpPr/>
          <p:nvPr/>
        </p:nvSpPr>
        <p:spPr>
          <a:xfrm>
            <a:off x="530352" y="960120"/>
            <a:ext cx="5431536" cy="4526280"/>
          </a:xfrm>
          <a:prstGeom prst="roundRect">
            <a:avLst>
              <a:gd name="adj" fmla="val 1616"/>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731520" y="1152144"/>
            <a:ext cx="137160" cy="137160"/>
          </a:xfrm>
          <a:prstGeom prst="roundRect">
            <a:avLst>
              <a:gd name="adj" fmla="val 20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50976" y="1097280"/>
            <a:ext cx="4809744" cy="237744"/>
          </a:xfrm>
          <a:prstGeom prst="rect">
            <a:avLst/>
          </a:prstGeom>
          <a:noFill/>
        </p:spPr>
        <p:txBody>
          <a:bodyPr wrap="square" anchor="t" lIns="0" rIns="0" tIns="0" bIns="0">
            <a:spAutoFit/>
          </a:bodyPr>
          <a:lstStyle/>
          <a:p>
            <a:pPr algn="l"/>
            <a:r>
              <a:rPr sz="1125" b="1" i="0">
                <a:solidFill>
                  <a:srgbClr val="0F172A"/>
                </a:solidFill>
                <a:latin typeface="DM Sans"/>
              </a:rPr>
              <a:t>Before State: Current Pain-Point Mapping</a:t>
            </a:r>
          </a:p>
        </p:txBody>
      </p:sp>
      <p:sp>
        <p:nvSpPr>
          <p:cNvPr id="11" name="Rounded Rectangle 10"/>
          <p:cNvSpPr/>
          <p:nvPr/>
        </p:nvSpPr>
        <p:spPr>
          <a:xfrm>
            <a:off x="731520" y="1481328"/>
            <a:ext cx="5029200" cy="512064"/>
          </a:xfrm>
          <a:prstGeom prst="roundRect">
            <a:avLst>
              <a:gd name="adj" fmla="val 1428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22960" y="1600200"/>
            <a:ext cx="274320" cy="274320"/>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Poppins"/>
              </a:rPr>
              <a:t>1</a:t>
            </a:r>
          </a:p>
        </p:txBody>
      </p:sp>
      <p:sp>
        <p:nvSpPr>
          <p:cNvPr id="13" name="TextBox 12"/>
          <p:cNvSpPr txBox="1"/>
          <p:nvPr/>
        </p:nvSpPr>
        <p:spPr>
          <a:xfrm>
            <a:off x="1188720" y="1508760"/>
            <a:ext cx="4480560" cy="457200"/>
          </a:xfrm>
          <a:prstGeom prst="rect">
            <a:avLst/>
          </a:prstGeom>
          <a:noFill/>
        </p:spPr>
        <p:txBody>
          <a:bodyPr wrap="square" anchor="ctr" lIns="0" rIns="0" tIns="0" bIns="0">
            <a:spAutoFit/>
          </a:bodyPr>
          <a:lstStyle/>
          <a:p>
            <a:pPr algn="l"/>
            <a:r>
              <a:rPr sz="940" b="0" i="0">
                <a:solidFill>
                  <a:srgbClr val="334155"/>
                </a:solidFill>
                <a:latin typeface="DM Sans"/>
              </a:rPr>
              <a:t>Patient with a toe or transmetatarsal amputation comes for a rehab review</a:t>
            </a:r>
          </a:p>
        </p:txBody>
      </p:sp>
      <p:cxnSp>
        <p:nvCxnSpPr>
          <p:cNvPr id="14" name="Connector 13"/>
          <p:cNvCxnSpPr/>
          <p:nvPr/>
        </p:nvCxnSpPr>
        <p:spPr>
          <a:xfrm>
            <a:off x="3246120" y="1993392"/>
            <a:ext cx="0" cy="146304"/>
          </a:xfrm>
          <a:prstGeom prst="line">
            <a:avLst/>
          </a:prstGeom>
          <a:ln w="15875">
            <a:solidFill>
              <a:srgbClr val="B91C1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1520" y="2139696"/>
            <a:ext cx="5029200" cy="512064"/>
          </a:xfrm>
          <a:prstGeom prst="roundRect">
            <a:avLst>
              <a:gd name="adj" fmla="val 1428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22960" y="2258568"/>
            <a:ext cx="274320" cy="274320"/>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Poppins"/>
              </a:rPr>
              <a:t>2</a:t>
            </a:r>
          </a:p>
        </p:txBody>
      </p:sp>
      <p:sp>
        <p:nvSpPr>
          <p:cNvPr id="17" name="TextBox 16"/>
          <p:cNvSpPr txBox="1"/>
          <p:nvPr/>
        </p:nvSpPr>
        <p:spPr>
          <a:xfrm>
            <a:off x="1188720" y="2167127"/>
            <a:ext cx="4480560" cy="457200"/>
          </a:xfrm>
          <a:prstGeom prst="rect">
            <a:avLst/>
          </a:prstGeom>
          <a:noFill/>
        </p:spPr>
        <p:txBody>
          <a:bodyPr wrap="square" anchor="ctr" lIns="0" rIns="0" tIns="0" bIns="0">
            <a:spAutoFit/>
          </a:bodyPr>
          <a:lstStyle/>
          <a:p>
            <a:pPr algn="l"/>
            <a:r>
              <a:rPr sz="940" b="0" i="0">
                <a:solidFill>
                  <a:srgbClr val="334155"/>
                </a:solidFill>
                <a:latin typeface="DM Sans"/>
              </a:rPr>
              <a:t>Physiotherapist scores the Berg Balance Scale / TUG by eye: ordinal and observer-dependent</a:t>
            </a:r>
          </a:p>
        </p:txBody>
      </p:sp>
      <p:cxnSp>
        <p:nvCxnSpPr>
          <p:cNvPr id="18" name="Connector 17"/>
          <p:cNvCxnSpPr/>
          <p:nvPr/>
        </p:nvCxnSpPr>
        <p:spPr>
          <a:xfrm>
            <a:off x="3246120" y="2651760"/>
            <a:ext cx="0" cy="146303"/>
          </a:xfrm>
          <a:prstGeom prst="line">
            <a:avLst/>
          </a:prstGeom>
          <a:ln w="15875">
            <a:solidFill>
              <a:srgbClr val="B91C1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31520" y="2798063"/>
            <a:ext cx="5029200" cy="512064"/>
          </a:xfrm>
          <a:prstGeom prst="roundRect">
            <a:avLst>
              <a:gd name="adj" fmla="val 1428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22960" y="2916935"/>
            <a:ext cx="274320" cy="274320"/>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Poppins"/>
              </a:rPr>
              <a:t>3</a:t>
            </a:r>
          </a:p>
        </p:txBody>
      </p:sp>
      <p:sp>
        <p:nvSpPr>
          <p:cNvPr id="21" name="TextBox 20"/>
          <p:cNvSpPr txBox="1"/>
          <p:nvPr/>
        </p:nvSpPr>
        <p:spPr>
          <a:xfrm>
            <a:off x="1188720" y="2825495"/>
            <a:ext cx="4480560" cy="457200"/>
          </a:xfrm>
          <a:prstGeom prst="rect">
            <a:avLst/>
          </a:prstGeom>
          <a:noFill/>
        </p:spPr>
        <p:txBody>
          <a:bodyPr wrap="square" anchor="ctr" lIns="0" rIns="0" tIns="0" bIns="0">
            <a:spAutoFit/>
          </a:bodyPr>
          <a:lstStyle/>
          <a:p>
            <a:pPr algn="l"/>
            <a:r>
              <a:rPr sz="940" b="0" i="0">
                <a:solidFill>
                  <a:srgbClr val="334155"/>
                </a:solidFill>
                <a:latin typeface="DM Sans"/>
              </a:rPr>
              <a:t>No objective sway number, so slow deterioration between visits goes unseen</a:t>
            </a:r>
          </a:p>
        </p:txBody>
      </p:sp>
      <p:cxnSp>
        <p:nvCxnSpPr>
          <p:cNvPr id="22" name="Connector 21"/>
          <p:cNvCxnSpPr/>
          <p:nvPr/>
        </p:nvCxnSpPr>
        <p:spPr>
          <a:xfrm>
            <a:off x="3246120" y="3310127"/>
            <a:ext cx="0" cy="146304"/>
          </a:xfrm>
          <a:prstGeom prst="line">
            <a:avLst/>
          </a:prstGeom>
          <a:ln w="15875">
            <a:solidFill>
              <a:srgbClr val="B91C1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31520" y="3456431"/>
            <a:ext cx="5029200" cy="512064"/>
          </a:xfrm>
          <a:prstGeom prst="roundRect">
            <a:avLst>
              <a:gd name="adj" fmla="val 1428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22960" y="3575303"/>
            <a:ext cx="274320" cy="274320"/>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Poppins"/>
              </a:rPr>
              <a:t>4</a:t>
            </a:r>
          </a:p>
        </p:txBody>
      </p:sp>
      <p:sp>
        <p:nvSpPr>
          <p:cNvPr id="25" name="TextBox 24"/>
          <p:cNvSpPr txBox="1"/>
          <p:nvPr/>
        </p:nvSpPr>
        <p:spPr>
          <a:xfrm>
            <a:off x="1188720" y="3483863"/>
            <a:ext cx="4480560" cy="457200"/>
          </a:xfrm>
          <a:prstGeom prst="rect">
            <a:avLst/>
          </a:prstGeom>
          <a:noFill/>
        </p:spPr>
        <p:txBody>
          <a:bodyPr wrap="square" anchor="ctr" lIns="0" rIns="0" tIns="0" bIns="0">
            <a:spAutoFit/>
          </a:bodyPr>
          <a:lstStyle/>
          <a:p>
            <a:pPr algn="l"/>
            <a:r>
              <a:rPr sz="940" b="0" i="0">
                <a:solidFill>
                  <a:srgbClr val="334155"/>
                </a:solidFill>
                <a:latin typeface="DM Sans"/>
              </a:rPr>
              <a:t>Gait-lab force plates exist only in tertiary centres; action often follows a fall</a:t>
            </a:r>
          </a:p>
        </p:txBody>
      </p:sp>
      <p:sp>
        <p:nvSpPr>
          <p:cNvPr id="26" name="Rounded Rectangle 25"/>
          <p:cNvSpPr/>
          <p:nvPr/>
        </p:nvSpPr>
        <p:spPr>
          <a:xfrm>
            <a:off x="731520" y="4206240"/>
            <a:ext cx="1600200" cy="649224"/>
          </a:xfrm>
          <a:prstGeom prst="roundRect">
            <a:avLst>
              <a:gd name="adj" fmla="val 845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4279392"/>
            <a:ext cx="1417320" cy="292608"/>
          </a:xfrm>
          <a:prstGeom prst="rect">
            <a:avLst/>
          </a:prstGeom>
          <a:noFill/>
        </p:spPr>
        <p:txBody>
          <a:bodyPr wrap="square" anchor="t" lIns="0" rIns="0" tIns="0" bIns="0">
            <a:spAutoFit/>
          </a:bodyPr>
          <a:lstStyle/>
          <a:p>
            <a:pPr algn="ctr"/>
            <a:r>
              <a:rPr sz="1650" b="1" i="0">
                <a:solidFill>
                  <a:srgbClr val="B91C1C"/>
                </a:solidFill>
                <a:latin typeface="Poppins"/>
              </a:rPr>
              <a:t>₹8 L+</a:t>
            </a:r>
          </a:p>
        </p:txBody>
      </p:sp>
      <p:sp>
        <p:nvSpPr>
          <p:cNvPr id="28" name="TextBox 27"/>
          <p:cNvSpPr txBox="1"/>
          <p:nvPr/>
        </p:nvSpPr>
        <p:spPr>
          <a:xfrm>
            <a:off x="822960" y="4599431"/>
            <a:ext cx="1417320" cy="201168"/>
          </a:xfrm>
          <a:prstGeom prst="rect">
            <a:avLst/>
          </a:prstGeom>
          <a:noFill/>
        </p:spPr>
        <p:txBody>
          <a:bodyPr wrap="square" anchor="t" lIns="0" rIns="0" tIns="0" bIns="0">
            <a:spAutoFit/>
          </a:bodyPr>
          <a:lstStyle/>
          <a:p>
            <a:pPr algn="ctr"/>
            <a:r>
              <a:rPr sz="819" b="0" i="0">
                <a:solidFill>
                  <a:srgbClr val="64748B"/>
                </a:solidFill>
                <a:latin typeface="DM Sans"/>
              </a:rPr>
              <a:t>LAB PLATE ONLY</a:t>
            </a:r>
          </a:p>
        </p:txBody>
      </p:sp>
      <p:sp>
        <p:nvSpPr>
          <p:cNvPr id="29" name="Rounded Rectangle 28"/>
          <p:cNvSpPr/>
          <p:nvPr/>
        </p:nvSpPr>
        <p:spPr>
          <a:xfrm>
            <a:off x="2441448" y="4206240"/>
            <a:ext cx="1600200" cy="649224"/>
          </a:xfrm>
          <a:prstGeom prst="roundRect">
            <a:avLst>
              <a:gd name="adj" fmla="val 845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2532888" y="4279392"/>
            <a:ext cx="1417320" cy="292608"/>
          </a:xfrm>
          <a:prstGeom prst="rect">
            <a:avLst/>
          </a:prstGeom>
          <a:noFill/>
        </p:spPr>
        <p:txBody>
          <a:bodyPr wrap="square" anchor="t" lIns="0" rIns="0" tIns="0" bIns="0">
            <a:spAutoFit/>
          </a:bodyPr>
          <a:lstStyle/>
          <a:p>
            <a:pPr algn="ctr"/>
            <a:r>
              <a:rPr sz="1650" b="1" i="0">
                <a:solidFill>
                  <a:srgbClr val="B91C1C"/>
                </a:solidFill>
                <a:latin typeface="Poppins"/>
              </a:rPr>
              <a:t>10 Hz</a:t>
            </a:r>
          </a:p>
        </p:txBody>
      </p:sp>
      <p:sp>
        <p:nvSpPr>
          <p:cNvPr id="31" name="TextBox 30"/>
          <p:cNvSpPr txBox="1"/>
          <p:nvPr/>
        </p:nvSpPr>
        <p:spPr>
          <a:xfrm>
            <a:off x="2532888" y="4599431"/>
            <a:ext cx="1417320" cy="201168"/>
          </a:xfrm>
          <a:prstGeom prst="rect">
            <a:avLst/>
          </a:prstGeom>
          <a:noFill/>
        </p:spPr>
        <p:txBody>
          <a:bodyPr wrap="square" anchor="t" lIns="0" rIns="0" tIns="0" bIns="0">
            <a:spAutoFit/>
          </a:bodyPr>
          <a:lstStyle/>
          <a:p>
            <a:pPr algn="ctr"/>
            <a:r>
              <a:rPr sz="819" b="0" i="0">
                <a:solidFill>
                  <a:srgbClr val="64748B"/>
                </a:solidFill>
                <a:latin typeface="DM Sans"/>
              </a:rPr>
              <a:t>STOCK HX711 RATE</a:t>
            </a:r>
          </a:p>
        </p:txBody>
      </p:sp>
      <p:sp>
        <p:nvSpPr>
          <p:cNvPr id="32" name="Rounded Rectangle 31"/>
          <p:cNvSpPr/>
          <p:nvPr/>
        </p:nvSpPr>
        <p:spPr>
          <a:xfrm>
            <a:off x="4151376" y="4206240"/>
            <a:ext cx="1600200" cy="649224"/>
          </a:xfrm>
          <a:prstGeom prst="roundRect">
            <a:avLst>
              <a:gd name="adj" fmla="val 845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242816" y="4279392"/>
            <a:ext cx="1417320" cy="292608"/>
          </a:xfrm>
          <a:prstGeom prst="rect">
            <a:avLst/>
          </a:prstGeom>
          <a:noFill/>
        </p:spPr>
        <p:txBody>
          <a:bodyPr wrap="square" anchor="t" lIns="0" rIns="0" tIns="0" bIns="0">
            <a:spAutoFit/>
          </a:bodyPr>
          <a:lstStyle/>
          <a:p>
            <a:pPr algn="ctr"/>
            <a:r>
              <a:rPr sz="1650" b="1" i="0">
                <a:solidFill>
                  <a:srgbClr val="B91C1C"/>
                </a:solidFill>
                <a:latin typeface="Poppins"/>
              </a:rPr>
              <a:t>Ordinal</a:t>
            </a:r>
          </a:p>
        </p:txBody>
      </p:sp>
      <p:sp>
        <p:nvSpPr>
          <p:cNvPr id="34" name="TextBox 33"/>
          <p:cNvSpPr txBox="1"/>
          <p:nvPr/>
        </p:nvSpPr>
        <p:spPr>
          <a:xfrm>
            <a:off x="4242816" y="4599431"/>
            <a:ext cx="1417320" cy="201168"/>
          </a:xfrm>
          <a:prstGeom prst="rect">
            <a:avLst/>
          </a:prstGeom>
          <a:noFill/>
        </p:spPr>
        <p:txBody>
          <a:bodyPr wrap="square" anchor="t" lIns="0" rIns="0" tIns="0" bIns="0">
            <a:spAutoFit/>
          </a:bodyPr>
          <a:lstStyle/>
          <a:p>
            <a:pPr algn="ctr"/>
            <a:r>
              <a:rPr sz="819" b="0" i="0">
                <a:solidFill>
                  <a:srgbClr val="64748B"/>
                </a:solidFill>
                <a:latin typeface="DM Sans"/>
              </a:rPr>
              <a:t>BBS / TUG SCORES</a:t>
            </a:r>
          </a:p>
        </p:txBody>
      </p:sp>
      <p:sp>
        <p:nvSpPr>
          <p:cNvPr id="35" name="TextBox 34"/>
          <p:cNvSpPr txBox="1"/>
          <p:nvPr/>
        </p:nvSpPr>
        <p:spPr>
          <a:xfrm>
            <a:off x="731520" y="4937760"/>
            <a:ext cx="5029200" cy="457200"/>
          </a:xfrm>
          <a:prstGeom prst="rect">
            <a:avLst/>
          </a:prstGeom>
          <a:noFill/>
        </p:spPr>
        <p:txBody>
          <a:bodyPr wrap="square" anchor="t" lIns="0" rIns="0" tIns="0" bIns="0">
            <a:spAutoFit/>
          </a:bodyPr>
          <a:lstStyle/>
          <a:p>
            <a:pPr algn="l"/>
            <a:r>
              <a:rPr sz="860" b="0" i="0">
                <a:solidFill>
                  <a:srgbClr val="64748B"/>
                </a:solidFill>
                <a:latin typeface="DM Sans"/>
              </a:rPr>
              <a:t>Quantified inefficiency: no affordable mm-level measure; a 10 Hz build under-samples sway velocity and makes patients look falsely stable.</a:t>
            </a:r>
          </a:p>
        </p:txBody>
      </p:sp>
      <p:sp>
        <p:nvSpPr>
          <p:cNvPr id="36" name="Rounded Rectangle 35"/>
          <p:cNvSpPr/>
          <p:nvPr/>
        </p:nvSpPr>
        <p:spPr>
          <a:xfrm>
            <a:off x="6227064" y="960120"/>
            <a:ext cx="5431536" cy="4526280"/>
          </a:xfrm>
          <a:prstGeom prst="roundRect">
            <a:avLst>
              <a:gd name="adj" fmla="val 1616"/>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6428232" y="1152144"/>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647688" y="1097280"/>
            <a:ext cx="4809744" cy="237744"/>
          </a:xfrm>
          <a:prstGeom prst="rect">
            <a:avLst/>
          </a:prstGeom>
          <a:noFill/>
        </p:spPr>
        <p:txBody>
          <a:bodyPr wrap="square" anchor="t" lIns="0" rIns="0" tIns="0" bIns="0">
            <a:spAutoFit/>
          </a:bodyPr>
          <a:lstStyle/>
          <a:p>
            <a:pPr algn="l"/>
            <a:r>
              <a:rPr sz="1125" b="1" i="0">
                <a:solidFill>
                  <a:srgbClr val="0F172A"/>
                </a:solidFill>
                <a:latin typeface="DM Sans"/>
              </a:rPr>
              <a:t>After State: Future Solution Mapping</a:t>
            </a:r>
          </a:p>
        </p:txBody>
      </p:sp>
      <p:sp>
        <p:nvSpPr>
          <p:cNvPr id="39" name="Rounded Rectangle 38"/>
          <p:cNvSpPr/>
          <p:nvPr/>
        </p:nvSpPr>
        <p:spPr>
          <a:xfrm>
            <a:off x="6428232" y="1481328"/>
            <a:ext cx="5029200" cy="512064"/>
          </a:xfrm>
          <a:prstGeom prst="roundRect">
            <a:avLst>
              <a:gd name="adj" fmla="val 1428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6519672" y="1600200"/>
            <a:ext cx="274320" cy="27432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Poppins"/>
              </a:rPr>
              <a:t>1</a:t>
            </a:r>
          </a:p>
        </p:txBody>
      </p:sp>
      <p:sp>
        <p:nvSpPr>
          <p:cNvPr id="41" name="TextBox 40"/>
          <p:cNvSpPr txBox="1"/>
          <p:nvPr/>
        </p:nvSpPr>
        <p:spPr>
          <a:xfrm>
            <a:off x="6885432" y="1508760"/>
            <a:ext cx="4480560" cy="457200"/>
          </a:xfrm>
          <a:prstGeom prst="rect">
            <a:avLst/>
          </a:prstGeom>
          <a:noFill/>
        </p:spPr>
        <p:txBody>
          <a:bodyPr wrap="square" anchor="ctr" lIns="0" rIns="0" tIns="0" bIns="0">
            <a:spAutoFit/>
          </a:bodyPr>
          <a:lstStyle/>
          <a:p>
            <a:pPr algn="l"/>
            <a:r>
              <a:rPr sz="940" b="0" i="0">
                <a:solidFill>
                  <a:srgbClr val="334155"/>
                </a:solidFill>
                <a:latin typeface="DM Sans"/>
              </a:rPr>
              <a:t>30-s eyes-open quiet-stance baseline on EquiSense, stored for each patient</a:t>
            </a:r>
          </a:p>
        </p:txBody>
      </p:sp>
      <p:cxnSp>
        <p:nvCxnSpPr>
          <p:cNvPr id="42" name="Connector 41"/>
          <p:cNvCxnSpPr/>
          <p:nvPr/>
        </p:nvCxnSpPr>
        <p:spPr>
          <a:xfrm>
            <a:off x="8942832" y="1993392"/>
            <a:ext cx="0" cy="146304"/>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6428232" y="2139696"/>
            <a:ext cx="5029200" cy="512064"/>
          </a:xfrm>
          <a:prstGeom prst="roundRect">
            <a:avLst>
              <a:gd name="adj" fmla="val 1428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6519672" y="2258568"/>
            <a:ext cx="274320" cy="27432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Poppins"/>
              </a:rPr>
              <a:t>2</a:t>
            </a:r>
          </a:p>
        </p:txBody>
      </p:sp>
      <p:sp>
        <p:nvSpPr>
          <p:cNvPr id="45" name="TextBox 44"/>
          <p:cNvSpPr txBox="1"/>
          <p:nvPr/>
        </p:nvSpPr>
        <p:spPr>
          <a:xfrm>
            <a:off x="6885432" y="2167127"/>
            <a:ext cx="4480560" cy="457200"/>
          </a:xfrm>
          <a:prstGeom prst="rect">
            <a:avLst/>
          </a:prstGeom>
          <a:noFill/>
        </p:spPr>
        <p:txBody>
          <a:bodyPr wrap="square" anchor="ctr" lIns="0" rIns="0" tIns="0" bIns="0">
            <a:spAutoFit/>
          </a:bodyPr>
          <a:lstStyle/>
          <a:p>
            <a:pPr algn="l"/>
            <a:r>
              <a:rPr sz="940" b="0" i="0">
                <a:solidFill>
                  <a:srgbClr val="334155"/>
                </a:solidFill>
                <a:latin typeface="DM Sans"/>
              </a:rPr>
              <a:t>4 channels at 80 Hz → CoP, MVELO, RDIST, PEA95 and ASYM_AP computed on the ESP32</a:t>
            </a:r>
          </a:p>
        </p:txBody>
      </p:sp>
      <p:cxnSp>
        <p:nvCxnSpPr>
          <p:cNvPr id="46" name="Connector 45"/>
          <p:cNvCxnSpPr/>
          <p:nvPr/>
        </p:nvCxnSpPr>
        <p:spPr>
          <a:xfrm>
            <a:off x="8942832" y="2651760"/>
            <a:ext cx="0" cy="146303"/>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6428232" y="2798063"/>
            <a:ext cx="5029200" cy="512064"/>
          </a:xfrm>
          <a:prstGeom prst="roundRect">
            <a:avLst>
              <a:gd name="adj" fmla="val 1428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6519672" y="2916935"/>
            <a:ext cx="274320" cy="27432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Poppins"/>
              </a:rPr>
              <a:t>3</a:t>
            </a:r>
          </a:p>
        </p:txBody>
      </p:sp>
      <p:sp>
        <p:nvSpPr>
          <p:cNvPr id="49" name="TextBox 48"/>
          <p:cNvSpPr txBox="1"/>
          <p:nvPr/>
        </p:nvSpPr>
        <p:spPr>
          <a:xfrm>
            <a:off x="6885432" y="2825495"/>
            <a:ext cx="4480560" cy="457200"/>
          </a:xfrm>
          <a:prstGeom prst="rect">
            <a:avLst/>
          </a:prstGeom>
          <a:noFill/>
        </p:spPr>
        <p:txBody>
          <a:bodyPr wrap="square" anchor="ctr" lIns="0" rIns="0" tIns="0" bIns="0">
            <a:spAutoFit/>
          </a:bodyPr>
          <a:lstStyle/>
          <a:p>
            <a:pPr algn="l"/>
            <a:r>
              <a:rPr sz="940" b="0" i="0">
                <a:solidFill>
                  <a:srgbClr val="334155"/>
                </a:solidFill>
                <a:latin typeface="DM Sans"/>
              </a:rPr>
              <a:t>Score = MVELO(trial) ÷ MVELO(baseline): Stable &lt; 1.5 · Moderate 1.5–2.5 · High ≥ 2.5</a:t>
            </a:r>
          </a:p>
        </p:txBody>
      </p:sp>
      <p:cxnSp>
        <p:nvCxnSpPr>
          <p:cNvPr id="50" name="Connector 49"/>
          <p:cNvCxnSpPr/>
          <p:nvPr/>
        </p:nvCxnSpPr>
        <p:spPr>
          <a:xfrm>
            <a:off x="8942832" y="3310127"/>
            <a:ext cx="0" cy="146304"/>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6428232" y="3456431"/>
            <a:ext cx="5029200" cy="512064"/>
          </a:xfrm>
          <a:prstGeom prst="roundRect">
            <a:avLst>
              <a:gd name="adj" fmla="val 1428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6519672" y="3575303"/>
            <a:ext cx="274320" cy="27432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Poppins"/>
              </a:rPr>
              <a:t>4</a:t>
            </a:r>
          </a:p>
        </p:txBody>
      </p:sp>
      <p:sp>
        <p:nvSpPr>
          <p:cNvPr id="53" name="TextBox 52"/>
          <p:cNvSpPr txBox="1"/>
          <p:nvPr/>
        </p:nvSpPr>
        <p:spPr>
          <a:xfrm>
            <a:off x="6885432" y="3483863"/>
            <a:ext cx="4480560" cy="457200"/>
          </a:xfrm>
          <a:prstGeom prst="rect">
            <a:avLst/>
          </a:prstGeom>
          <a:noFill/>
        </p:spPr>
        <p:txBody>
          <a:bodyPr wrap="square" anchor="ctr" lIns="0" rIns="0" tIns="0" bIns="0">
            <a:spAutoFit/>
          </a:bodyPr>
          <a:lstStyle/>
          <a:p>
            <a:pPr algn="l"/>
            <a:r>
              <a:rPr sz="940" b="0" i="0">
                <a:solidFill>
                  <a:srgbClr val="334155"/>
                </a:solidFill>
                <a:latin typeface="DM Sans"/>
              </a:rPr>
              <a:t>Trend shown on the Wi-Fi dashboard and exported as CSV for the physiotherapist</a:t>
            </a:r>
          </a:p>
        </p:txBody>
      </p:sp>
      <p:sp>
        <p:nvSpPr>
          <p:cNvPr id="54" name="Rounded Rectangle 53"/>
          <p:cNvSpPr/>
          <p:nvPr/>
        </p:nvSpPr>
        <p:spPr>
          <a:xfrm>
            <a:off x="6428232" y="4206240"/>
            <a:ext cx="1600200" cy="649224"/>
          </a:xfrm>
          <a:prstGeom prst="roundRect">
            <a:avLst>
              <a:gd name="adj" fmla="val 845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19672" y="4279392"/>
            <a:ext cx="1417320" cy="292608"/>
          </a:xfrm>
          <a:prstGeom prst="rect">
            <a:avLst/>
          </a:prstGeom>
          <a:noFill/>
        </p:spPr>
        <p:txBody>
          <a:bodyPr wrap="square" anchor="t" lIns="0" rIns="0" tIns="0" bIns="0">
            <a:spAutoFit/>
          </a:bodyPr>
          <a:lstStyle/>
          <a:p>
            <a:pPr algn="ctr"/>
            <a:r>
              <a:rPr sz="1650" b="1" i="0">
                <a:solidFill>
                  <a:srgbClr val="047857"/>
                </a:solidFill>
                <a:latin typeface="Poppins"/>
              </a:rPr>
              <a:t>₹13,624</a:t>
            </a:r>
          </a:p>
        </p:txBody>
      </p:sp>
      <p:sp>
        <p:nvSpPr>
          <p:cNvPr id="56" name="TextBox 55"/>
          <p:cNvSpPr txBox="1"/>
          <p:nvPr/>
        </p:nvSpPr>
        <p:spPr>
          <a:xfrm>
            <a:off x="6519672" y="4599431"/>
            <a:ext cx="1417320" cy="201168"/>
          </a:xfrm>
          <a:prstGeom prst="rect">
            <a:avLst/>
          </a:prstGeom>
          <a:noFill/>
        </p:spPr>
        <p:txBody>
          <a:bodyPr wrap="square" anchor="t" lIns="0" rIns="0" tIns="0" bIns="0">
            <a:spAutoFit/>
          </a:bodyPr>
          <a:lstStyle/>
          <a:p>
            <a:pPr algn="ctr"/>
            <a:r>
              <a:rPr sz="819" b="0" i="0">
                <a:solidFill>
                  <a:srgbClr val="64748B"/>
                </a:solidFill>
                <a:latin typeface="DM Sans"/>
              </a:rPr>
              <a:t>TOTAL BUILD COST</a:t>
            </a:r>
          </a:p>
        </p:txBody>
      </p:sp>
      <p:sp>
        <p:nvSpPr>
          <p:cNvPr id="57" name="Rounded Rectangle 56"/>
          <p:cNvSpPr/>
          <p:nvPr/>
        </p:nvSpPr>
        <p:spPr>
          <a:xfrm>
            <a:off x="8138160" y="4206240"/>
            <a:ext cx="1600200" cy="649224"/>
          </a:xfrm>
          <a:prstGeom prst="roundRect">
            <a:avLst>
              <a:gd name="adj" fmla="val 845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229600" y="4279392"/>
            <a:ext cx="1417320" cy="292608"/>
          </a:xfrm>
          <a:prstGeom prst="rect">
            <a:avLst/>
          </a:prstGeom>
          <a:noFill/>
        </p:spPr>
        <p:txBody>
          <a:bodyPr wrap="square" anchor="t" lIns="0" rIns="0" tIns="0" bIns="0">
            <a:spAutoFit/>
          </a:bodyPr>
          <a:lstStyle/>
          <a:p>
            <a:pPr algn="ctr"/>
            <a:r>
              <a:rPr sz="1650" b="1" i="0">
                <a:solidFill>
                  <a:srgbClr val="047857"/>
                </a:solidFill>
                <a:latin typeface="Poppins"/>
              </a:rPr>
              <a:t>≤ 5 mm</a:t>
            </a:r>
          </a:p>
        </p:txBody>
      </p:sp>
      <p:sp>
        <p:nvSpPr>
          <p:cNvPr id="59" name="TextBox 58"/>
          <p:cNvSpPr txBox="1"/>
          <p:nvPr/>
        </p:nvSpPr>
        <p:spPr>
          <a:xfrm>
            <a:off x="8229600" y="4599431"/>
            <a:ext cx="1417320" cy="201168"/>
          </a:xfrm>
          <a:prstGeom prst="rect">
            <a:avLst/>
          </a:prstGeom>
          <a:noFill/>
        </p:spPr>
        <p:txBody>
          <a:bodyPr wrap="square" anchor="t" lIns="0" rIns="0" tIns="0" bIns="0">
            <a:spAutoFit/>
          </a:bodyPr>
          <a:lstStyle/>
          <a:p>
            <a:pPr algn="ctr"/>
            <a:r>
              <a:rPr sz="819" b="0" i="0">
                <a:solidFill>
                  <a:srgbClr val="64748B"/>
                </a:solidFill>
                <a:latin typeface="DM Sans"/>
              </a:rPr>
              <a:t>CoP RMS ERROR TARGET</a:t>
            </a:r>
          </a:p>
        </p:txBody>
      </p:sp>
      <p:sp>
        <p:nvSpPr>
          <p:cNvPr id="60" name="Rounded Rectangle 59"/>
          <p:cNvSpPr/>
          <p:nvPr/>
        </p:nvSpPr>
        <p:spPr>
          <a:xfrm>
            <a:off x="9848088" y="4206240"/>
            <a:ext cx="1600200" cy="649224"/>
          </a:xfrm>
          <a:prstGeom prst="roundRect">
            <a:avLst>
              <a:gd name="adj" fmla="val 845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939528" y="4279392"/>
            <a:ext cx="1417320" cy="292608"/>
          </a:xfrm>
          <a:prstGeom prst="rect">
            <a:avLst/>
          </a:prstGeom>
          <a:noFill/>
        </p:spPr>
        <p:txBody>
          <a:bodyPr wrap="square" anchor="t" lIns="0" rIns="0" tIns="0" bIns="0">
            <a:spAutoFit/>
          </a:bodyPr>
          <a:lstStyle/>
          <a:p>
            <a:pPr algn="ctr"/>
            <a:r>
              <a:rPr sz="1650" b="1" i="0">
                <a:solidFill>
                  <a:srgbClr val="047857"/>
                </a:solidFill>
                <a:latin typeface="Poppins"/>
              </a:rPr>
              <a:t>30 s</a:t>
            </a:r>
          </a:p>
        </p:txBody>
      </p:sp>
      <p:sp>
        <p:nvSpPr>
          <p:cNvPr id="62" name="TextBox 61"/>
          <p:cNvSpPr txBox="1"/>
          <p:nvPr/>
        </p:nvSpPr>
        <p:spPr>
          <a:xfrm>
            <a:off x="9939528" y="4599431"/>
            <a:ext cx="1417320" cy="201168"/>
          </a:xfrm>
          <a:prstGeom prst="rect">
            <a:avLst/>
          </a:prstGeom>
          <a:noFill/>
        </p:spPr>
        <p:txBody>
          <a:bodyPr wrap="square" anchor="t" lIns="0" rIns="0" tIns="0" bIns="0">
            <a:spAutoFit/>
          </a:bodyPr>
          <a:lstStyle/>
          <a:p>
            <a:pPr algn="ctr"/>
            <a:r>
              <a:rPr sz="819" b="0" i="0">
                <a:solidFill>
                  <a:srgbClr val="64748B"/>
                </a:solidFill>
                <a:latin typeface="DM Sans"/>
              </a:rPr>
              <a:t>PER TRIAL</a:t>
            </a:r>
          </a:p>
        </p:txBody>
      </p:sp>
      <p:sp>
        <p:nvSpPr>
          <p:cNvPr id="63" name="TextBox 62"/>
          <p:cNvSpPr txBox="1"/>
          <p:nvPr/>
        </p:nvSpPr>
        <p:spPr>
          <a:xfrm>
            <a:off x="6428232" y="4937760"/>
            <a:ext cx="5029200" cy="457200"/>
          </a:xfrm>
          <a:prstGeom prst="rect">
            <a:avLst/>
          </a:prstGeom>
          <a:noFill/>
        </p:spPr>
        <p:txBody>
          <a:bodyPr wrap="square" anchor="t" lIns="0" rIns="0" tIns="0" bIns="0">
            <a:spAutoFit/>
          </a:bodyPr>
          <a:lstStyle/>
          <a:p>
            <a:pPr algn="l"/>
            <a:r>
              <a:rPr sz="860" b="0" i="0">
                <a:solidFill>
                  <a:srgbClr val="64748B"/>
                </a:solidFill>
                <a:latin typeface="DM Sans"/>
              </a:rPr>
              <a:t>Quantified efficiency: about 98% cheaper than a lab plate, portable and battery-run, with mm-level CoP read against each patient's own baseline.</a:t>
            </a:r>
          </a:p>
        </p:txBody>
      </p:sp>
      <p:pic>
        <p:nvPicPr>
          <p:cNvPr id="64" name="Picture 63" descr="image.png"/>
          <p:cNvPicPr>
            <a:picLocks noChangeAspect="1"/>
          </p:cNvPicPr>
          <p:nvPr/>
        </p:nvPicPr>
        <p:blipFill>
          <a:blip r:embed="rId5"/>
          <a:stretch>
            <a:fillRect/>
          </a:stretch>
        </p:blipFill>
        <p:spPr>
          <a:xfrm>
            <a:off x="530352" y="5669280"/>
            <a:ext cx="11128248" cy="365760"/>
          </a:xfrm>
          <a:prstGeom prst="rect">
            <a:avLst/>
          </a:prstGeom>
        </p:spPr>
      </p:pic>
      <p:sp>
        <p:nvSpPr>
          <p:cNvPr id="65" name="TextBox 64"/>
          <p:cNvSpPr txBox="1"/>
          <p:nvPr/>
        </p:nvSpPr>
        <p:spPr>
          <a:xfrm>
            <a:off x="694944" y="5687568"/>
            <a:ext cx="10835640" cy="329184"/>
          </a:xfrm>
          <a:prstGeom prst="rect">
            <a:avLst/>
          </a:prstGeom>
          <a:noFill/>
        </p:spPr>
        <p:txBody>
          <a:bodyPr wrap="square" anchor="ctr" lIns="0" rIns="0" tIns="0" bIns="0">
            <a:spAutoFit/>
          </a:bodyPr>
          <a:lstStyle/>
          <a:p>
            <a:pPr algn="l"/>
            <a:r>
              <a:rPr sz="940" b="1" i="0">
                <a:solidFill>
                  <a:srgbClr val="0F172A"/>
                </a:solidFill>
                <a:latin typeface="DM Sans"/>
              </a:rPr>
              <a:t>Note: </a:t>
            </a:r>
            <a:r>
              <a:rPr sz="940" b="0" i="0">
                <a:solidFill>
                  <a:srgbClr val="475569"/>
                </a:solidFill>
                <a:latin typeface="DM Sans"/>
              </a:rPr>
              <a:t>After-state figures are Rev 2.0 engineering targets, checked by the V1–V9 bench battery. Clinical benefit will be measured in the IEC-cleared observational study.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rcRect l="14673" r="15820" t="33074" b="44466"/>
          <a:stretch>
            <a:fillRect/>
          </a:stretch>
        </p:blipFill>
        <p:spPr>
          <a:xfrm>
            <a:off x="0" y="6281013"/>
            <a:ext cx="1785823" cy="576986"/>
          </a:xfrm>
          <a:prstGeom prst="rect">
            <a:avLst/>
          </a:prstGeom>
        </p:spPr>
      </p:pic>
      <p:pic>
        <p:nvPicPr>
          <p:cNvPr id="4" name="Picture 3" descr="image.png"/>
          <p:cNvPicPr>
            <a:picLocks noChangeAspect="1"/>
          </p:cNvPicPr>
          <p:nvPr/>
        </p:nvPicPr>
        <p:blipFill>
          <a:blip r:embed="rId4"/>
          <a:stretch>
            <a:fillRect/>
          </a:stretch>
        </p:blipFill>
        <p:spPr>
          <a:xfrm>
            <a:off x="11095329" y="6281013"/>
            <a:ext cx="1096365" cy="576986"/>
          </a:xfrm>
          <a:prstGeom prst="rect">
            <a:avLst/>
          </a:prstGeom>
        </p:spPr>
      </p:pic>
      <p:sp>
        <p:nvSpPr>
          <p:cNvPr id="5" name="TextBox 4"/>
          <p:cNvSpPr txBox="1"/>
          <p:nvPr/>
        </p:nvSpPr>
        <p:spPr>
          <a:xfrm>
            <a:off x="530352" y="402336"/>
            <a:ext cx="8595360" cy="365760"/>
          </a:xfrm>
          <a:prstGeom prst="rect">
            <a:avLst/>
          </a:prstGeom>
          <a:noFill/>
        </p:spPr>
        <p:txBody>
          <a:bodyPr wrap="square" anchor="t" lIns="0" rIns="0" tIns="0" bIns="0">
            <a:spAutoFit/>
          </a:bodyPr>
          <a:lstStyle/>
          <a:p>
            <a:pPr algn="l"/>
            <a:r>
              <a:rPr sz="2025" b="1" i="0">
                <a:solidFill>
                  <a:srgbClr val="0F172A"/>
                </a:solidFill>
                <a:latin typeface="Poppins"/>
              </a:rPr>
              <a:t>Problem Context: Evidence &amp; Beneficiary</a:t>
            </a:r>
          </a:p>
        </p:txBody>
      </p:sp>
      <p:sp>
        <p:nvSpPr>
          <p:cNvPr id="6" name="Rounded Rectangle 5"/>
          <p:cNvSpPr/>
          <p:nvPr/>
        </p:nvSpPr>
        <p:spPr>
          <a:xfrm>
            <a:off x="10309860" y="484632"/>
            <a:ext cx="1348740" cy="210312"/>
          </a:xfrm>
          <a:prstGeom prst="roundRect">
            <a:avLst>
              <a:gd name="adj" fmla="val 50000"/>
            </a:avLst>
          </a:prstGeom>
          <a:solidFill>
            <a:srgbClr val="DCFCE7"/>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309860" y="484632"/>
            <a:ext cx="1348740" cy="210312"/>
          </a:xfrm>
          <a:prstGeom prst="rect">
            <a:avLst/>
          </a:prstGeom>
          <a:noFill/>
        </p:spPr>
        <p:txBody>
          <a:bodyPr wrap="square" anchor="ctr" lIns="0" rIns="0" tIns="0" bIns="0">
            <a:spAutoFit/>
          </a:bodyPr>
          <a:lstStyle/>
          <a:p>
            <a:pPr algn="ctr"/>
            <a:r>
              <a:rPr sz="750" b="1" i="0">
                <a:solidFill>
                  <a:srgbClr val="047857"/>
                </a:solidFill>
                <a:latin typeface="Poppins"/>
              </a:rPr>
              <a:t>PROBLEM CONTEXT</a:t>
            </a:r>
          </a:p>
        </p:txBody>
      </p:sp>
      <p:sp>
        <p:nvSpPr>
          <p:cNvPr id="8" name="Rounded Rectangle 7"/>
          <p:cNvSpPr/>
          <p:nvPr/>
        </p:nvSpPr>
        <p:spPr>
          <a:xfrm>
            <a:off x="530352" y="960120"/>
            <a:ext cx="2670048" cy="649224"/>
          </a:xfrm>
          <a:prstGeom prst="roundRect">
            <a:avLst>
              <a:gd name="adj" fmla="val 845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21792" y="1033272"/>
            <a:ext cx="2487168" cy="292608"/>
          </a:xfrm>
          <a:prstGeom prst="rect">
            <a:avLst/>
          </a:prstGeom>
          <a:noFill/>
        </p:spPr>
        <p:txBody>
          <a:bodyPr wrap="square" anchor="t" lIns="0" rIns="0" tIns="0" bIns="0">
            <a:spAutoFit/>
          </a:bodyPr>
          <a:lstStyle/>
          <a:p>
            <a:pPr algn="ctr"/>
            <a:r>
              <a:rPr sz="1650" b="1" i="0">
                <a:solidFill>
                  <a:srgbClr val="0369A1"/>
                </a:solidFill>
                <a:latin typeface="Poppins"/>
              </a:rPr>
              <a:t>56.1%</a:t>
            </a:r>
          </a:p>
        </p:txBody>
      </p:sp>
      <p:sp>
        <p:nvSpPr>
          <p:cNvPr id="10" name="TextBox 9"/>
          <p:cNvSpPr txBox="1"/>
          <p:nvPr/>
        </p:nvSpPr>
        <p:spPr>
          <a:xfrm>
            <a:off x="621792" y="1353312"/>
            <a:ext cx="2487168" cy="201168"/>
          </a:xfrm>
          <a:prstGeom prst="rect">
            <a:avLst/>
          </a:prstGeom>
          <a:noFill/>
        </p:spPr>
        <p:txBody>
          <a:bodyPr wrap="square" anchor="t" lIns="0" rIns="0" tIns="0" bIns="0">
            <a:spAutoFit/>
          </a:bodyPr>
          <a:lstStyle/>
          <a:p>
            <a:pPr algn="ctr"/>
            <a:r>
              <a:rPr sz="819" b="0" i="0">
                <a:solidFill>
                  <a:srgbClr val="64748B"/>
                </a:solidFill>
                <a:latin typeface="DM Sans"/>
              </a:rPr>
              <a:t>LIMB-LOSS COHORT WHO FELL IN FOLLOW-UP</a:t>
            </a:r>
          </a:p>
        </p:txBody>
      </p:sp>
      <p:sp>
        <p:nvSpPr>
          <p:cNvPr id="11" name="Rounded Rectangle 10"/>
          <p:cNvSpPr/>
          <p:nvPr/>
        </p:nvSpPr>
        <p:spPr>
          <a:xfrm>
            <a:off x="3355848" y="960120"/>
            <a:ext cx="2670048" cy="649224"/>
          </a:xfrm>
          <a:prstGeom prst="roundRect">
            <a:avLst>
              <a:gd name="adj" fmla="val 845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447288" y="1033272"/>
            <a:ext cx="2487168" cy="292608"/>
          </a:xfrm>
          <a:prstGeom prst="rect">
            <a:avLst/>
          </a:prstGeom>
          <a:noFill/>
        </p:spPr>
        <p:txBody>
          <a:bodyPr wrap="square" anchor="t" lIns="0" rIns="0" tIns="0" bIns="0">
            <a:spAutoFit/>
          </a:bodyPr>
          <a:lstStyle/>
          <a:p>
            <a:pPr algn="ctr"/>
            <a:r>
              <a:rPr sz="1650" b="1" i="0">
                <a:solidFill>
                  <a:srgbClr val="0369A1"/>
                </a:solidFill>
                <a:latin typeface="Poppins"/>
              </a:rPr>
              <a:t>70.9%</a:t>
            </a:r>
          </a:p>
        </p:txBody>
      </p:sp>
      <p:sp>
        <p:nvSpPr>
          <p:cNvPr id="13" name="TextBox 12"/>
          <p:cNvSpPr txBox="1"/>
          <p:nvPr/>
        </p:nvSpPr>
        <p:spPr>
          <a:xfrm>
            <a:off x="3447288" y="1353312"/>
            <a:ext cx="2487168" cy="201168"/>
          </a:xfrm>
          <a:prstGeom prst="rect">
            <a:avLst/>
          </a:prstGeom>
          <a:noFill/>
        </p:spPr>
        <p:txBody>
          <a:bodyPr wrap="square" anchor="t" lIns="0" rIns="0" tIns="0" bIns="0">
            <a:spAutoFit/>
          </a:bodyPr>
          <a:lstStyle/>
          <a:p>
            <a:pPr algn="ctr"/>
            <a:r>
              <a:rPr sz="819" b="0" i="0">
                <a:solidFill>
                  <a:srgbClr val="64748B"/>
                </a:solidFill>
                <a:latin typeface="DM Sans"/>
              </a:rPr>
              <a:t>INDIAN DIABETIC AMPUTATIONS: MINOR</a:t>
            </a:r>
          </a:p>
        </p:txBody>
      </p:sp>
      <p:sp>
        <p:nvSpPr>
          <p:cNvPr id="14" name="Rounded Rectangle 13"/>
          <p:cNvSpPr/>
          <p:nvPr/>
        </p:nvSpPr>
        <p:spPr>
          <a:xfrm>
            <a:off x="6172200" y="960120"/>
            <a:ext cx="2670048" cy="649224"/>
          </a:xfrm>
          <a:prstGeom prst="roundRect">
            <a:avLst>
              <a:gd name="adj" fmla="val 845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263640" y="1033272"/>
            <a:ext cx="2487168" cy="292608"/>
          </a:xfrm>
          <a:prstGeom prst="rect">
            <a:avLst/>
          </a:prstGeom>
          <a:noFill/>
        </p:spPr>
        <p:txBody>
          <a:bodyPr wrap="square" anchor="t" lIns="0" rIns="0" tIns="0" bIns="0">
            <a:spAutoFit/>
          </a:bodyPr>
          <a:lstStyle/>
          <a:p>
            <a:pPr algn="ctr"/>
            <a:r>
              <a:rPr sz="1650" b="1" i="0">
                <a:solidFill>
                  <a:srgbClr val="0369A1"/>
                </a:solidFill>
                <a:latin typeface="Poppins"/>
              </a:rPr>
              <a:t>₹8,00,000+</a:t>
            </a:r>
          </a:p>
        </p:txBody>
      </p:sp>
      <p:sp>
        <p:nvSpPr>
          <p:cNvPr id="16" name="TextBox 15"/>
          <p:cNvSpPr txBox="1"/>
          <p:nvPr/>
        </p:nvSpPr>
        <p:spPr>
          <a:xfrm>
            <a:off x="6263640" y="1353312"/>
            <a:ext cx="2487168" cy="201168"/>
          </a:xfrm>
          <a:prstGeom prst="rect">
            <a:avLst/>
          </a:prstGeom>
          <a:noFill/>
        </p:spPr>
        <p:txBody>
          <a:bodyPr wrap="square" anchor="t" lIns="0" rIns="0" tIns="0" bIns="0">
            <a:spAutoFit/>
          </a:bodyPr>
          <a:lstStyle/>
          <a:p>
            <a:pPr algn="ctr"/>
            <a:r>
              <a:rPr sz="819" b="0" i="0">
                <a:solidFill>
                  <a:srgbClr val="64748B"/>
                </a:solidFill>
                <a:latin typeface="DM Sans"/>
              </a:rPr>
              <a:t>COST OF A RESEARCH FORCE PLATE</a:t>
            </a:r>
          </a:p>
        </p:txBody>
      </p:sp>
      <p:sp>
        <p:nvSpPr>
          <p:cNvPr id="17" name="Rounded Rectangle 16"/>
          <p:cNvSpPr/>
          <p:nvPr/>
        </p:nvSpPr>
        <p:spPr>
          <a:xfrm>
            <a:off x="8988552" y="960120"/>
            <a:ext cx="2670048" cy="649224"/>
          </a:xfrm>
          <a:prstGeom prst="roundRect">
            <a:avLst>
              <a:gd name="adj" fmla="val 845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079992" y="1033272"/>
            <a:ext cx="2487168" cy="292608"/>
          </a:xfrm>
          <a:prstGeom prst="rect">
            <a:avLst/>
          </a:prstGeom>
          <a:noFill/>
        </p:spPr>
        <p:txBody>
          <a:bodyPr wrap="square" anchor="t" lIns="0" rIns="0" tIns="0" bIns="0">
            <a:spAutoFit/>
          </a:bodyPr>
          <a:lstStyle/>
          <a:p>
            <a:pPr algn="ctr"/>
            <a:r>
              <a:rPr sz="1650" b="1" i="0">
                <a:solidFill>
                  <a:srgbClr val="0369A1"/>
                </a:solidFill>
                <a:latin typeface="Poppins"/>
              </a:rPr>
              <a:t>0–56 pts</a:t>
            </a:r>
          </a:p>
        </p:txBody>
      </p:sp>
      <p:sp>
        <p:nvSpPr>
          <p:cNvPr id="19" name="TextBox 18"/>
          <p:cNvSpPr txBox="1"/>
          <p:nvPr/>
        </p:nvSpPr>
        <p:spPr>
          <a:xfrm>
            <a:off x="9079992" y="1353312"/>
            <a:ext cx="2487168" cy="201168"/>
          </a:xfrm>
          <a:prstGeom prst="rect">
            <a:avLst/>
          </a:prstGeom>
          <a:noFill/>
        </p:spPr>
        <p:txBody>
          <a:bodyPr wrap="square" anchor="t" lIns="0" rIns="0" tIns="0" bIns="0">
            <a:spAutoFit/>
          </a:bodyPr>
          <a:lstStyle/>
          <a:p>
            <a:pPr algn="ctr"/>
            <a:r>
              <a:rPr sz="819" b="0" i="0">
                <a:solidFill>
                  <a:srgbClr val="64748B"/>
                </a:solidFill>
                <a:latin typeface="DM Sans"/>
              </a:rPr>
              <a:t>BERG SCALE: ORDINAL, NO mm SWAY DATA</a:t>
            </a:r>
          </a:p>
        </p:txBody>
      </p:sp>
      <p:sp>
        <p:nvSpPr>
          <p:cNvPr id="20" name="Rounded Rectangle 19"/>
          <p:cNvSpPr/>
          <p:nvPr/>
        </p:nvSpPr>
        <p:spPr>
          <a:xfrm>
            <a:off x="530352" y="1737360"/>
            <a:ext cx="5431536" cy="3566160"/>
          </a:xfrm>
          <a:prstGeom prst="roundRect">
            <a:avLst>
              <a:gd name="adj" fmla="val 1538"/>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foot_bos.png"/>
          <p:cNvPicPr>
            <a:picLocks noChangeAspect="1"/>
          </p:cNvPicPr>
          <p:nvPr/>
        </p:nvPicPr>
        <p:blipFill>
          <a:blip r:embed="rId5"/>
          <a:stretch>
            <a:fillRect/>
          </a:stretch>
        </p:blipFill>
        <p:spPr>
          <a:xfrm>
            <a:off x="585216" y="2196424"/>
            <a:ext cx="5321808" cy="2648031"/>
          </a:xfrm>
          <a:prstGeom prst="rect">
            <a:avLst/>
          </a:prstGeom>
        </p:spPr>
      </p:pic>
      <p:sp>
        <p:nvSpPr>
          <p:cNvPr id="22" name="TextBox 21"/>
          <p:cNvSpPr txBox="1"/>
          <p:nvPr/>
        </p:nvSpPr>
        <p:spPr>
          <a:xfrm>
            <a:off x="530352" y="5340096"/>
            <a:ext cx="5431536" cy="182880"/>
          </a:xfrm>
          <a:prstGeom prst="rect">
            <a:avLst/>
          </a:prstGeom>
          <a:noFill/>
        </p:spPr>
        <p:txBody>
          <a:bodyPr wrap="square" anchor="t" lIns="0" rIns="0" tIns="0" bIns="0">
            <a:spAutoFit/>
          </a:bodyPr>
          <a:lstStyle/>
          <a:p>
            <a:pPr algn="r"/>
            <a:r>
              <a:rPr sz="860" b="0" i="1">
                <a:solidFill>
                  <a:srgbClr val="64748B"/>
                </a:solidFill>
                <a:latin typeface="DM Sans"/>
              </a:rPr>
              <a:t>Figure: Forefoot loss shortens the plantarflexor lever arm and anterior base of support (schematic)</a:t>
            </a:r>
          </a:p>
        </p:txBody>
      </p:sp>
      <p:sp>
        <p:nvSpPr>
          <p:cNvPr id="23" name="Rounded Rectangle 22"/>
          <p:cNvSpPr/>
          <p:nvPr/>
        </p:nvSpPr>
        <p:spPr>
          <a:xfrm>
            <a:off x="6227064" y="1737360"/>
            <a:ext cx="5431536" cy="3803904"/>
          </a:xfrm>
          <a:prstGeom prst="roundRect">
            <a:avLst>
              <a:gd name="adj" fmla="val 1923"/>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446520" y="1956816"/>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665976" y="1901952"/>
            <a:ext cx="4809744" cy="237744"/>
          </a:xfrm>
          <a:prstGeom prst="rect">
            <a:avLst/>
          </a:prstGeom>
          <a:noFill/>
        </p:spPr>
        <p:txBody>
          <a:bodyPr wrap="square" anchor="t" lIns="0" rIns="0" tIns="0" bIns="0">
            <a:spAutoFit/>
          </a:bodyPr>
          <a:lstStyle/>
          <a:p>
            <a:pPr algn="l"/>
            <a:r>
              <a:rPr sz="1125" b="1" i="0">
                <a:solidFill>
                  <a:srgbClr val="0F172A"/>
                </a:solidFill>
                <a:latin typeface="DM Sans"/>
              </a:rPr>
              <a:t>Target Beneficiary &amp; Problem Statement</a:t>
            </a:r>
          </a:p>
        </p:txBody>
      </p:sp>
      <p:sp>
        <p:nvSpPr>
          <p:cNvPr id="26" name="TextBox 25"/>
          <p:cNvSpPr txBox="1"/>
          <p:nvPr/>
        </p:nvSpPr>
        <p:spPr>
          <a:xfrm>
            <a:off x="6446520" y="2240280"/>
            <a:ext cx="5029200" cy="3246120"/>
          </a:xfrm>
          <a:prstGeom prst="rect">
            <a:avLst/>
          </a:prstGeom>
          <a:noFill/>
        </p:spPr>
        <p:txBody>
          <a:bodyPr wrap="square" anchor="t" lIns="0" rIns="0" tIns="0" bIns="0">
            <a:spAutoFit/>
          </a:bodyPr>
          <a:lstStyle/>
          <a:p>
            <a:pPr marL="146304" indent="-146304">
              <a:lnSpc>
                <a:spcPct val="108000"/>
              </a:lnSpc>
              <a:spcAft>
                <a:spcPts val="500"/>
              </a:spcAft>
              <a:buClr>
                <a:srgbClr val="059669"/>
              </a:buClr>
              <a:buSzPct val="100000"/>
              <a:buFont typeface="Arial"/>
              <a:buChar char="▪"/>
            </a:pPr>
            <a:r>
              <a:rPr sz="960" b="1" i="0">
                <a:solidFill>
                  <a:srgbClr val="0F172A"/>
                </a:solidFill>
                <a:latin typeface="DM Sans"/>
              </a:rPr>
              <a:t>Target User: </a:t>
            </a:r>
            <a:r>
              <a:rPr sz="960" b="0" i="0">
                <a:solidFill>
                  <a:srgbClr val="334155"/>
                </a:solidFill>
                <a:latin typeface="DM Sans"/>
              </a:rPr>
              <a:t>People after minor lower-limb amputation (toe, ray, transmetatarsal) caused by diabetes or PAD, and the physiotherapists in district-level rehabilitation centres in India who treat them.</a:t>
            </a:r>
          </a:p>
          <a:p>
            <a:pPr marL="146304" indent="-146304">
              <a:lnSpc>
                <a:spcPct val="108000"/>
              </a:lnSpc>
              <a:spcAft>
                <a:spcPts val="500"/>
              </a:spcAft>
              <a:buClr>
                <a:srgbClr val="059669"/>
              </a:buClr>
              <a:buSzPct val="100000"/>
              <a:buFont typeface="Arial"/>
              <a:buChar char="▪"/>
            </a:pPr>
            <a:r>
              <a:rPr sz="960" b="1" i="0">
                <a:solidFill>
                  <a:srgbClr val="0F172A"/>
                </a:solidFill>
                <a:latin typeface="DM Sans"/>
              </a:rPr>
              <a:t>Problem Statement: </a:t>
            </a:r>
            <a:r>
              <a:rPr sz="960" b="0" i="0">
                <a:solidFill>
                  <a:srgbClr val="334155"/>
                </a:solidFill>
                <a:latin typeface="DM Sans"/>
              </a:rPr>
              <a:t>Losing the forefoot shortens the actuator (ankle lever arm), and diabetic neuropathy dulls the sensor (plantar feedback). Sway corrections become larger and faster, so fall risk goes up.</a:t>
            </a:r>
          </a:p>
          <a:p>
            <a:pPr marL="146304" indent="-146304">
              <a:lnSpc>
                <a:spcPct val="108000"/>
              </a:lnSpc>
              <a:spcAft>
                <a:spcPts val="500"/>
              </a:spcAft>
              <a:buClr>
                <a:srgbClr val="059669"/>
              </a:buClr>
              <a:buSzPct val="100000"/>
              <a:buFont typeface="Arial"/>
              <a:buChar char="▪"/>
            </a:pPr>
            <a:r>
              <a:rPr sz="960" b="1" i="0">
                <a:solidFill>
                  <a:srgbClr val="0F172A"/>
                </a:solidFill>
                <a:latin typeface="DM Sans"/>
              </a:rPr>
              <a:t>Operational Gap: </a:t>
            </a:r>
            <a:r>
              <a:rPr sz="960" b="0" i="0">
                <a:solidFill>
                  <a:srgbClr val="334155"/>
                </a:solidFill>
                <a:latin typeface="DM Sans"/>
              </a:rPr>
              <a:t>Clinics score balance with ordinal tests (Berg Balance Scale, Timed Up and Go). Objective centre-of-pressure posturography needs a lab force plate costing ₹8 lakh or more.</a:t>
            </a:r>
          </a:p>
          <a:p>
            <a:pPr marL="146304" indent="-146304">
              <a:lnSpc>
                <a:spcPct val="108000"/>
              </a:lnSpc>
              <a:spcAft>
                <a:spcPts val="500"/>
              </a:spcAft>
              <a:buClr>
                <a:srgbClr val="059669"/>
              </a:buClr>
              <a:buSzPct val="100000"/>
              <a:buFont typeface="Arial"/>
              <a:buChar char="▪"/>
            </a:pPr>
            <a:r>
              <a:rPr sz="960" b="1" i="0">
                <a:solidFill>
                  <a:srgbClr val="0F172A"/>
                </a:solidFill>
                <a:latin typeface="DM Sans"/>
              </a:rPr>
              <a:t>Public Search Disclosure: </a:t>
            </a:r>
            <a:r>
              <a:rPr sz="960" b="0" i="0">
                <a:solidFill>
                  <a:srgbClr val="334155"/>
                </a:solidFill>
                <a:latin typeface="DM Sans"/>
              </a:rPr>
              <a:t>Kistler/AMTI plates are lab-bound; the Wii Balance Board is discontinued and was never built as an instrument; stock HX711 builds sample at 10 Hz, under-sampling sway.</a:t>
            </a:r>
          </a:p>
          <a:p>
            <a:pPr marL="146304" indent="-146304">
              <a:lnSpc>
                <a:spcPct val="108000"/>
              </a:lnSpc>
              <a:spcAft>
                <a:spcPts val="500"/>
              </a:spcAft>
              <a:buClr>
                <a:srgbClr val="059669"/>
              </a:buClr>
              <a:buSzPct val="100000"/>
              <a:buFont typeface="Arial"/>
              <a:buChar char="▪"/>
            </a:pPr>
            <a:r>
              <a:rPr sz="960" b="1" i="0">
                <a:solidFill>
                  <a:srgbClr val="0F172A"/>
                </a:solidFill>
                <a:latin typeface="DM Sans"/>
              </a:rPr>
              <a:t>Measurement Need: </a:t>
            </a:r>
            <a:r>
              <a:rPr sz="960" b="0" i="0">
                <a:solidFill>
                  <a:srgbClr val="334155"/>
                </a:solidFill>
                <a:latin typeface="DM Sans"/>
              </a:rPr>
              <a:t>Objective, repeatable sway metrics (MVELO, PEA95) read against each patient's own baseline, at a cost a district clinic can afford.</a:t>
            </a:r>
          </a:p>
        </p:txBody>
      </p:sp>
      <p:pic>
        <p:nvPicPr>
          <p:cNvPr id="27" name="Picture 26" descr="image.png"/>
          <p:cNvPicPr>
            <a:picLocks noChangeAspect="1"/>
          </p:cNvPicPr>
          <p:nvPr/>
        </p:nvPicPr>
        <p:blipFill>
          <a:blip r:embed="rId6"/>
          <a:stretch>
            <a:fillRect/>
          </a:stretch>
        </p:blipFill>
        <p:spPr>
          <a:xfrm>
            <a:off x="530352" y="5669280"/>
            <a:ext cx="11128248" cy="365760"/>
          </a:xfrm>
          <a:prstGeom prst="rect">
            <a:avLst/>
          </a:prstGeom>
        </p:spPr>
      </p:pic>
      <p:sp>
        <p:nvSpPr>
          <p:cNvPr id="28" name="TextBox 27"/>
          <p:cNvSpPr txBox="1"/>
          <p:nvPr/>
        </p:nvSpPr>
        <p:spPr>
          <a:xfrm>
            <a:off x="694944" y="5687568"/>
            <a:ext cx="10835640" cy="329184"/>
          </a:xfrm>
          <a:prstGeom prst="rect">
            <a:avLst/>
          </a:prstGeom>
          <a:noFill/>
        </p:spPr>
        <p:txBody>
          <a:bodyPr wrap="square" anchor="ctr" lIns="0" rIns="0" tIns="0" bIns="0">
            <a:spAutoFit/>
          </a:bodyPr>
          <a:lstStyle/>
          <a:p>
            <a:pPr algn="l"/>
            <a:r>
              <a:rPr sz="940" b="1" i="0">
                <a:solidFill>
                  <a:srgbClr val="0F172A"/>
                </a:solidFill>
                <a:latin typeface="DM Sans"/>
              </a:rPr>
              <a:t>Project Overview: </a:t>
            </a:r>
            <a:r>
              <a:rPr sz="940" b="0" i="0">
                <a:solidFill>
                  <a:srgbClr val="475569"/>
                </a:solidFill>
                <a:latin typeface="DM Sans"/>
              </a:rPr>
              <a:t>Team ID: [enter]  |  Track: [enter]  |  Core Innovation: battery-isolated 4-load-cell CoP platform (80 Hz, MVELO + PEA95) for ₹13,624.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rcRect l="14673" r="15820" t="33074" b="44466"/>
          <a:stretch>
            <a:fillRect/>
          </a:stretch>
        </p:blipFill>
        <p:spPr>
          <a:xfrm>
            <a:off x="0" y="6281013"/>
            <a:ext cx="1785823" cy="576986"/>
          </a:xfrm>
          <a:prstGeom prst="rect">
            <a:avLst/>
          </a:prstGeom>
        </p:spPr>
      </p:pic>
      <p:pic>
        <p:nvPicPr>
          <p:cNvPr id="4" name="Picture 3" descr="image.png"/>
          <p:cNvPicPr>
            <a:picLocks noChangeAspect="1"/>
          </p:cNvPicPr>
          <p:nvPr/>
        </p:nvPicPr>
        <p:blipFill>
          <a:blip r:embed="rId4"/>
          <a:stretch>
            <a:fillRect/>
          </a:stretch>
        </p:blipFill>
        <p:spPr>
          <a:xfrm>
            <a:off x="11095329" y="6281013"/>
            <a:ext cx="1096365" cy="576986"/>
          </a:xfrm>
          <a:prstGeom prst="rect">
            <a:avLst/>
          </a:prstGeom>
        </p:spPr>
      </p:pic>
      <p:sp>
        <p:nvSpPr>
          <p:cNvPr id="5" name="TextBox 4"/>
          <p:cNvSpPr txBox="1"/>
          <p:nvPr/>
        </p:nvSpPr>
        <p:spPr>
          <a:xfrm>
            <a:off x="530352" y="402336"/>
            <a:ext cx="8595360" cy="365760"/>
          </a:xfrm>
          <a:prstGeom prst="rect">
            <a:avLst/>
          </a:prstGeom>
          <a:noFill/>
        </p:spPr>
        <p:txBody>
          <a:bodyPr wrap="square" anchor="t" lIns="0" rIns="0" tIns="0" bIns="0">
            <a:spAutoFit/>
          </a:bodyPr>
          <a:lstStyle/>
          <a:p>
            <a:pPr algn="l"/>
            <a:r>
              <a:rPr sz="2025" b="1" i="0">
                <a:solidFill>
                  <a:srgbClr val="0F172A"/>
                </a:solidFill>
                <a:latin typeface="Poppins"/>
              </a:rPr>
              <a:t>System Architecture &amp; Specs</a:t>
            </a:r>
          </a:p>
        </p:txBody>
      </p:sp>
      <p:sp>
        <p:nvSpPr>
          <p:cNvPr id="6" name="Rounded Rectangle 5"/>
          <p:cNvSpPr/>
          <p:nvPr/>
        </p:nvSpPr>
        <p:spPr>
          <a:xfrm>
            <a:off x="10035540" y="484632"/>
            <a:ext cx="1623060" cy="210312"/>
          </a:xfrm>
          <a:prstGeom prst="roundRect">
            <a:avLst>
              <a:gd name="adj" fmla="val 50000"/>
            </a:avLst>
          </a:prstGeom>
          <a:solidFill>
            <a:srgbClr val="DCFCE7"/>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35540" y="484632"/>
            <a:ext cx="1623060" cy="210312"/>
          </a:xfrm>
          <a:prstGeom prst="rect">
            <a:avLst/>
          </a:prstGeom>
          <a:noFill/>
        </p:spPr>
        <p:txBody>
          <a:bodyPr wrap="square" anchor="ctr" lIns="0" rIns="0" tIns="0" bIns="0">
            <a:spAutoFit/>
          </a:bodyPr>
          <a:lstStyle/>
          <a:p>
            <a:pPr algn="ctr"/>
            <a:r>
              <a:rPr sz="750" b="1" i="0">
                <a:solidFill>
                  <a:srgbClr val="047857"/>
                </a:solidFill>
                <a:latin typeface="Poppins"/>
              </a:rPr>
              <a:t>SYSTEM ARCHITECTURE</a:t>
            </a:r>
          </a:p>
        </p:txBody>
      </p:sp>
      <p:sp>
        <p:nvSpPr>
          <p:cNvPr id="8" name="Rounded Rectangle 7"/>
          <p:cNvSpPr/>
          <p:nvPr/>
        </p:nvSpPr>
        <p:spPr>
          <a:xfrm>
            <a:off x="530352" y="960120"/>
            <a:ext cx="5431536" cy="4553712"/>
          </a:xfrm>
          <a:prstGeom prst="roundRect">
            <a:avLst>
              <a:gd name="adj" fmla="val 160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731520" y="1133856"/>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50976" y="1078992"/>
            <a:ext cx="4809744" cy="237744"/>
          </a:xfrm>
          <a:prstGeom prst="rect">
            <a:avLst/>
          </a:prstGeom>
          <a:noFill/>
        </p:spPr>
        <p:txBody>
          <a:bodyPr wrap="square" anchor="t" lIns="0" rIns="0" tIns="0" bIns="0">
            <a:spAutoFit/>
          </a:bodyPr>
          <a:lstStyle/>
          <a:p>
            <a:pPr algn="l"/>
            <a:r>
              <a:rPr sz="1125" b="1" i="0">
                <a:solidFill>
                  <a:srgbClr val="0F172A"/>
                </a:solidFill>
                <a:latin typeface="DM Sans"/>
              </a:rPr>
              <a:t>System Block Diagram</a:t>
            </a:r>
          </a:p>
        </p:txBody>
      </p:sp>
      <p:sp>
        <p:nvSpPr>
          <p:cNvPr id="11" name="Rounded Rectangle 10"/>
          <p:cNvSpPr/>
          <p:nvPr/>
        </p:nvSpPr>
        <p:spPr>
          <a:xfrm>
            <a:off x="731520" y="1417320"/>
            <a:ext cx="5029200" cy="566928"/>
          </a:xfrm>
          <a:prstGeom prst="roundRect">
            <a:avLst>
              <a:gd name="adj" fmla="val 1290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2" y="1453896"/>
            <a:ext cx="4882896" cy="201168"/>
          </a:xfrm>
          <a:prstGeom prst="rect">
            <a:avLst/>
          </a:prstGeom>
          <a:noFill/>
        </p:spPr>
        <p:txBody>
          <a:bodyPr wrap="square" anchor="t" lIns="0" rIns="0" tIns="0" bIns="0">
            <a:spAutoFit/>
          </a:bodyPr>
          <a:lstStyle/>
          <a:p>
            <a:pPr algn="ctr"/>
            <a:r>
              <a:rPr sz="880" b="1" i="0">
                <a:solidFill>
                  <a:srgbClr val="0F172A"/>
                </a:solidFill>
                <a:latin typeface="DM Sans"/>
              </a:rPr>
              <a:t>MECHANICAL STRUCTURE</a:t>
            </a:r>
          </a:p>
        </p:txBody>
      </p:sp>
      <p:sp>
        <p:nvSpPr>
          <p:cNvPr id="13" name="TextBox 12"/>
          <p:cNvSpPr txBox="1"/>
          <p:nvPr/>
        </p:nvSpPr>
        <p:spPr>
          <a:xfrm>
            <a:off x="804672" y="1645920"/>
            <a:ext cx="4882896" cy="310896"/>
          </a:xfrm>
          <a:prstGeom prst="rect">
            <a:avLst/>
          </a:prstGeom>
          <a:noFill/>
        </p:spPr>
        <p:txBody>
          <a:bodyPr wrap="square" anchor="t" lIns="0" rIns="0" tIns="0" bIns="0">
            <a:spAutoFit/>
          </a:bodyPr>
          <a:lstStyle/>
          <a:p>
            <a:pPr algn="ctr"/>
            <a:r>
              <a:rPr sz="780" b="0" i="0">
                <a:solidFill>
                  <a:srgbClr val="334155"/>
                </a:solidFill>
                <a:latin typeface="DM Sans"/>
              </a:rPr>
              <a:t>450×450×6 mm Al 6061-T6 top plate → 3 mm steel Z-mount spacers → 12 mm plywood base + 4 levelling feet</a:t>
            </a:r>
          </a:p>
        </p:txBody>
      </p:sp>
      <p:cxnSp>
        <p:nvCxnSpPr>
          <p:cNvPr id="14" name="Connector 13"/>
          <p:cNvCxnSpPr/>
          <p:nvPr/>
        </p:nvCxnSpPr>
        <p:spPr>
          <a:xfrm>
            <a:off x="3246120" y="1984248"/>
            <a:ext cx="0" cy="146304"/>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1520" y="2130552"/>
            <a:ext cx="5029200" cy="502920"/>
          </a:xfrm>
          <a:prstGeom prst="roundRect">
            <a:avLst>
              <a:gd name="adj" fmla="val 1454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 y="2167128"/>
            <a:ext cx="4882896" cy="201168"/>
          </a:xfrm>
          <a:prstGeom prst="rect">
            <a:avLst/>
          </a:prstGeom>
          <a:noFill/>
        </p:spPr>
        <p:txBody>
          <a:bodyPr wrap="square" anchor="t" lIns="0" rIns="0" tIns="0" bIns="0">
            <a:spAutoFit/>
          </a:bodyPr>
          <a:lstStyle/>
          <a:p>
            <a:pPr algn="ctr"/>
            <a:r>
              <a:rPr sz="880" b="1" i="0">
                <a:solidFill>
                  <a:srgbClr val="0F172A"/>
                </a:solidFill>
                <a:latin typeface="DM Sans"/>
              </a:rPr>
              <a:t>SENSING (×4 corners at ±200 mm)</a:t>
            </a:r>
          </a:p>
        </p:txBody>
      </p:sp>
      <p:sp>
        <p:nvSpPr>
          <p:cNvPr id="17" name="TextBox 16"/>
          <p:cNvSpPr txBox="1"/>
          <p:nvPr/>
        </p:nvSpPr>
        <p:spPr>
          <a:xfrm>
            <a:off x="804672" y="2359152"/>
            <a:ext cx="4882896" cy="246888"/>
          </a:xfrm>
          <a:prstGeom prst="rect">
            <a:avLst/>
          </a:prstGeom>
          <a:noFill/>
        </p:spPr>
        <p:txBody>
          <a:bodyPr wrap="square" anchor="t" lIns="0" rIns="0" tIns="0" bIns="0">
            <a:spAutoFit/>
          </a:bodyPr>
          <a:lstStyle/>
          <a:p>
            <a:pPr algn="ctr"/>
            <a:r>
              <a:rPr sz="780" b="0" i="0">
                <a:solidFill>
                  <a:srgbClr val="334155"/>
                </a:solidFill>
                <a:latin typeface="DM Sans"/>
              </a:rPr>
              <a:t>Phaeton 611E parallel-beam load cells, 200 kg, 2.0 mV/V, full Wheatstone bridge</a:t>
            </a:r>
          </a:p>
        </p:txBody>
      </p:sp>
      <p:cxnSp>
        <p:nvCxnSpPr>
          <p:cNvPr id="18" name="Connector 17"/>
          <p:cNvCxnSpPr/>
          <p:nvPr/>
        </p:nvCxnSpPr>
        <p:spPr>
          <a:xfrm>
            <a:off x="3246120" y="2633472"/>
            <a:ext cx="0" cy="146304"/>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31520" y="2779776"/>
            <a:ext cx="3246120" cy="640080"/>
          </a:xfrm>
          <a:prstGeom prst="roundRect">
            <a:avLst>
              <a:gd name="adj" fmla="val 1142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04672" y="2816352"/>
            <a:ext cx="3099815" cy="201168"/>
          </a:xfrm>
          <a:prstGeom prst="rect">
            <a:avLst/>
          </a:prstGeom>
          <a:noFill/>
        </p:spPr>
        <p:txBody>
          <a:bodyPr wrap="square" anchor="t" lIns="0" rIns="0" tIns="0" bIns="0">
            <a:spAutoFit/>
          </a:bodyPr>
          <a:lstStyle/>
          <a:p>
            <a:pPr algn="ctr"/>
            <a:r>
              <a:rPr sz="880" b="1" i="0">
                <a:solidFill>
                  <a:srgbClr val="0F172A"/>
                </a:solidFill>
                <a:latin typeface="DM Sans"/>
              </a:rPr>
              <a:t>ANALOGUE FRONT-END (×4)</a:t>
            </a:r>
          </a:p>
        </p:txBody>
      </p:sp>
      <p:sp>
        <p:nvSpPr>
          <p:cNvPr id="21" name="TextBox 20"/>
          <p:cNvSpPr txBox="1"/>
          <p:nvPr/>
        </p:nvSpPr>
        <p:spPr>
          <a:xfrm>
            <a:off x="804672" y="3008376"/>
            <a:ext cx="3099815" cy="384047"/>
          </a:xfrm>
          <a:prstGeom prst="rect">
            <a:avLst/>
          </a:prstGeom>
          <a:noFill/>
        </p:spPr>
        <p:txBody>
          <a:bodyPr wrap="square" anchor="t" lIns="0" rIns="0" tIns="0" bIns="0">
            <a:spAutoFit/>
          </a:bodyPr>
          <a:lstStyle/>
          <a:p>
            <a:pPr algn="ctr"/>
            <a:r>
              <a:rPr sz="780" b="0" i="0">
                <a:solidFill>
                  <a:srgbClr val="334155"/>
                </a:solidFill>
                <a:latin typeface="DM Sans"/>
              </a:rPr>
              <a:t>HX711 24-bit ΣΔ, Ch A gain 128, RATE→DVDD = 80 SPS; shared PD_SCK</a:t>
            </a:r>
          </a:p>
        </p:txBody>
      </p:sp>
      <p:sp>
        <p:nvSpPr>
          <p:cNvPr id="22" name="Rounded Rectangle 21"/>
          <p:cNvSpPr/>
          <p:nvPr/>
        </p:nvSpPr>
        <p:spPr>
          <a:xfrm>
            <a:off x="4114800" y="2779776"/>
            <a:ext cx="1645920" cy="1481328"/>
          </a:xfrm>
          <a:prstGeom prst="roundRect">
            <a:avLst>
              <a:gd name="adj" fmla="val 4938"/>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187952" y="2816352"/>
            <a:ext cx="1499616" cy="201168"/>
          </a:xfrm>
          <a:prstGeom prst="rect">
            <a:avLst/>
          </a:prstGeom>
          <a:noFill/>
        </p:spPr>
        <p:txBody>
          <a:bodyPr wrap="square" anchor="t" lIns="0" rIns="0" tIns="0" bIns="0">
            <a:spAutoFit/>
          </a:bodyPr>
          <a:lstStyle/>
          <a:p>
            <a:pPr algn="ctr"/>
            <a:r>
              <a:rPr sz="880" b="1" i="0">
                <a:solidFill>
                  <a:srgbClr val="0F172A"/>
                </a:solidFill>
                <a:latin typeface="DM Sans"/>
              </a:rPr>
              <a:t>POWER</a:t>
            </a:r>
          </a:p>
        </p:txBody>
      </p:sp>
      <p:sp>
        <p:nvSpPr>
          <p:cNvPr id="24" name="TextBox 23"/>
          <p:cNvSpPr txBox="1"/>
          <p:nvPr/>
        </p:nvSpPr>
        <p:spPr>
          <a:xfrm>
            <a:off x="4187952" y="3008376"/>
            <a:ext cx="1499616" cy="1225296"/>
          </a:xfrm>
          <a:prstGeom prst="rect">
            <a:avLst/>
          </a:prstGeom>
          <a:noFill/>
        </p:spPr>
        <p:txBody>
          <a:bodyPr wrap="square" anchor="t" lIns="0" rIns="0" tIns="0" bIns="0">
            <a:spAutoFit/>
          </a:bodyPr>
          <a:lstStyle/>
          <a:p>
            <a:pPr algn="ctr"/>
            <a:r>
              <a:rPr sz="780" b="0" i="0">
                <a:solidFill>
                  <a:srgbClr val="334155"/>
                </a:solidFill>
                <a:latin typeface="DM Sans"/>
              </a:rPr>
              <a:t>2×18650 Shield V8 → 5 V
AMS1117 → 3.3 V
S8550 → AVDD 4.30 V
(no mains path)</a:t>
            </a:r>
          </a:p>
        </p:txBody>
      </p:sp>
      <p:cxnSp>
        <p:nvCxnSpPr>
          <p:cNvPr id="25" name="Connector 24"/>
          <p:cNvCxnSpPr/>
          <p:nvPr/>
        </p:nvCxnSpPr>
        <p:spPr>
          <a:xfrm>
            <a:off x="2350008" y="3419856"/>
            <a:ext cx="0" cy="146304"/>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31520" y="3566160"/>
            <a:ext cx="3246120" cy="694944"/>
          </a:xfrm>
          <a:prstGeom prst="roundRect">
            <a:avLst>
              <a:gd name="adj" fmla="val 10526"/>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04672" y="3602736"/>
            <a:ext cx="3099815" cy="201168"/>
          </a:xfrm>
          <a:prstGeom prst="rect">
            <a:avLst/>
          </a:prstGeom>
          <a:noFill/>
        </p:spPr>
        <p:txBody>
          <a:bodyPr wrap="square" anchor="t" lIns="0" rIns="0" tIns="0" bIns="0">
            <a:spAutoFit/>
          </a:bodyPr>
          <a:lstStyle/>
          <a:p>
            <a:pPr algn="ctr"/>
            <a:r>
              <a:rPr sz="880" b="1" i="0">
                <a:solidFill>
                  <a:srgbClr val="0F172A"/>
                </a:solidFill>
                <a:latin typeface="DM Sans"/>
              </a:rPr>
              <a:t>CONTROLLER: ESP32-WROOM-32</a:t>
            </a:r>
          </a:p>
        </p:txBody>
      </p:sp>
      <p:sp>
        <p:nvSpPr>
          <p:cNvPr id="28" name="TextBox 27"/>
          <p:cNvSpPr txBox="1"/>
          <p:nvPr/>
        </p:nvSpPr>
        <p:spPr>
          <a:xfrm>
            <a:off x="804672" y="3794760"/>
            <a:ext cx="3099815" cy="438912"/>
          </a:xfrm>
          <a:prstGeom prst="rect">
            <a:avLst/>
          </a:prstGeom>
          <a:noFill/>
        </p:spPr>
        <p:txBody>
          <a:bodyPr wrap="square" anchor="t" lIns="0" rIns="0" tIns="0" bIns="0">
            <a:spAutoFit/>
          </a:bodyPr>
          <a:lstStyle/>
          <a:p>
            <a:pPr algn="ctr"/>
            <a:r>
              <a:rPr sz="780" b="0" i="0">
                <a:solidFill>
                  <a:srgbClr val="334155"/>
                </a:solidFill>
                <a:latin typeface="DM Sans"/>
              </a:rPr>
              <a:t>Core 1: acquisition + Butterworth + CoP + guards
Core 0: Wi-Fi dashboard, CLI, NVS baseline</a:t>
            </a:r>
          </a:p>
        </p:txBody>
      </p:sp>
      <p:cxnSp>
        <p:nvCxnSpPr>
          <p:cNvPr id="29" name="Connector 28"/>
          <p:cNvCxnSpPr/>
          <p:nvPr/>
        </p:nvCxnSpPr>
        <p:spPr>
          <a:xfrm>
            <a:off x="2350008" y="4261104"/>
            <a:ext cx="0" cy="146304"/>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31520" y="4407408"/>
            <a:ext cx="5029200" cy="566928"/>
          </a:xfrm>
          <a:prstGeom prst="roundRect">
            <a:avLst>
              <a:gd name="adj" fmla="val 1290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04672" y="4443984"/>
            <a:ext cx="4882896" cy="201168"/>
          </a:xfrm>
          <a:prstGeom prst="rect">
            <a:avLst/>
          </a:prstGeom>
          <a:noFill/>
        </p:spPr>
        <p:txBody>
          <a:bodyPr wrap="square" anchor="t" lIns="0" rIns="0" tIns="0" bIns="0">
            <a:spAutoFit/>
          </a:bodyPr>
          <a:lstStyle/>
          <a:p>
            <a:pPr algn="ctr"/>
            <a:r>
              <a:rPr sz="880" b="1" i="0">
                <a:solidFill>
                  <a:srgbClr val="0F172A"/>
                </a:solidFill>
                <a:latin typeface="DM Sans"/>
              </a:rPr>
              <a:t>OUTPUTS / FIRMWARE LOGIC</a:t>
            </a:r>
          </a:p>
        </p:txBody>
      </p:sp>
      <p:sp>
        <p:nvSpPr>
          <p:cNvPr id="32" name="TextBox 31"/>
          <p:cNvSpPr txBox="1"/>
          <p:nvPr/>
        </p:nvSpPr>
        <p:spPr>
          <a:xfrm>
            <a:off x="804672" y="4636008"/>
            <a:ext cx="4882896" cy="310896"/>
          </a:xfrm>
          <a:prstGeom prst="rect">
            <a:avLst/>
          </a:prstGeom>
          <a:noFill/>
        </p:spPr>
        <p:txBody>
          <a:bodyPr wrap="square" anchor="t" lIns="0" rIns="0" tIns="0" bIns="0">
            <a:spAutoFit/>
          </a:bodyPr>
          <a:lstStyle/>
          <a:p>
            <a:pPr algn="ctr"/>
            <a:r>
              <a:rPr sz="780" b="0" i="0">
                <a:solidFill>
                  <a:srgbClr val="334155"/>
                </a:solidFill>
                <a:latin typeface="DM Sans"/>
              </a:rPr>
              <a:t>JSON status at 10 Hz · serial CSV dump · status LED · baseline-ratio risk score · haptic (disabled)</a:t>
            </a:r>
          </a:p>
        </p:txBody>
      </p:sp>
      <p:cxnSp>
        <p:nvCxnSpPr>
          <p:cNvPr id="33" name="Connector 32"/>
          <p:cNvCxnSpPr/>
          <p:nvPr/>
        </p:nvCxnSpPr>
        <p:spPr>
          <a:xfrm flipH="1">
            <a:off x="3977639" y="3520440"/>
            <a:ext cx="137161" cy="0"/>
          </a:xfrm>
          <a:prstGeom prst="line">
            <a:avLst/>
          </a:prstGeom>
          <a:ln w="15875">
            <a:solidFill>
              <a:srgbClr val="B91C1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30352" y="5138928"/>
            <a:ext cx="5431536" cy="182880"/>
          </a:xfrm>
          <a:prstGeom prst="rect">
            <a:avLst/>
          </a:prstGeom>
          <a:noFill/>
        </p:spPr>
        <p:txBody>
          <a:bodyPr wrap="square" anchor="t" lIns="0" rIns="0" tIns="0" bIns="0">
            <a:spAutoFit/>
          </a:bodyPr>
          <a:lstStyle/>
          <a:p>
            <a:pPr algn="r"/>
            <a:r>
              <a:rPr sz="860" b="0" i="1">
                <a:solidFill>
                  <a:srgbClr val="64748B"/>
                </a:solidFill>
                <a:latin typeface="DM Sans"/>
              </a:rPr>
              <a:t>Figure: EquiSense Rev 2.0 subsystem map (mechanical → sensing → AFE → MCU → outputs)</a:t>
            </a:r>
          </a:p>
        </p:txBody>
      </p:sp>
      <p:sp>
        <p:nvSpPr>
          <p:cNvPr id="35" name="Rounded Rectangle 34"/>
          <p:cNvSpPr/>
          <p:nvPr/>
        </p:nvSpPr>
        <p:spPr>
          <a:xfrm>
            <a:off x="6227064" y="960120"/>
            <a:ext cx="5431536" cy="4553712"/>
          </a:xfrm>
          <a:prstGeom prst="roundRect">
            <a:avLst>
              <a:gd name="adj" fmla="val 1606"/>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6446520" y="1133856"/>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665976" y="1078992"/>
            <a:ext cx="4809744" cy="237744"/>
          </a:xfrm>
          <a:prstGeom prst="rect">
            <a:avLst/>
          </a:prstGeom>
          <a:noFill/>
        </p:spPr>
        <p:txBody>
          <a:bodyPr wrap="square" anchor="t" lIns="0" rIns="0" tIns="0" bIns="0">
            <a:spAutoFit/>
          </a:bodyPr>
          <a:lstStyle/>
          <a:p>
            <a:pPr algn="l"/>
            <a:r>
              <a:rPr sz="1125" b="1" i="0">
                <a:solidFill>
                  <a:srgbClr val="0F172A"/>
                </a:solidFill>
                <a:latin typeface="DM Sans"/>
              </a:rPr>
              <a:t>Engineering Target Specifications &amp; Hardware</a:t>
            </a:r>
          </a:p>
        </p:txBody>
      </p:sp>
      <p:graphicFrame>
        <p:nvGraphicFramePr>
          <p:cNvPr id="38" name="Table 37"/>
          <p:cNvGraphicFramePr>
            <a:graphicFrameLocks noGrp="1"/>
          </p:cNvGraphicFramePr>
          <p:nvPr/>
        </p:nvGraphicFramePr>
        <p:xfrm>
          <a:off x="6446520" y="1417320"/>
          <a:ext cx="5010910" cy="3867912"/>
        </p:xfrm>
        <a:graphic>
          <a:graphicData uri="http://schemas.openxmlformats.org/drawingml/2006/table">
            <a:tbl>
              <a:tblPr firstRow="0" bandRow="0">
                <a:tableStyleId>{5940675A-B579-460E-94D1-54222C63F5DA}</a:tableStyleId>
              </a:tblPr>
              <a:tblGrid>
                <a:gridCol w="1156364"/>
                <a:gridCol w="1927273"/>
                <a:gridCol w="1927273"/>
              </a:tblGrid>
              <a:tr h="429768">
                <a:tc>
                  <a:txBody>
                    <a:bodyPr wrap="square"/>
                    <a:lstStyle/>
                    <a:p>
                      <a:r>
                        <a:rPr sz="819" b="1" i="0">
                          <a:solidFill>
                            <a:srgbClr val="0F172A"/>
                          </a:solidFill>
                          <a:latin typeface="DM Sans"/>
                        </a:rPr>
                        <a:t>Parameter</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819" b="1" i="0">
                          <a:solidFill>
                            <a:srgbClr val="0F172A"/>
                          </a:solidFill>
                          <a:latin typeface="DM Sans"/>
                        </a:rPr>
                        <a:t>Target spec</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819" b="1" i="0">
                          <a:solidFill>
                            <a:srgbClr val="0F172A"/>
                          </a:solidFill>
                          <a:latin typeface="DM Sans"/>
                        </a:rPr>
                        <a:t>Selected hardware / protocol</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r>
              <a:tr h="429768">
                <a:tc>
                  <a:txBody>
                    <a:bodyPr wrap="square"/>
                    <a:lstStyle/>
                    <a:p>
                      <a:r>
                        <a:rPr sz="819" b="0" i="0">
                          <a:solidFill>
                            <a:srgbClr val="334155"/>
                          </a:solidFill>
                          <a:latin typeface="DM Sans"/>
                        </a:rPr>
                        <a:t>Sampling rate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80 Hz per channel (trial blocked &lt; 60 Hz)</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HX711, RATE pin 15 tied to DVDD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429768">
                <a:tc>
                  <a:txBody>
                    <a:bodyPr wrap="square"/>
                    <a:lstStyle/>
                    <a:p>
                      <a:r>
                        <a:rPr sz="819" b="0" i="0">
                          <a:solidFill>
                            <a:srgbClr val="334155"/>
                          </a:solidFill>
                          <a:latin typeface="DM Sans"/>
                        </a:rPr>
                        <a:t>Force capacity</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4 × 200 kg = 800 kg; SF &gt; 5.3 at 150 kg</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Phaeton 611E, 2.0 mV/V, IP65</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429768">
                <a:tc>
                  <a:txBody>
                    <a:bodyPr wrap="square"/>
                    <a:lstStyle/>
                    <a:p>
                      <a:r>
                        <a:rPr sz="819" b="0" i="0">
                          <a:solidFill>
                            <a:srgbClr val="334155"/>
                          </a:solidFill>
                          <a:latin typeface="DM Sans"/>
                        </a:rPr>
                        <a:t>ADC range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±16.8 mV FS (1.95× headroom)</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HX711 Channel A, gain 128</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429768">
                <a:tc>
                  <a:txBody>
                    <a:bodyPr wrap="square"/>
                    <a:lstStyle/>
                    <a:p>
                      <a:r>
                        <a:rPr sz="819" b="0" i="0">
                          <a:solidFill>
                            <a:srgbClr val="334155"/>
                          </a:solidFill>
                          <a:latin typeface="DM Sans"/>
                        </a:rPr>
                        <a:t>CoP accuracy</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 5 mm RMS, ≤ 10 mm max</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400 × 400 mm sensor rectangle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429768">
                <a:tc>
                  <a:txBody>
                    <a:bodyPr wrap="square"/>
                    <a:lstStyle/>
                    <a:p>
                      <a:r>
                        <a:rPr sz="819" b="0" i="0">
                          <a:solidFill>
                            <a:srgbClr val="334155"/>
                          </a:solidFill>
                          <a:latin typeface="DM Sans"/>
                        </a:rPr>
                        <a:t>CoP noise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&lt; 1.0 mm RMS (70 kg static)</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Butterworth LPF, fc 10 Hz</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429768">
                <a:tc>
                  <a:txBody>
                    <a:bodyPr wrap="square"/>
                    <a:lstStyle/>
                    <a:p>
                      <a:r>
                        <a:rPr sz="819" b="0" i="0">
                          <a:solidFill>
                            <a:srgbClr val="334155"/>
                          </a:solidFill>
                          <a:latin typeface="DM Sans"/>
                        </a:rPr>
                        <a:t>Inter-ADC skew</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 12.5 ms (≤ 0.13 mm at 10 mm/s)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Shared PD_SCK on GPIO 27</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429768">
                <a:tc>
                  <a:txBody>
                    <a:bodyPr wrap="square"/>
                    <a:lstStyle/>
                    <a:p>
                      <a:r>
                        <a:rPr sz="819" b="0" i="0">
                          <a:solidFill>
                            <a:srgbClr val="334155"/>
                          </a:solidFill>
                          <a:latin typeface="DM Sans"/>
                        </a:rPr>
                        <a:t>Power</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Battery-isolated, no mains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2×18650 Shield V8 → AMS1117</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429768">
                <a:tc>
                  <a:txBody>
                    <a:bodyPr wrap="square"/>
                    <a:lstStyle/>
                    <a:p>
                      <a:r>
                        <a:rPr sz="819" b="0" i="0">
                          <a:solidFill>
                            <a:srgbClr val="334155"/>
                          </a:solidFill>
                          <a:latin typeface="DM Sans"/>
                        </a:rPr>
                        <a:t>Controller</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Dual-core 240 MHz, Wi-Fi</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ESP32-WROOM-32 (NodeMCU-32S)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bl>
          </a:graphicData>
        </a:graphic>
      </p:graphicFrame>
      <p:pic>
        <p:nvPicPr>
          <p:cNvPr id="39" name="Picture 38" descr="image.png"/>
          <p:cNvPicPr>
            <a:picLocks noChangeAspect="1"/>
          </p:cNvPicPr>
          <p:nvPr/>
        </p:nvPicPr>
        <p:blipFill>
          <a:blip r:embed="rId5"/>
          <a:stretch>
            <a:fillRect/>
          </a:stretch>
        </p:blipFill>
        <p:spPr>
          <a:xfrm>
            <a:off x="530352" y="5669280"/>
            <a:ext cx="11128248" cy="365760"/>
          </a:xfrm>
          <a:prstGeom prst="rect">
            <a:avLst/>
          </a:prstGeom>
        </p:spPr>
      </p:pic>
      <p:sp>
        <p:nvSpPr>
          <p:cNvPr id="40" name="TextBox 39"/>
          <p:cNvSpPr txBox="1"/>
          <p:nvPr/>
        </p:nvSpPr>
        <p:spPr>
          <a:xfrm>
            <a:off x="694944" y="5687568"/>
            <a:ext cx="10835640" cy="329184"/>
          </a:xfrm>
          <a:prstGeom prst="rect">
            <a:avLst/>
          </a:prstGeom>
          <a:noFill/>
        </p:spPr>
        <p:txBody>
          <a:bodyPr wrap="square" anchor="ctr" lIns="0" rIns="0" tIns="0" bIns="0">
            <a:spAutoFit/>
          </a:bodyPr>
          <a:lstStyle/>
          <a:p>
            <a:pPr algn="l"/>
            <a:r>
              <a:rPr sz="940" b="1" i="0">
                <a:solidFill>
                  <a:srgbClr val="0F172A"/>
                </a:solidFill>
                <a:latin typeface="DM Sans"/>
              </a:rPr>
              <a:t>Architecture Rationale: </a:t>
            </a:r>
            <a:r>
              <a:rPr sz="940" b="0" i="0">
                <a:solidFill>
                  <a:srgbClr val="475569"/>
                </a:solidFill>
                <a:latin typeface="DM Sans"/>
              </a:rPr>
              <a:t>one shared PD_SCK clock with four dedicated DOUT lines starts all conversions together; battery power removes 50 Hz mains pickup; gain 128 keeps 1.95× headroom over 200 kg.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rcRect l="14673" r="15820" t="33074" b="44466"/>
          <a:stretch>
            <a:fillRect/>
          </a:stretch>
        </p:blipFill>
        <p:spPr>
          <a:xfrm>
            <a:off x="0" y="6281013"/>
            <a:ext cx="1785823" cy="576986"/>
          </a:xfrm>
          <a:prstGeom prst="rect">
            <a:avLst/>
          </a:prstGeom>
        </p:spPr>
      </p:pic>
      <p:pic>
        <p:nvPicPr>
          <p:cNvPr id="4" name="Picture 3" descr="image.png"/>
          <p:cNvPicPr>
            <a:picLocks noChangeAspect="1"/>
          </p:cNvPicPr>
          <p:nvPr/>
        </p:nvPicPr>
        <p:blipFill>
          <a:blip r:embed="rId4"/>
          <a:stretch>
            <a:fillRect/>
          </a:stretch>
        </p:blipFill>
        <p:spPr>
          <a:xfrm>
            <a:off x="11095329" y="6281013"/>
            <a:ext cx="1096365" cy="576986"/>
          </a:xfrm>
          <a:prstGeom prst="rect">
            <a:avLst/>
          </a:prstGeom>
        </p:spPr>
      </p:pic>
      <p:sp>
        <p:nvSpPr>
          <p:cNvPr id="5" name="TextBox 4"/>
          <p:cNvSpPr txBox="1"/>
          <p:nvPr/>
        </p:nvSpPr>
        <p:spPr>
          <a:xfrm>
            <a:off x="530352" y="402336"/>
            <a:ext cx="8595360" cy="365760"/>
          </a:xfrm>
          <a:prstGeom prst="rect">
            <a:avLst/>
          </a:prstGeom>
          <a:noFill/>
        </p:spPr>
        <p:txBody>
          <a:bodyPr wrap="square" anchor="t" lIns="0" rIns="0" tIns="0" bIns="0">
            <a:spAutoFit/>
          </a:bodyPr>
          <a:lstStyle/>
          <a:p>
            <a:pPr algn="l"/>
            <a:r>
              <a:rPr sz="2025" b="1" i="0">
                <a:solidFill>
                  <a:srgbClr val="0F172A"/>
                </a:solidFill>
                <a:latin typeface="Poppins"/>
              </a:rPr>
              <a:t>Signal Chain, CoP Maths &amp; Firmware</a:t>
            </a:r>
          </a:p>
        </p:txBody>
      </p:sp>
      <p:sp>
        <p:nvSpPr>
          <p:cNvPr id="6" name="Rounded Rectangle 5"/>
          <p:cNvSpPr/>
          <p:nvPr/>
        </p:nvSpPr>
        <p:spPr>
          <a:xfrm>
            <a:off x="10035540" y="484632"/>
            <a:ext cx="1623060" cy="210312"/>
          </a:xfrm>
          <a:prstGeom prst="roundRect">
            <a:avLst>
              <a:gd name="adj" fmla="val 50000"/>
            </a:avLst>
          </a:prstGeom>
          <a:solidFill>
            <a:srgbClr val="DCFCE7"/>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35540" y="484632"/>
            <a:ext cx="1623060" cy="210312"/>
          </a:xfrm>
          <a:prstGeom prst="rect">
            <a:avLst/>
          </a:prstGeom>
          <a:noFill/>
        </p:spPr>
        <p:txBody>
          <a:bodyPr wrap="square" anchor="ctr" lIns="0" rIns="0" tIns="0" bIns="0">
            <a:spAutoFit/>
          </a:bodyPr>
          <a:lstStyle/>
          <a:p>
            <a:pPr algn="ctr"/>
            <a:r>
              <a:rPr sz="750" b="1" i="0">
                <a:solidFill>
                  <a:srgbClr val="047857"/>
                </a:solidFill>
                <a:latin typeface="Poppins"/>
              </a:rPr>
              <a:t>SYSTEM ARCHITECTURE</a:t>
            </a:r>
          </a:p>
        </p:txBody>
      </p:sp>
      <p:sp>
        <p:nvSpPr>
          <p:cNvPr id="8" name="Rounded Rectangle 7"/>
          <p:cNvSpPr/>
          <p:nvPr/>
        </p:nvSpPr>
        <p:spPr>
          <a:xfrm>
            <a:off x="530352" y="960120"/>
            <a:ext cx="5431536" cy="4553712"/>
          </a:xfrm>
          <a:prstGeom prst="roundRect">
            <a:avLst>
              <a:gd name="adj" fmla="val 160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731520" y="1133856"/>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50976" y="1078992"/>
            <a:ext cx="4809744" cy="237744"/>
          </a:xfrm>
          <a:prstGeom prst="rect">
            <a:avLst/>
          </a:prstGeom>
          <a:noFill/>
        </p:spPr>
        <p:txBody>
          <a:bodyPr wrap="square" anchor="t" lIns="0" rIns="0" tIns="0" bIns="0">
            <a:spAutoFit/>
          </a:bodyPr>
          <a:lstStyle/>
          <a:p>
            <a:pPr algn="l"/>
            <a:r>
              <a:rPr sz="1125" b="1" i="0">
                <a:solidFill>
                  <a:srgbClr val="0F172A"/>
                </a:solidFill>
                <a:latin typeface="DM Sans"/>
              </a:rPr>
              <a:t>Platform Coordinates &amp; Centre-of-Pressure</a:t>
            </a:r>
          </a:p>
        </p:txBody>
      </p:sp>
      <p:sp>
        <p:nvSpPr>
          <p:cNvPr id="11" name="Rounded Rectangle 10"/>
          <p:cNvSpPr/>
          <p:nvPr/>
        </p:nvSpPr>
        <p:spPr>
          <a:xfrm>
            <a:off x="1106424" y="1444752"/>
            <a:ext cx="2496312" cy="2496312"/>
          </a:xfrm>
          <a:prstGeom prst="roundRect">
            <a:avLst>
              <a:gd name="adj" fmla="val 1465"/>
            </a:avLst>
          </a:prstGeom>
          <a:solidFill>
            <a:srgbClr val="E2E8F0"/>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234440" y="1572768"/>
            <a:ext cx="2240280" cy="2240280"/>
          </a:xfrm>
          <a:prstGeom prst="roundRect">
            <a:avLst>
              <a:gd name="adj" fmla="val 816"/>
            </a:avLst>
          </a:prstGeom>
          <a:solidFill>
            <a:srgbClr val="FFFFFF"/>
          </a:solidFill>
          <a:ln w="15875">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1307592" y="1645920"/>
            <a:ext cx="2093976" cy="2093976"/>
          </a:xfrm>
          <a:prstGeom prst="roundRect">
            <a:avLst>
              <a:gd name="adj" fmla="val 873"/>
            </a:avLst>
          </a:prstGeom>
          <a:solidFill>
            <a:srgbClr val="FFFFFF"/>
          </a:solidFill>
          <a:ln w="12700">
            <a:solidFill>
              <a:srgbClr val="05966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4" name="Connector 13"/>
          <p:cNvCxnSpPr/>
          <p:nvPr/>
        </p:nvCxnSpPr>
        <p:spPr>
          <a:xfrm>
            <a:off x="2354580" y="2692908"/>
            <a:ext cx="685800" cy="0"/>
          </a:xfrm>
          <a:prstGeom prst="line">
            <a:avLst/>
          </a:prstGeom>
          <a:ln w="15875">
            <a:solidFill>
              <a:srgbClr val="0F17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354580" y="2007108"/>
            <a:ext cx="0" cy="685800"/>
          </a:xfrm>
          <a:prstGeom prst="line">
            <a:avLst/>
          </a:prstGeom>
          <a:ln w="15875">
            <a:solidFill>
              <a:srgbClr val="0F17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012948" y="2601468"/>
            <a:ext cx="274320" cy="182880"/>
          </a:xfrm>
          <a:prstGeom prst="rect">
            <a:avLst/>
          </a:prstGeom>
          <a:noFill/>
        </p:spPr>
        <p:txBody>
          <a:bodyPr wrap="square" anchor="t" lIns="0" rIns="0" tIns="0" bIns="0">
            <a:spAutoFit/>
          </a:bodyPr>
          <a:lstStyle/>
          <a:p>
            <a:pPr algn="l"/>
            <a:r>
              <a:rPr sz="800" b="1" i="0">
                <a:solidFill>
                  <a:srgbClr val="0F172A"/>
                </a:solidFill>
                <a:latin typeface="DM Sans"/>
              </a:rPr>
              <a:t>+X</a:t>
            </a:r>
          </a:p>
        </p:txBody>
      </p:sp>
      <p:sp>
        <p:nvSpPr>
          <p:cNvPr id="17" name="TextBox 16"/>
          <p:cNvSpPr txBox="1"/>
          <p:nvPr/>
        </p:nvSpPr>
        <p:spPr>
          <a:xfrm>
            <a:off x="2400300" y="1851660"/>
            <a:ext cx="274320" cy="182880"/>
          </a:xfrm>
          <a:prstGeom prst="rect">
            <a:avLst/>
          </a:prstGeom>
          <a:noFill/>
        </p:spPr>
        <p:txBody>
          <a:bodyPr wrap="square" anchor="t" lIns="0" rIns="0" tIns="0" bIns="0">
            <a:spAutoFit/>
          </a:bodyPr>
          <a:lstStyle/>
          <a:p>
            <a:pPr algn="l"/>
            <a:r>
              <a:rPr sz="800" b="1" i="0">
                <a:solidFill>
                  <a:srgbClr val="0F172A"/>
                </a:solidFill>
                <a:latin typeface="DM Sans"/>
              </a:rPr>
              <a:t>+Y</a:t>
            </a:r>
          </a:p>
        </p:txBody>
      </p:sp>
      <p:sp>
        <p:nvSpPr>
          <p:cNvPr id="18" name="TextBox 17"/>
          <p:cNvSpPr txBox="1"/>
          <p:nvPr/>
        </p:nvSpPr>
        <p:spPr>
          <a:xfrm>
            <a:off x="1970532" y="2720340"/>
            <a:ext cx="365760" cy="182880"/>
          </a:xfrm>
          <a:prstGeom prst="rect">
            <a:avLst/>
          </a:prstGeom>
          <a:noFill/>
        </p:spPr>
        <p:txBody>
          <a:bodyPr wrap="square" anchor="t" lIns="0" rIns="0" tIns="0" bIns="0">
            <a:spAutoFit/>
          </a:bodyPr>
          <a:lstStyle/>
          <a:p>
            <a:pPr algn="l"/>
            <a:r>
              <a:rPr sz="750" b="0" i="0">
                <a:solidFill>
                  <a:srgbClr val="64748B"/>
                </a:solidFill>
                <a:latin typeface="DM Sans"/>
              </a:rPr>
              <a:t>(0,0)</a:t>
            </a:r>
          </a:p>
        </p:txBody>
      </p:sp>
      <p:sp>
        <p:nvSpPr>
          <p:cNvPr id="19" name="Rounded Rectangle 18"/>
          <p:cNvSpPr/>
          <p:nvPr/>
        </p:nvSpPr>
        <p:spPr>
          <a:xfrm>
            <a:off x="1115568" y="1453895"/>
            <a:ext cx="237744" cy="237744"/>
          </a:xfrm>
          <a:prstGeom prst="roundRect">
            <a:avLst>
              <a:gd name="adj" fmla="val 15384"/>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89888" y="1728216"/>
            <a:ext cx="365760" cy="182880"/>
          </a:xfrm>
          <a:prstGeom prst="rect">
            <a:avLst/>
          </a:prstGeom>
          <a:noFill/>
        </p:spPr>
        <p:txBody>
          <a:bodyPr wrap="square" anchor="t" lIns="0" rIns="0" tIns="0" bIns="0">
            <a:spAutoFit/>
          </a:bodyPr>
          <a:lstStyle/>
          <a:p>
            <a:pPr algn="ctr"/>
            <a:r>
              <a:rPr sz="800" b="1" i="0">
                <a:solidFill>
                  <a:srgbClr val="0369A1"/>
                </a:solidFill>
                <a:latin typeface="DM Sans"/>
              </a:rPr>
              <a:t>FL</a:t>
            </a:r>
          </a:p>
        </p:txBody>
      </p:sp>
      <p:sp>
        <p:nvSpPr>
          <p:cNvPr id="21" name="Rounded Rectangle 20"/>
          <p:cNvSpPr/>
          <p:nvPr/>
        </p:nvSpPr>
        <p:spPr>
          <a:xfrm>
            <a:off x="3355848" y="1453895"/>
            <a:ext cx="237744" cy="237744"/>
          </a:xfrm>
          <a:prstGeom prst="roundRect">
            <a:avLst>
              <a:gd name="adj" fmla="val 15384"/>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2971800" y="1728216"/>
            <a:ext cx="365760" cy="182880"/>
          </a:xfrm>
          <a:prstGeom prst="rect">
            <a:avLst/>
          </a:prstGeom>
          <a:noFill/>
        </p:spPr>
        <p:txBody>
          <a:bodyPr wrap="square" anchor="t" lIns="0" rIns="0" tIns="0" bIns="0">
            <a:spAutoFit/>
          </a:bodyPr>
          <a:lstStyle/>
          <a:p>
            <a:pPr algn="ctr"/>
            <a:r>
              <a:rPr sz="800" b="1" i="0">
                <a:solidFill>
                  <a:srgbClr val="0369A1"/>
                </a:solidFill>
                <a:latin typeface="DM Sans"/>
              </a:rPr>
              <a:t>FR</a:t>
            </a:r>
          </a:p>
        </p:txBody>
      </p:sp>
      <p:sp>
        <p:nvSpPr>
          <p:cNvPr id="23" name="Rounded Rectangle 22"/>
          <p:cNvSpPr/>
          <p:nvPr/>
        </p:nvSpPr>
        <p:spPr>
          <a:xfrm>
            <a:off x="1115568" y="3694176"/>
            <a:ext cx="237744" cy="237744"/>
          </a:xfrm>
          <a:prstGeom prst="roundRect">
            <a:avLst>
              <a:gd name="adj" fmla="val 15384"/>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389888" y="3474720"/>
            <a:ext cx="365760" cy="182880"/>
          </a:xfrm>
          <a:prstGeom prst="rect">
            <a:avLst/>
          </a:prstGeom>
          <a:noFill/>
        </p:spPr>
        <p:txBody>
          <a:bodyPr wrap="square" anchor="t" lIns="0" rIns="0" tIns="0" bIns="0">
            <a:spAutoFit/>
          </a:bodyPr>
          <a:lstStyle/>
          <a:p>
            <a:pPr algn="ctr"/>
            <a:r>
              <a:rPr sz="800" b="1" i="0">
                <a:solidFill>
                  <a:srgbClr val="0369A1"/>
                </a:solidFill>
                <a:latin typeface="DM Sans"/>
              </a:rPr>
              <a:t>BL</a:t>
            </a:r>
          </a:p>
        </p:txBody>
      </p:sp>
      <p:sp>
        <p:nvSpPr>
          <p:cNvPr id="25" name="Rounded Rectangle 24"/>
          <p:cNvSpPr/>
          <p:nvPr/>
        </p:nvSpPr>
        <p:spPr>
          <a:xfrm>
            <a:off x="3355848" y="3694176"/>
            <a:ext cx="237744" cy="237744"/>
          </a:xfrm>
          <a:prstGeom prst="roundRect">
            <a:avLst>
              <a:gd name="adj" fmla="val 15384"/>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971800" y="3474720"/>
            <a:ext cx="365760" cy="182880"/>
          </a:xfrm>
          <a:prstGeom prst="rect">
            <a:avLst/>
          </a:prstGeom>
          <a:noFill/>
        </p:spPr>
        <p:txBody>
          <a:bodyPr wrap="square" anchor="t" lIns="0" rIns="0" tIns="0" bIns="0">
            <a:spAutoFit/>
          </a:bodyPr>
          <a:lstStyle/>
          <a:p>
            <a:pPr algn="ctr"/>
            <a:r>
              <a:rPr sz="800" b="1" i="0">
                <a:solidFill>
                  <a:srgbClr val="0369A1"/>
                </a:solidFill>
                <a:latin typeface="DM Sans"/>
              </a:rPr>
              <a:t>BR</a:t>
            </a:r>
          </a:p>
        </p:txBody>
      </p:sp>
      <p:sp>
        <p:nvSpPr>
          <p:cNvPr id="27" name="TextBox 26"/>
          <p:cNvSpPr txBox="1"/>
          <p:nvPr/>
        </p:nvSpPr>
        <p:spPr>
          <a:xfrm>
            <a:off x="960120" y="3995928"/>
            <a:ext cx="2788920" cy="182880"/>
          </a:xfrm>
          <a:prstGeom prst="rect">
            <a:avLst/>
          </a:prstGeom>
          <a:noFill/>
        </p:spPr>
        <p:txBody>
          <a:bodyPr wrap="square" anchor="t" lIns="0" rIns="0" tIns="0" bIns="0">
            <a:spAutoFit/>
          </a:bodyPr>
          <a:lstStyle/>
          <a:p>
            <a:pPr algn="ctr"/>
            <a:r>
              <a:rPr sz="760" b="0" i="0">
                <a:solidFill>
                  <a:srgbClr val="64748B"/>
                </a:solidFill>
                <a:latin typeface="DM Sans"/>
              </a:rPr>
              <a:t>400 mm sensor rectangle · valid CoP |X|, |Y| ≤ 195 mm</a:t>
            </a:r>
          </a:p>
        </p:txBody>
      </p:sp>
      <p:sp>
        <p:nvSpPr>
          <p:cNvPr id="28" name="TextBox 27"/>
          <p:cNvSpPr txBox="1"/>
          <p:nvPr/>
        </p:nvSpPr>
        <p:spPr>
          <a:xfrm>
            <a:off x="3767328" y="1527048"/>
            <a:ext cx="1783080" cy="2651760"/>
          </a:xfrm>
          <a:prstGeom prst="rect">
            <a:avLst/>
          </a:prstGeom>
          <a:noFill/>
        </p:spPr>
        <p:txBody>
          <a:bodyPr wrap="square" anchor="t" lIns="0" rIns="0" tIns="0" bIns="0">
            <a:spAutoFit/>
          </a:bodyPr>
          <a:lstStyle/>
          <a:p>
            <a:pPr algn="l"/>
            <a:r>
              <a:rPr sz="840" b="1" i="0">
                <a:solidFill>
                  <a:srgbClr val="0F172A"/>
                </a:solidFill>
                <a:latin typeface="DM Sans"/>
              </a:rPr>
              <a:t>Corners (mm)</a:t>
            </a:r>
          </a:p>
          <a:p>
            <a:pPr algn="l"/>
            <a:r>
              <a:rPr sz="840" b="0" i="0">
                <a:solidFill>
                  <a:srgbClr val="334155"/>
                </a:solidFill>
                <a:latin typeface="DM Sans"/>
              </a:rPr>
              <a:t>FL (−200, +200)</a:t>
            </a:r>
          </a:p>
          <a:p>
            <a:pPr algn="l"/>
            <a:r>
              <a:rPr sz="840" b="0" i="0">
                <a:solidFill>
                  <a:srgbClr val="334155"/>
                </a:solidFill>
                <a:latin typeface="DM Sans"/>
              </a:rPr>
              <a:t>FR (+200, +200)</a:t>
            </a:r>
          </a:p>
          <a:p>
            <a:pPr algn="l"/>
            <a:r>
              <a:rPr sz="840" b="0" i="0">
                <a:solidFill>
                  <a:srgbClr val="334155"/>
                </a:solidFill>
                <a:latin typeface="DM Sans"/>
              </a:rPr>
              <a:t>BL (−200, −200)</a:t>
            </a:r>
          </a:p>
          <a:p>
            <a:pPr algn="l"/>
            <a:r>
              <a:rPr sz="840" b="0" i="0">
                <a:solidFill>
                  <a:srgbClr val="334155"/>
                </a:solidFill>
                <a:latin typeface="DM Sans"/>
              </a:rPr>
              <a:t>BR (+200, −200)</a:t>
            </a:r>
          </a:p>
          <a:p>
            <a:pPr algn="l"/>
            <a:r>
              <a:rPr sz="840" b="0" i="0">
                <a:solidFill>
                  <a:srgbClr val="334155"/>
                </a:solidFill>
                <a:latin typeface="DM Sans"/>
              </a:rPr>
              <a:t/>
            </a:r>
          </a:p>
          <a:p>
            <a:pPr algn="l"/>
            <a:r>
              <a:rPr sz="840" b="1" i="0">
                <a:solidFill>
                  <a:srgbClr val="0F172A"/>
                </a:solidFill>
                <a:latin typeface="DM Sans"/>
              </a:rPr>
              <a:t>Plate envelope</a:t>
            </a:r>
          </a:p>
          <a:p>
            <a:pPr algn="l"/>
            <a:r>
              <a:rPr sz="840" b="0" i="0">
                <a:solidFill>
                  <a:srgbClr val="334155"/>
                </a:solidFill>
                <a:latin typeface="DM Sans"/>
              </a:rPr>
              <a:t>450 × 450 × 6 mm</a:t>
            </a:r>
          </a:p>
          <a:p>
            <a:pPr algn="l"/>
            <a:r>
              <a:rPr sz="840" b="0" i="0">
                <a:solidFill>
                  <a:srgbClr val="334155"/>
                </a:solidFill>
                <a:latin typeface="DM Sans"/>
              </a:rPr>
              <a:t/>
            </a:r>
          </a:p>
          <a:p>
            <a:pPr algn="l"/>
            <a:r>
              <a:rPr sz="840" b="1" i="0">
                <a:solidFill>
                  <a:srgbClr val="0F172A"/>
                </a:solidFill>
                <a:latin typeface="DM Sans"/>
              </a:rPr>
              <a:t>Front = anterior (+Y)</a:t>
            </a:r>
          </a:p>
        </p:txBody>
      </p:sp>
      <p:sp>
        <p:nvSpPr>
          <p:cNvPr id="29" name="TextBox 28"/>
          <p:cNvSpPr txBox="1"/>
          <p:nvPr/>
        </p:nvSpPr>
        <p:spPr>
          <a:xfrm>
            <a:off x="731520" y="4315968"/>
            <a:ext cx="5120640" cy="1188720"/>
          </a:xfrm>
          <a:prstGeom prst="rect">
            <a:avLst/>
          </a:prstGeom>
          <a:noFill/>
        </p:spPr>
        <p:txBody>
          <a:bodyPr wrap="square" anchor="t" lIns="0" rIns="0" tIns="0" bIns="0">
            <a:spAutoFit/>
          </a:bodyPr>
          <a:lstStyle/>
          <a:p>
            <a:pPr algn="l"/>
            <a:r>
              <a:rPr sz="919" b="1" i="0">
                <a:solidFill>
                  <a:srgbClr val="0F172A"/>
                </a:solidFill>
                <a:latin typeface="DM Sans"/>
              </a:rPr>
              <a:t>X_CoP</a:t>
            </a:r>
            <a:r>
              <a:rPr sz="919" b="0" i="0">
                <a:solidFill>
                  <a:srgbClr val="334155"/>
                </a:solidFill>
                <a:latin typeface="DM Sans"/>
              </a:rPr>
              <a:t> = 200 · [(F_FR + F_BR) − (F_FL + F_BL)] / ΣF</a:t>
            </a:r>
          </a:p>
          <a:p>
            <a:pPr algn="l"/>
            <a:r>
              <a:rPr sz="919" b="1" i="0">
                <a:solidFill>
                  <a:srgbClr val="0F172A"/>
                </a:solidFill>
                <a:latin typeface="DM Sans"/>
              </a:rPr>
              <a:t>Y_CoP</a:t>
            </a:r>
            <a:r>
              <a:rPr sz="919" b="0" i="0">
                <a:solidFill>
                  <a:srgbClr val="334155"/>
                </a:solidFill>
                <a:latin typeface="DM Sans"/>
              </a:rPr>
              <a:t> = 200 · [(F_FL + F_FR) − (F_BL + F_BR)] / ΣF</a:t>
            </a:r>
          </a:p>
          <a:p>
            <a:pPr algn="l"/>
            <a:r>
              <a:rPr sz="919" b="1" i="0">
                <a:solidFill>
                  <a:srgbClr val="0F172A"/>
                </a:solidFill>
                <a:latin typeface="DM Sans"/>
              </a:rPr>
              <a:t>Guards: </a:t>
            </a:r>
            <a:r>
              <a:rPr sz="919" b="0" i="0">
                <a:solidFill>
                  <a:srgbClr val="334155"/>
                </a:solidFill>
                <a:latin typeface="DM Sans"/>
              </a:rPr>
              <a:t>clamp F_i &lt; 0 → 0 · compute only if ΣF ≥ 20 kg · reject samples outside ±195 mm</a:t>
            </a:r>
          </a:p>
          <a:p>
            <a:pPr algn="l"/>
            <a:r>
              <a:rPr sz="919" b="1" i="0">
                <a:solidFill>
                  <a:srgbClr val="0F172A"/>
                </a:solidFill>
                <a:latin typeface="DM Sans"/>
              </a:rPr>
              <a:t>PEA95</a:t>
            </a:r>
            <a:r>
              <a:rPr sz="919" b="0" i="0">
                <a:solidFill>
                  <a:srgbClr val="334155"/>
                </a:solidFill>
                <a:latin typeface="DM Sans"/>
              </a:rPr>
              <a:t> = 2π · F₀.₀₅(2, N−2) · (N+1)(N−1)/[N(N−2)] · √det(S)</a:t>
            </a:r>
          </a:p>
        </p:txBody>
      </p:sp>
      <p:sp>
        <p:nvSpPr>
          <p:cNvPr id="30" name="Rounded Rectangle 29"/>
          <p:cNvSpPr/>
          <p:nvPr/>
        </p:nvSpPr>
        <p:spPr>
          <a:xfrm>
            <a:off x="6227064" y="960120"/>
            <a:ext cx="5431536" cy="4553712"/>
          </a:xfrm>
          <a:prstGeom prst="roundRect">
            <a:avLst>
              <a:gd name="adj" fmla="val 1606"/>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6446520" y="1133856"/>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665976" y="1078992"/>
            <a:ext cx="4809744" cy="237744"/>
          </a:xfrm>
          <a:prstGeom prst="rect">
            <a:avLst/>
          </a:prstGeom>
          <a:noFill/>
        </p:spPr>
        <p:txBody>
          <a:bodyPr wrap="square" anchor="t" lIns="0" rIns="0" tIns="0" bIns="0">
            <a:spAutoFit/>
          </a:bodyPr>
          <a:lstStyle/>
          <a:p>
            <a:pPr algn="l"/>
            <a:r>
              <a:rPr sz="1125" b="1" i="0">
                <a:solidFill>
                  <a:srgbClr val="0F172A"/>
                </a:solidFill>
                <a:latin typeface="DM Sans"/>
              </a:rPr>
              <a:t>Dual-Core Firmware &amp; Signal Processing</a:t>
            </a:r>
          </a:p>
        </p:txBody>
      </p:sp>
      <p:sp>
        <p:nvSpPr>
          <p:cNvPr id="33" name="Rounded Rectangle 32"/>
          <p:cNvSpPr/>
          <p:nvPr/>
        </p:nvSpPr>
        <p:spPr>
          <a:xfrm>
            <a:off x="6446520" y="1417320"/>
            <a:ext cx="5010912" cy="749808"/>
          </a:xfrm>
          <a:prstGeom prst="roundRect">
            <a:avLst>
              <a:gd name="adj" fmla="val 975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556248" y="1472184"/>
            <a:ext cx="4800600" cy="182880"/>
          </a:xfrm>
          <a:prstGeom prst="rect">
            <a:avLst/>
          </a:prstGeom>
          <a:noFill/>
        </p:spPr>
        <p:txBody>
          <a:bodyPr wrap="square" anchor="t" lIns="0" rIns="0" tIns="0" bIns="0">
            <a:spAutoFit/>
          </a:bodyPr>
          <a:lstStyle/>
          <a:p>
            <a:pPr algn="l"/>
            <a:r>
              <a:rPr sz="840" b="1" i="0">
                <a:solidFill>
                  <a:srgbClr val="047857"/>
                </a:solidFill>
                <a:latin typeface="Poppins"/>
              </a:rPr>
              <a:t>CORE 1 · priority 3 · real-time</a:t>
            </a:r>
          </a:p>
        </p:txBody>
      </p:sp>
      <p:sp>
        <p:nvSpPr>
          <p:cNvPr id="35" name="TextBox 34"/>
          <p:cNvSpPr txBox="1"/>
          <p:nvPr/>
        </p:nvSpPr>
        <p:spPr>
          <a:xfrm>
            <a:off x="6556248" y="1691640"/>
            <a:ext cx="4800600" cy="457200"/>
          </a:xfrm>
          <a:prstGeom prst="rect">
            <a:avLst/>
          </a:prstGeom>
          <a:noFill/>
        </p:spPr>
        <p:txBody>
          <a:bodyPr wrap="square" anchor="t" lIns="0" rIns="0" tIns="0" bIns="0">
            <a:spAutoFit/>
          </a:bodyPr>
          <a:lstStyle/>
          <a:p>
            <a:pPr algn="l"/>
            <a:r>
              <a:rPr sz="860" b="0" i="0">
                <a:solidFill>
                  <a:srgbClr val="334155"/>
                </a:solidFill>
                <a:latin typeface="DM Sans"/>
              </a:rPr>
              <a:t>Wait for all 4 DOUT lines low → 25 PD_SCK pulses inside taskENTER_CRITICAL (a pulse &gt; 60 µs would power the HX711 down)</a:t>
            </a:r>
          </a:p>
        </p:txBody>
      </p:sp>
      <p:sp>
        <p:nvSpPr>
          <p:cNvPr id="36" name="Rounded Rectangle 35"/>
          <p:cNvSpPr/>
          <p:nvPr/>
        </p:nvSpPr>
        <p:spPr>
          <a:xfrm>
            <a:off x="6446520" y="2221992"/>
            <a:ext cx="5010912" cy="749808"/>
          </a:xfrm>
          <a:prstGeom prst="roundRect">
            <a:avLst>
              <a:gd name="adj" fmla="val 975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56248" y="2276856"/>
            <a:ext cx="4800600" cy="182880"/>
          </a:xfrm>
          <a:prstGeom prst="rect">
            <a:avLst/>
          </a:prstGeom>
          <a:noFill/>
        </p:spPr>
        <p:txBody>
          <a:bodyPr wrap="square" anchor="t" lIns="0" rIns="0" tIns="0" bIns="0">
            <a:spAutoFit/>
          </a:bodyPr>
          <a:lstStyle/>
          <a:p>
            <a:pPr algn="l"/>
            <a:r>
              <a:rPr sz="840" b="1" i="0">
                <a:solidFill>
                  <a:srgbClr val="047857"/>
                </a:solidFill>
                <a:latin typeface="Poppins"/>
              </a:rPr>
              <a:t>FILTER</a:t>
            </a:r>
          </a:p>
        </p:txBody>
      </p:sp>
      <p:sp>
        <p:nvSpPr>
          <p:cNvPr id="38" name="TextBox 37"/>
          <p:cNvSpPr txBox="1"/>
          <p:nvPr/>
        </p:nvSpPr>
        <p:spPr>
          <a:xfrm>
            <a:off x="6556248" y="2496312"/>
            <a:ext cx="4800600" cy="457200"/>
          </a:xfrm>
          <a:prstGeom prst="rect">
            <a:avLst/>
          </a:prstGeom>
          <a:noFill/>
        </p:spPr>
        <p:txBody>
          <a:bodyPr wrap="square" anchor="t" lIns="0" rIns="0" tIns="0" bIns="0">
            <a:spAutoFit/>
          </a:bodyPr>
          <a:lstStyle/>
          <a:p>
            <a:pPr algn="l"/>
            <a:r>
              <a:rPr sz="860" b="0" i="0">
                <a:solidFill>
                  <a:srgbClr val="334155"/>
                </a:solidFill>
                <a:latin typeface="DM Sans"/>
              </a:rPr>
              <a:t>2nd-order Butterworth, DF-II transposed, fs 80 Hz, fc 10 Hz, ~12 ms delay; b = [0.0976, 0.1953, 0.0976], a = [1, −0.9428, 0.3333]; state seeded from F[0]</a:t>
            </a:r>
          </a:p>
        </p:txBody>
      </p:sp>
      <p:sp>
        <p:nvSpPr>
          <p:cNvPr id="39" name="Rounded Rectangle 38"/>
          <p:cNvSpPr/>
          <p:nvPr/>
        </p:nvSpPr>
        <p:spPr>
          <a:xfrm>
            <a:off x="6446520" y="3026664"/>
            <a:ext cx="5010912" cy="749808"/>
          </a:xfrm>
          <a:prstGeom prst="roundRect">
            <a:avLst>
              <a:gd name="adj" fmla="val 975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556248" y="3081528"/>
            <a:ext cx="4800600" cy="182880"/>
          </a:xfrm>
          <a:prstGeom prst="rect">
            <a:avLst/>
          </a:prstGeom>
          <a:noFill/>
        </p:spPr>
        <p:txBody>
          <a:bodyPr wrap="square" anchor="t" lIns="0" rIns="0" tIns="0" bIns="0">
            <a:spAutoFit/>
          </a:bodyPr>
          <a:lstStyle/>
          <a:p>
            <a:pPr algn="l"/>
            <a:r>
              <a:rPr sz="840" b="1" i="0">
                <a:solidFill>
                  <a:srgbClr val="047857"/>
                </a:solidFill>
                <a:latin typeface="Poppins"/>
              </a:rPr>
              <a:t>METRICS (Prieto 1996)</a:t>
            </a:r>
          </a:p>
        </p:txBody>
      </p:sp>
      <p:sp>
        <p:nvSpPr>
          <p:cNvPr id="41" name="TextBox 40"/>
          <p:cNvSpPr txBox="1"/>
          <p:nvPr/>
        </p:nvSpPr>
        <p:spPr>
          <a:xfrm>
            <a:off x="6556248" y="3300984"/>
            <a:ext cx="4800600" cy="457200"/>
          </a:xfrm>
          <a:prstGeom prst="rect">
            <a:avLst/>
          </a:prstGeom>
          <a:noFill/>
        </p:spPr>
        <p:txBody>
          <a:bodyPr wrap="square" anchor="t" lIns="0" rIns="0" tIns="0" bIns="0">
            <a:spAutoFit/>
          </a:bodyPr>
          <a:lstStyle/>
          <a:p>
            <a:pPr algn="l"/>
            <a:r>
              <a:rPr sz="860" b="0" i="0">
                <a:solidFill>
                  <a:srgbClr val="334155"/>
                </a:solidFill>
                <a:latin typeface="DM Sans"/>
              </a:rPr>
              <a:t>TOTEX path length, MVELO = TOTEX/T (primary), RDIST, PEA95 prediction ellipse, ASYM_LR / ASYM_AP</a:t>
            </a:r>
          </a:p>
        </p:txBody>
      </p:sp>
      <p:sp>
        <p:nvSpPr>
          <p:cNvPr id="42" name="Rounded Rectangle 41"/>
          <p:cNvSpPr/>
          <p:nvPr/>
        </p:nvSpPr>
        <p:spPr>
          <a:xfrm>
            <a:off x="6446520" y="3831336"/>
            <a:ext cx="5010912" cy="749808"/>
          </a:xfrm>
          <a:prstGeom prst="roundRect">
            <a:avLst>
              <a:gd name="adj" fmla="val 975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556248" y="3886200"/>
            <a:ext cx="4800600" cy="182880"/>
          </a:xfrm>
          <a:prstGeom prst="rect">
            <a:avLst/>
          </a:prstGeom>
          <a:noFill/>
        </p:spPr>
        <p:txBody>
          <a:bodyPr wrap="square" anchor="t" lIns="0" rIns="0" tIns="0" bIns="0">
            <a:spAutoFit/>
          </a:bodyPr>
          <a:lstStyle/>
          <a:p>
            <a:pPr algn="l"/>
            <a:r>
              <a:rPr sz="840" b="1" i="0">
                <a:solidFill>
                  <a:srgbClr val="047857"/>
                </a:solidFill>
                <a:latin typeface="Poppins"/>
              </a:rPr>
              <a:t>CORE 0 · housekeeping</a:t>
            </a:r>
          </a:p>
        </p:txBody>
      </p:sp>
      <p:sp>
        <p:nvSpPr>
          <p:cNvPr id="44" name="TextBox 43"/>
          <p:cNvSpPr txBox="1"/>
          <p:nvPr/>
        </p:nvSpPr>
        <p:spPr>
          <a:xfrm>
            <a:off x="6556248" y="4105656"/>
            <a:ext cx="4800600" cy="457200"/>
          </a:xfrm>
          <a:prstGeom prst="rect">
            <a:avLst/>
          </a:prstGeom>
          <a:noFill/>
        </p:spPr>
        <p:txBody>
          <a:bodyPr wrap="square" anchor="t" lIns="0" rIns="0" tIns="0" bIns="0">
            <a:spAutoFit/>
          </a:bodyPr>
          <a:lstStyle/>
          <a:p>
            <a:pPr algn="l"/>
            <a:r>
              <a:rPr sz="860" b="0" i="0">
                <a:solidFill>
                  <a:srgbClr val="334155"/>
                </a:solidFill>
                <a:latin typeface="DM Sans"/>
              </a:rPr>
              <a:t>JSON status at 10 Hz, serial CLI (rate, trial 30, dump), Wi-Fi dashboard, baseline kept in NVS; spinlock-guarded buffers</a:t>
            </a:r>
          </a:p>
        </p:txBody>
      </p:sp>
      <p:sp>
        <p:nvSpPr>
          <p:cNvPr id="45" name="Rounded Rectangle 44"/>
          <p:cNvSpPr/>
          <p:nvPr/>
        </p:nvSpPr>
        <p:spPr>
          <a:xfrm>
            <a:off x="6446520" y="4636008"/>
            <a:ext cx="5010912" cy="749808"/>
          </a:xfrm>
          <a:prstGeom prst="roundRect">
            <a:avLst>
              <a:gd name="adj" fmla="val 975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556248" y="4690872"/>
            <a:ext cx="4800600" cy="182880"/>
          </a:xfrm>
          <a:prstGeom prst="rect">
            <a:avLst/>
          </a:prstGeom>
          <a:noFill/>
        </p:spPr>
        <p:txBody>
          <a:bodyPr wrap="square" anchor="t" lIns="0" rIns="0" tIns="0" bIns="0">
            <a:spAutoFit/>
          </a:bodyPr>
          <a:lstStyle/>
          <a:p>
            <a:pPr algn="l"/>
            <a:r>
              <a:rPr sz="840" b="1" i="0">
                <a:solidFill>
                  <a:srgbClr val="047857"/>
                </a:solidFill>
                <a:latin typeface="Poppins"/>
              </a:rPr>
              <a:t>OFFLINE (official numbers)</a:t>
            </a:r>
          </a:p>
        </p:txBody>
      </p:sp>
      <p:sp>
        <p:nvSpPr>
          <p:cNvPr id="47" name="TextBox 46"/>
          <p:cNvSpPr txBox="1"/>
          <p:nvPr/>
        </p:nvSpPr>
        <p:spPr>
          <a:xfrm>
            <a:off x="6556248" y="4910328"/>
            <a:ext cx="4800600" cy="457200"/>
          </a:xfrm>
          <a:prstGeom prst="rect">
            <a:avLst/>
          </a:prstGeom>
          <a:noFill/>
        </p:spPr>
        <p:txBody>
          <a:bodyPr wrap="square" anchor="t" lIns="0" rIns="0" tIns="0" bIns="0">
            <a:spAutoFit/>
          </a:bodyPr>
          <a:lstStyle/>
          <a:p>
            <a:pPr algn="l"/>
            <a:r>
              <a:rPr sz="860" b="0" i="0">
                <a:solidFill>
                  <a:srgbClr val="334155"/>
                </a:solidFill>
                <a:latin typeface="DM Sans"/>
              </a:rPr>
              <a:t>4th-order zero-phase filtfilt, fc 10 Hz, in analyze_cop.py; 25-point affine grid fit in analyze_grid.py</a:t>
            </a:r>
          </a:p>
        </p:txBody>
      </p:sp>
      <p:pic>
        <p:nvPicPr>
          <p:cNvPr id="48" name="Picture 47" descr="image.png"/>
          <p:cNvPicPr>
            <a:picLocks noChangeAspect="1"/>
          </p:cNvPicPr>
          <p:nvPr/>
        </p:nvPicPr>
        <p:blipFill>
          <a:blip r:embed="rId5"/>
          <a:stretch>
            <a:fillRect/>
          </a:stretch>
        </p:blipFill>
        <p:spPr>
          <a:xfrm>
            <a:off x="530352" y="5669280"/>
            <a:ext cx="11128248" cy="365760"/>
          </a:xfrm>
          <a:prstGeom prst="rect">
            <a:avLst/>
          </a:prstGeom>
        </p:spPr>
      </p:pic>
      <p:sp>
        <p:nvSpPr>
          <p:cNvPr id="49" name="TextBox 48"/>
          <p:cNvSpPr txBox="1"/>
          <p:nvPr/>
        </p:nvSpPr>
        <p:spPr>
          <a:xfrm>
            <a:off x="694944" y="5687568"/>
            <a:ext cx="10835640" cy="329184"/>
          </a:xfrm>
          <a:prstGeom prst="rect">
            <a:avLst/>
          </a:prstGeom>
          <a:noFill/>
        </p:spPr>
        <p:txBody>
          <a:bodyPr wrap="square" anchor="ctr" lIns="0" rIns="0" tIns="0" bIns="0">
            <a:spAutoFit/>
          </a:bodyPr>
          <a:lstStyle/>
          <a:p>
            <a:pPr algn="l"/>
            <a:r>
              <a:rPr sz="940" b="1" i="0">
                <a:solidFill>
                  <a:srgbClr val="0F172A"/>
                </a:solidFill>
                <a:latin typeface="DM Sans"/>
              </a:rPr>
              <a:t>Why a prediction ellipse: </a:t>
            </a:r>
            <a:r>
              <a:rPr sz="940" b="0" i="0">
                <a:solidFill>
                  <a:srgbClr val="475569"/>
                </a:solidFill>
                <a:latin typeface="DM Sans"/>
              </a:rPr>
              <a:t>confidence ellipses shrink as 1/N, so longer recordings make a patient look more stable; the PEA95 is asymptotically independent of N (Schubert &amp; Kirchner, 2014).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rcRect l="14673" r="15820" t="33074" b="44466"/>
          <a:stretch>
            <a:fillRect/>
          </a:stretch>
        </p:blipFill>
        <p:spPr>
          <a:xfrm>
            <a:off x="0" y="6281013"/>
            <a:ext cx="1785823" cy="576986"/>
          </a:xfrm>
          <a:prstGeom prst="rect">
            <a:avLst/>
          </a:prstGeom>
        </p:spPr>
      </p:pic>
      <p:pic>
        <p:nvPicPr>
          <p:cNvPr id="4" name="Picture 3" descr="image.png"/>
          <p:cNvPicPr>
            <a:picLocks noChangeAspect="1"/>
          </p:cNvPicPr>
          <p:nvPr/>
        </p:nvPicPr>
        <p:blipFill>
          <a:blip r:embed="rId4"/>
          <a:stretch>
            <a:fillRect/>
          </a:stretch>
        </p:blipFill>
        <p:spPr>
          <a:xfrm>
            <a:off x="11095329" y="6281013"/>
            <a:ext cx="1096365" cy="576986"/>
          </a:xfrm>
          <a:prstGeom prst="rect">
            <a:avLst/>
          </a:prstGeom>
        </p:spPr>
      </p:pic>
      <p:sp>
        <p:nvSpPr>
          <p:cNvPr id="5" name="TextBox 4"/>
          <p:cNvSpPr txBox="1"/>
          <p:nvPr/>
        </p:nvSpPr>
        <p:spPr>
          <a:xfrm>
            <a:off x="530352" y="402336"/>
            <a:ext cx="8595360" cy="365760"/>
          </a:xfrm>
          <a:prstGeom prst="rect">
            <a:avLst/>
          </a:prstGeom>
          <a:noFill/>
        </p:spPr>
        <p:txBody>
          <a:bodyPr wrap="square" anchor="t" lIns="0" rIns="0" tIns="0" bIns="0">
            <a:spAutoFit/>
          </a:bodyPr>
          <a:lstStyle/>
          <a:p>
            <a:pPr algn="l"/>
            <a:r>
              <a:rPr sz="2025" b="1" i="0">
                <a:solidFill>
                  <a:srgbClr val="0F172A"/>
                </a:solidFill>
                <a:latin typeface="Poppins"/>
              </a:rPr>
              <a:t>CAD Design &amp; Mechanical Specs</a:t>
            </a:r>
          </a:p>
        </p:txBody>
      </p:sp>
      <p:sp>
        <p:nvSpPr>
          <p:cNvPr id="6" name="Rounded Rectangle 5"/>
          <p:cNvSpPr/>
          <p:nvPr/>
        </p:nvSpPr>
        <p:spPr>
          <a:xfrm>
            <a:off x="10378440" y="484632"/>
            <a:ext cx="1280160" cy="210312"/>
          </a:xfrm>
          <a:prstGeom prst="roundRect">
            <a:avLst>
              <a:gd name="adj" fmla="val 50000"/>
            </a:avLst>
          </a:prstGeom>
          <a:solidFill>
            <a:srgbClr val="DCFCE7"/>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378440" y="484632"/>
            <a:ext cx="1280160" cy="210312"/>
          </a:xfrm>
          <a:prstGeom prst="rect">
            <a:avLst/>
          </a:prstGeom>
          <a:noFill/>
        </p:spPr>
        <p:txBody>
          <a:bodyPr wrap="square" anchor="ctr" lIns="0" rIns="0" tIns="0" bIns="0">
            <a:spAutoFit/>
          </a:bodyPr>
          <a:lstStyle/>
          <a:p>
            <a:pPr algn="ctr"/>
            <a:r>
              <a:rPr sz="750" b="1" i="0">
                <a:solidFill>
                  <a:srgbClr val="047857"/>
                </a:solidFill>
                <a:latin typeface="Poppins"/>
              </a:rPr>
              <a:t>CAD DESIGN</a:t>
            </a:r>
          </a:p>
        </p:txBody>
      </p:sp>
      <p:sp>
        <p:nvSpPr>
          <p:cNvPr id="8" name="Rounded Rectangle 7"/>
          <p:cNvSpPr/>
          <p:nvPr/>
        </p:nvSpPr>
        <p:spPr>
          <a:xfrm>
            <a:off x="530352" y="960120"/>
            <a:ext cx="4160520" cy="4343400"/>
          </a:xfrm>
          <a:prstGeom prst="roundRect">
            <a:avLst>
              <a:gd name="adj" fmla="val 1318"/>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d_exploded.png"/>
          <p:cNvPicPr>
            <a:picLocks noChangeAspect="1"/>
          </p:cNvPicPr>
          <p:nvPr/>
        </p:nvPicPr>
        <p:blipFill>
          <a:blip r:embed="rId5"/>
          <a:stretch>
            <a:fillRect/>
          </a:stretch>
        </p:blipFill>
        <p:spPr>
          <a:xfrm>
            <a:off x="627247" y="1014984"/>
            <a:ext cx="3966728" cy="4233672"/>
          </a:xfrm>
          <a:prstGeom prst="rect">
            <a:avLst/>
          </a:prstGeom>
        </p:spPr>
      </p:pic>
      <p:sp>
        <p:nvSpPr>
          <p:cNvPr id="10" name="TextBox 9"/>
          <p:cNvSpPr txBox="1"/>
          <p:nvPr/>
        </p:nvSpPr>
        <p:spPr>
          <a:xfrm>
            <a:off x="530352" y="5340096"/>
            <a:ext cx="4160520" cy="182880"/>
          </a:xfrm>
          <a:prstGeom prst="rect">
            <a:avLst/>
          </a:prstGeom>
          <a:noFill/>
        </p:spPr>
        <p:txBody>
          <a:bodyPr wrap="square" anchor="t" lIns="0" rIns="0" tIns="0" bIns="0">
            <a:spAutoFit/>
          </a:bodyPr>
          <a:lstStyle/>
          <a:p>
            <a:pPr algn="r"/>
            <a:r>
              <a:rPr sz="860" b="0" i="1">
                <a:solidFill>
                  <a:srgbClr val="64748B"/>
                </a:solidFill>
                <a:latin typeface="DM Sans"/>
              </a:rPr>
              <a:t>Figure: FreeCAD exploded assembly</a:t>
            </a:r>
          </a:p>
        </p:txBody>
      </p:sp>
      <p:sp>
        <p:nvSpPr>
          <p:cNvPr id="11" name="Rounded Rectangle 10"/>
          <p:cNvSpPr/>
          <p:nvPr/>
        </p:nvSpPr>
        <p:spPr>
          <a:xfrm>
            <a:off x="4828032" y="960120"/>
            <a:ext cx="3154680" cy="2084831"/>
          </a:xfrm>
          <a:prstGeom prst="roundRect">
            <a:avLst>
              <a:gd name="adj" fmla="val 263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ad_iso.png"/>
          <p:cNvPicPr>
            <a:picLocks noChangeAspect="1"/>
          </p:cNvPicPr>
          <p:nvPr/>
        </p:nvPicPr>
        <p:blipFill>
          <a:blip r:embed="rId6"/>
          <a:stretch>
            <a:fillRect/>
          </a:stretch>
        </p:blipFill>
        <p:spPr>
          <a:xfrm>
            <a:off x="4904215" y="1014984"/>
            <a:ext cx="3002312" cy="1975103"/>
          </a:xfrm>
          <a:prstGeom prst="rect">
            <a:avLst/>
          </a:prstGeom>
        </p:spPr>
      </p:pic>
      <p:sp>
        <p:nvSpPr>
          <p:cNvPr id="13" name="TextBox 12"/>
          <p:cNvSpPr txBox="1"/>
          <p:nvPr/>
        </p:nvSpPr>
        <p:spPr>
          <a:xfrm>
            <a:off x="4828032" y="3072384"/>
            <a:ext cx="3154680" cy="182880"/>
          </a:xfrm>
          <a:prstGeom prst="rect">
            <a:avLst/>
          </a:prstGeom>
          <a:noFill/>
        </p:spPr>
        <p:txBody>
          <a:bodyPr wrap="square" anchor="t" lIns="0" rIns="0" tIns="0" bIns="0">
            <a:spAutoFit/>
          </a:bodyPr>
          <a:lstStyle/>
          <a:p>
            <a:pPr algn="r"/>
            <a:r>
              <a:rPr sz="860" b="0" i="1">
                <a:solidFill>
                  <a:srgbClr val="64748B"/>
                </a:solidFill>
                <a:latin typeface="DM Sans"/>
              </a:rPr>
              <a:t>Assembled, 25-point test grid on top</a:t>
            </a:r>
          </a:p>
        </p:txBody>
      </p:sp>
      <p:sp>
        <p:nvSpPr>
          <p:cNvPr id="14" name="Rounded Rectangle 13"/>
          <p:cNvSpPr/>
          <p:nvPr/>
        </p:nvSpPr>
        <p:spPr>
          <a:xfrm>
            <a:off x="4828032" y="3310128"/>
            <a:ext cx="3154680" cy="1993392"/>
          </a:xfrm>
          <a:prstGeom prst="roundRect">
            <a:avLst>
              <a:gd name="adj" fmla="val 275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ad_top_xray.png"/>
          <p:cNvPicPr>
            <a:picLocks noChangeAspect="1"/>
          </p:cNvPicPr>
          <p:nvPr/>
        </p:nvPicPr>
        <p:blipFill>
          <a:blip r:embed="rId7"/>
          <a:stretch>
            <a:fillRect/>
          </a:stretch>
        </p:blipFill>
        <p:spPr>
          <a:xfrm>
            <a:off x="5232480" y="3364992"/>
            <a:ext cx="2345783" cy="1883664"/>
          </a:xfrm>
          <a:prstGeom prst="rect">
            <a:avLst/>
          </a:prstGeom>
        </p:spPr>
      </p:pic>
      <p:sp>
        <p:nvSpPr>
          <p:cNvPr id="16" name="TextBox 15"/>
          <p:cNvSpPr txBox="1"/>
          <p:nvPr/>
        </p:nvSpPr>
        <p:spPr>
          <a:xfrm>
            <a:off x="4828032" y="5340096"/>
            <a:ext cx="3154680" cy="182880"/>
          </a:xfrm>
          <a:prstGeom prst="rect">
            <a:avLst/>
          </a:prstGeom>
          <a:noFill/>
        </p:spPr>
        <p:txBody>
          <a:bodyPr wrap="square" anchor="t" lIns="0" rIns="0" tIns="0" bIns="0">
            <a:spAutoFit/>
          </a:bodyPr>
          <a:lstStyle/>
          <a:p>
            <a:pPr algn="r"/>
            <a:r>
              <a:rPr sz="860" b="0" i="1">
                <a:solidFill>
                  <a:srgbClr val="64748B"/>
                </a:solidFill>
                <a:latin typeface="DM Sans"/>
              </a:rPr>
              <a:t>X-ray view: Z-mounted cells at corners</a:t>
            </a:r>
          </a:p>
        </p:txBody>
      </p:sp>
      <p:sp>
        <p:nvSpPr>
          <p:cNvPr id="17" name="Rounded Rectangle 16"/>
          <p:cNvSpPr/>
          <p:nvPr/>
        </p:nvSpPr>
        <p:spPr>
          <a:xfrm>
            <a:off x="8119872" y="960120"/>
            <a:ext cx="3538728" cy="4553712"/>
          </a:xfrm>
          <a:prstGeom prst="roundRect">
            <a:avLst>
              <a:gd name="adj" fmla="val 2067"/>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8302752" y="1133856"/>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522208" y="1078992"/>
            <a:ext cx="3072384" cy="237744"/>
          </a:xfrm>
          <a:prstGeom prst="rect">
            <a:avLst/>
          </a:prstGeom>
          <a:noFill/>
        </p:spPr>
        <p:txBody>
          <a:bodyPr wrap="square" anchor="t" lIns="0" rIns="0" tIns="0" bIns="0">
            <a:spAutoFit/>
          </a:bodyPr>
          <a:lstStyle/>
          <a:p>
            <a:pPr algn="l"/>
            <a:r>
              <a:rPr sz="1125" b="1" i="0">
                <a:solidFill>
                  <a:srgbClr val="0F172A"/>
                </a:solidFill>
                <a:latin typeface="DM Sans"/>
              </a:rPr>
              <a:t>Material Selection &amp; Mechanics</a:t>
            </a:r>
          </a:p>
        </p:txBody>
      </p:sp>
      <p:sp>
        <p:nvSpPr>
          <p:cNvPr id="20" name="TextBox 19"/>
          <p:cNvSpPr txBox="1"/>
          <p:nvPr/>
        </p:nvSpPr>
        <p:spPr>
          <a:xfrm>
            <a:off x="8302752" y="1417320"/>
            <a:ext cx="3246120" cy="4069080"/>
          </a:xfrm>
          <a:prstGeom prst="rect">
            <a:avLst/>
          </a:prstGeom>
          <a:noFill/>
        </p:spPr>
        <p:txBody>
          <a:bodyPr wrap="square" anchor="t" lIns="0" rIns="0" tIns="0" bIns="0">
            <a:spAutoFit/>
          </a:bodyPr>
          <a:lstStyle/>
          <a:p>
            <a:pPr marL="146304" indent="-146304">
              <a:lnSpc>
                <a:spcPct val="108000"/>
              </a:lnSpc>
              <a:spcAft>
                <a:spcPts val="500"/>
              </a:spcAft>
              <a:buClr>
                <a:srgbClr val="059669"/>
              </a:buClr>
              <a:buSzPct val="100000"/>
              <a:buFont typeface="Arial"/>
              <a:buChar char="▪"/>
            </a:pPr>
            <a:r>
              <a:rPr sz="919" b="1" i="0">
                <a:solidFill>
                  <a:srgbClr val="0F172A"/>
                </a:solidFill>
                <a:latin typeface="DM Sans"/>
              </a:rPr>
              <a:t>Top plate: </a:t>
            </a:r>
            <a:r>
              <a:rPr sz="919" b="0" i="0">
                <a:solidFill>
                  <a:srgbClr val="334155"/>
                </a:solidFill>
                <a:latin typeface="DM Sans"/>
              </a:rPr>
              <a:t>6 mm Al 6061-T6 tooling plate (yield 276 MPa): flat, stiff and light; 25-point grid and 400 mm scribe engraved for V6/V7.</a:t>
            </a:r>
          </a:p>
          <a:p>
            <a:pPr marL="146304" indent="-146304">
              <a:lnSpc>
                <a:spcPct val="108000"/>
              </a:lnSpc>
              <a:spcAft>
                <a:spcPts val="500"/>
              </a:spcAft>
              <a:buClr>
                <a:srgbClr val="059669"/>
              </a:buClr>
              <a:buSzPct val="100000"/>
              <a:buFont typeface="Arial"/>
              <a:buChar char="▪"/>
            </a:pPr>
            <a:r>
              <a:rPr sz="919" b="1" i="0">
                <a:solidFill>
                  <a:srgbClr val="0F172A"/>
                </a:solidFill>
                <a:latin typeface="DM Sans"/>
              </a:rPr>
              <a:t>Load path: </a:t>
            </a:r>
            <a:r>
              <a:rPr sz="919" b="0" i="0">
                <a:solidFill>
                  <a:srgbClr val="334155"/>
                </a:solidFill>
                <a:latin typeface="DM Sans"/>
              </a:rPr>
              <a:t>4× Phaeton 611E bars; loaded end under each corner at (±200, ±200) mm, fixed end inboard.</a:t>
            </a:r>
          </a:p>
          <a:p>
            <a:pPr marL="146304" indent="-146304">
              <a:lnSpc>
                <a:spcPct val="108000"/>
              </a:lnSpc>
              <a:spcAft>
                <a:spcPts val="500"/>
              </a:spcAft>
              <a:buClr>
                <a:srgbClr val="059669"/>
              </a:buClr>
              <a:buSzPct val="100000"/>
              <a:buFont typeface="Arial"/>
              <a:buChar char="▪"/>
            </a:pPr>
            <a:r>
              <a:rPr sz="919" b="1" i="0">
                <a:solidFill>
                  <a:srgbClr val="0F172A"/>
                </a:solidFill>
                <a:latin typeface="DM Sans"/>
              </a:rPr>
              <a:t>Z-mount: </a:t>
            </a:r>
            <a:r>
              <a:rPr sz="919" b="0" i="0">
                <a:solidFill>
                  <a:srgbClr val="334155"/>
                </a:solidFill>
                <a:latin typeface="DM Sans"/>
              </a:rPr>
              <a:t>3 mm ground-steel spacers above and below, so each beam deflects freely; M6 8.8 bolts at 8 N·m.</a:t>
            </a:r>
          </a:p>
          <a:p>
            <a:pPr marL="146304" indent="-146304">
              <a:lnSpc>
                <a:spcPct val="108000"/>
              </a:lnSpc>
              <a:spcAft>
                <a:spcPts val="500"/>
              </a:spcAft>
              <a:buClr>
                <a:srgbClr val="059669"/>
              </a:buClr>
              <a:buSzPct val="100000"/>
              <a:buFont typeface="Arial"/>
              <a:buChar char="▪"/>
            </a:pPr>
            <a:r>
              <a:rPr sz="919" b="1" i="0">
                <a:solidFill>
                  <a:srgbClr val="0F172A"/>
                </a:solidFill>
                <a:latin typeface="DM Sans"/>
              </a:rPr>
              <a:t>Base: </a:t>
            </a:r>
            <a:r>
              <a:rPr sz="919" b="0" i="0">
                <a:solidFill>
                  <a:srgbClr val="334155"/>
                </a:solidFill>
                <a:latin typeface="DM Sans"/>
              </a:rPr>
              <a:t>12 mm marine plywood on four M8 rubber levelling feet; electronics and battery sit in the 28 mm cavity.</a:t>
            </a:r>
          </a:p>
          <a:p>
            <a:pPr marL="146304" indent="-146304">
              <a:lnSpc>
                <a:spcPct val="108000"/>
              </a:lnSpc>
              <a:spcAft>
                <a:spcPts val="500"/>
              </a:spcAft>
              <a:buClr>
                <a:srgbClr val="059669"/>
              </a:buClr>
              <a:buSzPct val="100000"/>
              <a:buFont typeface="Arial"/>
              <a:buChar char="▪"/>
            </a:pPr>
            <a:r>
              <a:rPr sz="919" b="1" i="0">
                <a:solidFill>
                  <a:srgbClr val="0F172A"/>
                </a:solidFill>
                <a:latin typeface="DM Sans"/>
              </a:rPr>
              <a:t>Levelling: </a:t>
            </a:r>
            <a:r>
              <a:rPr sz="919" b="0" i="0">
                <a:solidFill>
                  <a:srgbClr val="334155"/>
                </a:solidFill>
                <a:latin typeface="DM Sans"/>
              </a:rPr>
              <a:t>shims hold support heights within 0.2 mm (four supports are statically indeterminate).</a:t>
            </a:r>
          </a:p>
          <a:p>
            <a:pPr marL="146304" indent="-146304">
              <a:lnSpc>
                <a:spcPct val="108000"/>
              </a:lnSpc>
              <a:spcAft>
                <a:spcPts val="500"/>
              </a:spcAft>
              <a:buClr>
                <a:srgbClr val="059669"/>
              </a:buClr>
              <a:buSzPct val="100000"/>
              <a:buFont typeface="Arial"/>
              <a:buChar char="▪"/>
            </a:pPr>
            <a:r>
              <a:rPr sz="919" b="1" i="0">
                <a:solidFill>
                  <a:srgbClr val="0F172A"/>
                </a:solidFill>
                <a:latin typeface="DM Sans"/>
              </a:rPr>
              <a:t>Capacity: </a:t>
            </a:r>
            <a:r>
              <a:rPr sz="919" b="0" i="0">
                <a:solidFill>
                  <a:srgbClr val="334155"/>
                </a:solidFill>
                <a:latin typeface="DM Sans"/>
              </a:rPr>
              <a:t>800 kg gross; safety factor &gt; 5.3 for a 150 kg participant. Step height 71 mm.</a:t>
            </a:r>
          </a:p>
          <a:p>
            <a:pPr marL="146304" indent="-146304">
              <a:lnSpc>
                <a:spcPct val="108000"/>
              </a:lnSpc>
              <a:spcAft>
                <a:spcPts val="500"/>
              </a:spcAft>
              <a:buClr>
                <a:srgbClr val="059669"/>
              </a:buClr>
              <a:buSzPct val="100000"/>
              <a:buFont typeface="Arial"/>
              <a:buChar char="▪"/>
            </a:pPr>
            <a:r>
              <a:rPr sz="919" b="1" i="0">
                <a:solidFill>
                  <a:srgbClr val="0F172A"/>
                </a:solidFill>
                <a:latin typeface="DM Sans"/>
              </a:rPr>
              <a:t>Portability: </a:t>
            </a:r>
            <a:r>
              <a:rPr sz="919" b="0" i="0">
                <a:solidFill>
                  <a:srgbClr val="334155"/>
                </a:solidFill>
                <a:latin typeface="DM Sans"/>
              </a:rPr>
              <a:t>the top plate weighs about 3.3 kg (6 mm Al), keeping the platform portable between clinics.</a:t>
            </a:r>
          </a:p>
        </p:txBody>
      </p:sp>
      <p:pic>
        <p:nvPicPr>
          <p:cNvPr id="21" name="Picture 20" descr="image.png"/>
          <p:cNvPicPr>
            <a:picLocks noChangeAspect="1"/>
          </p:cNvPicPr>
          <p:nvPr/>
        </p:nvPicPr>
        <p:blipFill>
          <a:blip r:embed="rId8"/>
          <a:stretch>
            <a:fillRect/>
          </a:stretch>
        </p:blipFill>
        <p:spPr>
          <a:xfrm>
            <a:off x="530352" y="5669280"/>
            <a:ext cx="11128248" cy="365760"/>
          </a:xfrm>
          <a:prstGeom prst="rect">
            <a:avLst/>
          </a:prstGeom>
        </p:spPr>
      </p:pic>
      <p:sp>
        <p:nvSpPr>
          <p:cNvPr id="22" name="TextBox 21"/>
          <p:cNvSpPr txBox="1"/>
          <p:nvPr/>
        </p:nvSpPr>
        <p:spPr>
          <a:xfrm>
            <a:off x="694944" y="5687568"/>
            <a:ext cx="10835640" cy="329184"/>
          </a:xfrm>
          <a:prstGeom prst="rect">
            <a:avLst/>
          </a:prstGeom>
          <a:noFill/>
        </p:spPr>
        <p:txBody>
          <a:bodyPr wrap="square" anchor="ctr" lIns="0" rIns="0" tIns="0" bIns="0">
            <a:spAutoFit/>
          </a:bodyPr>
          <a:lstStyle/>
          <a:p>
            <a:pPr algn="l"/>
            <a:r>
              <a:rPr sz="940" b="1" i="0">
                <a:solidFill>
                  <a:srgbClr val="0F172A"/>
                </a:solidFill>
                <a:latin typeface="DM Sans"/>
              </a:rPr>
              <a:t>Native files (hardware/cad in the repo): </a:t>
            </a:r>
            <a:r>
              <a:rPr sz="940" b="0" i="0">
                <a:solidFill>
                  <a:srgbClr val="475569"/>
                </a:solidFill>
                <a:latin typeface="DM Sans"/>
              </a:rPr>
              <a:t>EquiSense_ForcePlatform.FCStd + .step (FreeCAD 1.1): 44 solids: 2 plates, 4 load cells, 8 spacers, 16 M6 bolts, 4 feet, enclosure, battery pack, plus gauge seals and cable stubs.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rcRect l="14673" r="15820" t="33074" b="44466"/>
          <a:stretch>
            <a:fillRect/>
          </a:stretch>
        </p:blipFill>
        <p:spPr>
          <a:xfrm>
            <a:off x="0" y="6281013"/>
            <a:ext cx="1785823" cy="576986"/>
          </a:xfrm>
          <a:prstGeom prst="rect">
            <a:avLst/>
          </a:prstGeom>
        </p:spPr>
      </p:pic>
      <p:pic>
        <p:nvPicPr>
          <p:cNvPr id="4" name="Picture 3" descr="image.png"/>
          <p:cNvPicPr>
            <a:picLocks noChangeAspect="1"/>
          </p:cNvPicPr>
          <p:nvPr/>
        </p:nvPicPr>
        <p:blipFill>
          <a:blip r:embed="rId4"/>
          <a:stretch>
            <a:fillRect/>
          </a:stretch>
        </p:blipFill>
        <p:spPr>
          <a:xfrm>
            <a:off x="11095329" y="6281013"/>
            <a:ext cx="1096365" cy="576986"/>
          </a:xfrm>
          <a:prstGeom prst="rect">
            <a:avLst/>
          </a:prstGeom>
        </p:spPr>
      </p:pic>
      <p:sp>
        <p:nvSpPr>
          <p:cNvPr id="5" name="TextBox 4"/>
          <p:cNvSpPr txBox="1"/>
          <p:nvPr/>
        </p:nvSpPr>
        <p:spPr>
          <a:xfrm>
            <a:off x="530352" y="402336"/>
            <a:ext cx="8595360" cy="365760"/>
          </a:xfrm>
          <a:prstGeom prst="rect">
            <a:avLst/>
          </a:prstGeom>
          <a:noFill/>
        </p:spPr>
        <p:txBody>
          <a:bodyPr wrap="square" anchor="t" lIns="0" rIns="0" tIns="0" bIns="0">
            <a:spAutoFit/>
          </a:bodyPr>
          <a:lstStyle/>
          <a:p>
            <a:pPr algn="l"/>
            <a:r>
              <a:rPr sz="2025" b="1" i="0">
                <a:solidFill>
                  <a:srgbClr val="0F172A"/>
                </a:solidFill>
                <a:latin typeface="Poppins"/>
              </a:rPr>
              <a:t>FEA: Top-Plate Stress &amp; Deflection</a:t>
            </a:r>
          </a:p>
        </p:txBody>
      </p:sp>
      <p:sp>
        <p:nvSpPr>
          <p:cNvPr id="6" name="Rounded Rectangle 5"/>
          <p:cNvSpPr/>
          <p:nvPr/>
        </p:nvSpPr>
        <p:spPr>
          <a:xfrm>
            <a:off x="10378440" y="484632"/>
            <a:ext cx="1280160" cy="210312"/>
          </a:xfrm>
          <a:prstGeom prst="roundRect">
            <a:avLst>
              <a:gd name="adj" fmla="val 50000"/>
            </a:avLst>
          </a:prstGeom>
          <a:solidFill>
            <a:srgbClr val="DCFCE7"/>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378440" y="484632"/>
            <a:ext cx="1280160" cy="210312"/>
          </a:xfrm>
          <a:prstGeom prst="rect">
            <a:avLst/>
          </a:prstGeom>
          <a:noFill/>
        </p:spPr>
        <p:txBody>
          <a:bodyPr wrap="square" anchor="ctr" lIns="0" rIns="0" tIns="0" bIns="0">
            <a:spAutoFit/>
          </a:bodyPr>
          <a:lstStyle/>
          <a:p>
            <a:pPr algn="ctr"/>
            <a:r>
              <a:rPr sz="750" b="1" i="0">
                <a:solidFill>
                  <a:srgbClr val="047857"/>
                </a:solidFill>
                <a:latin typeface="Poppins"/>
              </a:rPr>
              <a:t>CAD DESIGN</a:t>
            </a:r>
          </a:p>
        </p:txBody>
      </p:sp>
      <p:sp>
        <p:nvSpPr>
          <p:cNvPr id="8" name="Rounded Rectangle 7"/>
          <p:cNvSpPr/>
          <p:nvPr/>
        </p:nvSpPr>
        <p:spPr>
          <a:xfrm>
            <a:off x="530352" y="960120"/>
            <a:ext cx="6903720" cy="3246120"/>
          </a:xfrm>
          <a:prstGeom prst="roundRect">
            <a:avLst>
              <a:gd name="adj" fmla="val 169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fea_plot.png"/>
          <p:cNvPicPr>
            <a:picLocks noChangeAspect="1"/>
          </p:cNvPicPr>
          <p:nvPr/>
        </p:nvPicPr>
        <p:blipFill>
          <a:blip r:embed="rId5"/>
          <a:stretch>
            <a:fillRect/>
          </a:stretch>
        </p:blipFill>
        <p:spPr>
          <a:xfrm>
            <a:off x="585216" y="1054531"/>
            <a:ext cx="6793992" cy="3057296"/>
          </a:xfrm>
          <a:prstGeom prst="rect">
            <a:avLst/>
          </a:prstGeom>
        </p:spPr>
      </p:pic>
      <p:sp>
        <p:nvSpPr>
          <p:cNvPr id="10" name="TextBox 9"/>
          <p:cNvSpPr txBox="1"/>
          <p:nvPr/>
        </p:nvSpPr>
        <p:spPr>
          <a:xfrm>
            <a:off x="530352" y="4233672"/>
            <a:ext cx="6903720" cy="182880"/>
          </a:xfrm>
          <a:prstGeom prst="rect">
            <a:avLst/>
          </a:prstGeom>
          <a:noFill/>
        </p:spPr>
        <p:txBody>
          <a:bodyPr wrap="square" anchor="t" lIns="0" rIns="0" tIns="0" bIns="0">
            <a:spAutoFit/>
          </a:bodyPr>
          <a:lstStyle/>
          <a:p>
            <a:pPr algn="r"/>
            <a:r>
              <a:rPr sz="860" b="0" i="1">
                <a:solidFill>
                  <a:srgbClr val="64748B"/>
                </a:solidFill>
                <a:latin typeface="DM Sans"/>
              </a:rPr>
              <a:t>Figure: CalculiX linear-static result, 6 mm plate, 2,943 N on two foot pads (supports white, feet dashed)</a:t>
            </a:r>
          </a:p>
        </p:txBody>
      </p:sp>
      <p:graphicFrame>
        <p:nvGraphicFramePr>
          <p:cNvPr id="11" name="Table 10"/>
          <p:cNvGraphicFramePr>
            <a:graphicFrameLocks noGrp="1"/>
          </p:cNvGraphicFramePr>
          <p:nvPr/>
        </p:nvGraphicFramePr>
        <p:xfrm>
          <a:off x="530352" y="4526280"/>
          <a:ext cx="6903719" cy="914400"/>
        </p:xfrm>
        <a:graphic>
          <a:graphicData uri="http://schemas.openxmlformats.org/drawingml/2006/table">
            <a:tbl>
              <a:tblPr firstRow="0" bandRow="0">
                <a:tableStyleId>{5940675A-B579-460E-94D1-54222C63F5DA}</a:tableStyleId>
              </a:tblPr>
              <a:tblGrid>
                <a:gridCol w="2425631"/>
                <a:gridCol w="2239044"/>
                <a:gridCol w="2239044"/>
              </a:tblGrid>
              <a:tr h="228600">
                <a:tc>
                  <a:txBody>
                    <a:bodyPr wrap="square"/>
                    <a:lstStyle/>
                    <a:p>
                      <a:r>
                        <a:rPr sz="860" b="1" i="0">
                          <a:solidFill>
                            <a:srgbClr val="0F172A"/>
                          </a:solidFill>
                          <a:latin typeface="DM Sans"/>
                        </a:rPr>
                        <a:t>Result (2 × 150 kg load)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860" b="1" i="0">
                          <a:solidFill>
                            <a:srgbClr val="0F172A"/>
                          </a:solidFill>
                          <a:latin typeface="DM Sans"/>
                        </a:rPr>
                        <a:t>6 mm plate (baseline)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860" b="1" i="0">
                          <a:solidFill>
                            <a:srgbClr val="0F172A"/>
                          </a:solidFill>
                          <a:latin typeface="DM Sans"/>
                        </a:rPr>
                        <a:t>10 mm plate (option)</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r>
              <a:tr h="228600">
                <a:tc>
                  <a:txBody>
                    <a:bodyPr wrap="square"/>
                    <a:lstStyle/>
                    <a:p>
                      <a:r>
                        <a:rPr sz="860" b="0" i="0">
                          <a:solidFill>
                            <a:srgbClr val="334155"/>
                          </a:solidFill>
                          <a:latin typeface="DM Sans"/>
                        </a:rPr>
                        <a:t>Max deflection</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2.56 mm</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0.61 mm</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28600">
                <a:tc>
                  <a:txBody>
                    <a:bodyPr wrap="square"/>
                    <a:lstStyle/>
                    <a:p>
                      <a:r>
                        <a:rPr sz="860" b="0" i="0">
                          <a:solidFill>
                            <a:srgbClr val="334155"/>
                          </a:solidFill>
                          <a:latin typeface="DM Sans"/>
                        </a:rPr>
                        <a:t>Field stress &gt; 40 mm from supports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56 MPa → FoS 4.9</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21 MPa → FoS 13</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28600">
                <a:tc>
                  <a:txBody>
                    <a:bodyPr wrap="square"/>
                    <a:lstStyle/>
                    <a:p>
                      <a:r>
                        <a:rPr sz="860" b="0" i="0">
                          <a:solidFill>
                            <a:srgbClr val="334155"/>
                          </a:solidFill>
                          <a:latin typeface="DM Sans"/>
                        </a:rPr>
                        <a:t>Peak at spacer edge (singular)</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276 MPa</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120 MPa</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bl>
          </a:graphicData>
        </a:graphic>
      </p:graphicFrame>
      <p:sp>
        <p:nvSpPr>
          <p:cNvPr id="12" name="Rounded Rectangle 11"/>
          <p:cNvSpPr/>
          <p:nvPr/>
        </p:nvSpPr>
        <p:spPr>
          <a:xfrm>
            <a:off x="7616952" y="960120"/>
            <a:ext cx="4041648" cy="4553712"/>
          </a:xfrm>
          <a:prstGeom prst="roundRect">
            <a:avLst>
              <a:gd name="adj" fmla="val 1809"/>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7818120" y="1133856"/>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37576" y="1078992"/>
            <a:ext cx="3529583" cy="237744"/>
          </a:xfrm>
          <a:prstGeom prst="rect">
            <a:avLst/>
          </a:prstGeom>
          <a:noFill/>
        </p:spPr>
        <p:txBody>
          <a:bodyPr wrap="square" anchor="t" lIns="0" rIns="0" tIns="0" bIns="0">
            <a:spAutoFit/>
          </a:bodyPr>
          <a:lstStyle/>
          <a:p>
            <a:pPr algn="l"/>
            <a:r>
              <a:rPr sz="1125" b="1" i="0">
                <a:solidFill>
                  <a:srgbClr val="0F172A"/>
                </a:solidFill>
                <a:latin typeface="DM Sans"/>
              </a:rPr>
              <a:t>FEA Stress Report</a:t>
            </a:r>
          </a:p>
        </p:txBody>
      </p:sp>
      <p:sp>
        <p:nvSpPr>
          <p:cNvPr id="15" name="TextBox 14"/>
          <p:cNvSpPr txBox="1"/>
          <p:nvPr/>
        </p:nvSpPr>
        <p:spPr>
          <a:xfrm>
            <a:off x="7818120" y="1417320"/>
            <a:ext cx="3703320" cy="4069080"/>
          </a:xfrm>
          <a:prstGeom prst="rect">
            <a:avLst/>
          </a:prstGeom>
          <a:noFill/>
        </p:spPr>
        <p:txBody>
          <a:bodyPr wrap="square" anchor="t" lIns="0" rIns="0" tIns="0" bIns="0">
            <a:spAutoFit/>
          </a:bodyPr>
          <a:lstStyle/>
          <a:p>
            <a:pPr marL="146304" indent="-146304">
              <a:lnSpc>
                <a:spcPct val="108000"/>
              </a:lnSpc>
              <a:spcAft>
                <a:spcPts val="400"/>
              </a:spcAft>
              <a:buClr>
                <a:srgbClr val="059669"/>
              </a:buClr>
              <a:buSzPct val="100000"/>
              <a:buFont typeface="Arial"/>
              <a:buChar char="▪"/>
            </a:pPr>
            <a:r>
              <a:rPr sz="900" b="1" i="0">
                <a:solidFill>
                  <a:srgbClr val="0F172A"/>
                </a:solidFill>
                <a:latin typeface="DM Sans"/>
              </a:rPr>
              <a:t>Model: </a:t>
            </a:r>
            <a:r>
              <a:rPr sz="900" b="0" i="0">
                <a:solidFill>
                  <a:srgbClr val="334155"/>
                </a:solidFill>
                <a:latin typeface="DM Sans"/>
              </a:rPr>
              <a:t>Al 6061-T6 plate (E 68.9 GPa, ν 0.33) fixed on four 24 × 30 mm spacer faces at (±200, ±200) mm.</a:t>
            </a:r>
          </a:p>
          <a:p>
            <a:pPr marL="146304" indent="-146304">
              <a:lnSpc>
                <a:spcPct val="108000"/>
              </a:lnSpc>
              <a:spcAft>
                <a:spcPts val="400"/>
              </a:spcAft>
              <a:buClr>
                <a:srgbClr val="059669"/>
              </a:buClr>
              <a:buSzPct val="100000"/>
              <a:buFont typeface="Arial"/>
              <a:buChar char="▪"/>
            </a:pPr>
            <a:r>
              <a:rPr sz="900" b="1" i="0">
                <a:solidFill>
                  <a:srgbClr val="0F172A"/>
                </a:solidFill>
                <a:latin typeface="DM Sans"/>
              </a:rPr>
              <a:t>Load case: </a:t>
            </a:r>
            <a:r>
              <a:rPr sz="900" b="0" i="0">
                <a:solidFill>
                  <a:srgbClr val="334155"/>
                </a:solidFill>
                <a:latin typeface="DM Sans"/>
              </a:rPr>
              <a:t>2 × 150 kg = 2,943 N for step-on impact, spread over two 100 × 250 mm foot pads at a 200 mm stance.</a:t>
            </a:r>
          </a:p>
          <a:p>
            <a:pPr marL="146304" indent="-146304">
              <a:lnSpc>
                <a:spcPct val="108000"/>
              </a:lnSpc>
              <a:spcAft>
                <a:spcPts val="400"/>
              </a:spcAft>
              <a:buClr>
                <a:srgbClr val="059669"/>
              </a:buClr>
              <a:buSzPct val="100000"/>
              <a:buFont typeface="Arial"/>
              <a:buChar char="▪"/>
            </a:pPr>
            <a:r>
              <a:rPr sz="900" b="1" i="0">
                <a:solidFill>
                  <a:srgbClr val="0F172A"/>
                </a:solidFill>
                <a:latin typeface="DM Sans"/>
              </a:rPr>
              <a:t>Mesh: </a:t>
            </a:r>
            <a:r>
              <a:rPr sz="900" b="0" i="0">
                <a:solidFill>
                  <a:srgbClr val="334155"/>
                </a:solidFill>
                <a:latin typeface="DM Sans"/>
              </a:rPr>
              <a:t>Gmsh 2nd-order tetrahedra, 56,502 nodes and 28,287 elements, 1–8 mm.</a:t>
            </a:r>
          </a:p>
          <a:p>
            <a:pPr marL="146304" indent="-146304">
              <a:lnSpc>
                <a:spcPct val="108000"/>
              </a:lnSpc>
              <a:spcAft>
                <a:spcPts val="400"/>
              </a:spcAft>
              <a:buClr>
                <a:srgbClr val="059669"/>
              </a:buClr>
              <a:buSzPct val="100000"/>
              <a:buFont typeface="Arial"/>
              <a:buChar char="▪"/>
            </a:pPr>
            <a:r>
              <a:rPr sz="900" b="1" i="0">
                <a:solidFill>
                  <a:srgbClr val="0F172A"/>
                </a:solidFill>
                <a:latin typeface="DM Sans"/>
              </a:rPr>
              <a:t>Stress: </a:t>
            </a:r>
            <a:r>
              <a:rPr sz="900" b="0" i="0">
                <a:solidFill>
                  <a:srgbClr val="334155"/>
                </a:solidFill>
                <a:latin typeface="DM Sans"/>
              </a:rPr>
              <a:t>Field stress stays ≤ 56 MPa (FoS 4.9). The 276 MPa peak is a sharp-corner singularity at the spacer edge, not a bulk failure.</a:t>
            </a:r>
          </a:p>
          <a:p>
            <a:pPr marL="146304" indent="-146304">
              <a:lnSpc>
                <a:spcPct val="108000"/>
              </a:lnSpc>
              <a:spcAft>
                <a:spcPts val="400"/>
              </a:spcAft>
              <a:buClr>
                <a:srgbClr val="059669"/>
              </a:buClr>
              <a:buSzPct val="100000"/>
              <a:buFont typeface="Arial"/>
              <a:buChar char="▪"/>
            </a:pPr>
            <a:r>
              <a:rPr sz="900" b="1" i="0">
                <a:solidFill>
                  <a:srgbClr val="0F172A"/>
                </a:solidFill>
                <a:latin typeface="DM Sans"/>
              </a:rPr>
              <a:t>Deflection: </a:t>
            </a:r>
            <a:r>
              <a:rPr sz="900" b="0" i="0">
                <a:solidFill>
                  <a:srgbClr val="334155"/>
                </a:solidFill>
                <a:latin typeface="DM Sans"/>
              </a:rPr>
              <a:t>2.56 mm at centre leaves only ~1.4 mm over the 24 mm electronics enclosure.</a:t>
            </a:r>
          </a:p>
          <a:p>
            <a:pPr marL="146304" indent="-146304">
              <a:lnSpc>
                <a:spcPct val="108000"/>
              </a:lnSpc>
              <a:spcAft>
                <a:spcPts val="400"/>
              </a:spcAft>
              <a:buClr>
                <a:srgbClr val="059669"/>
              </a:buClr>
              <a:buSzPct val="100000"/>
              <a:buFont typeface="Arial"/>
              <a:buChar char="▪"/>
            </a:pPr>
            <a:r>
              <a:rPr sz="900" b="1" i="0">
                <a:solidFill>
                  <a:srgbClr val="0F172A"/>
                </a:solidFill>
                <a:latin typeface="DM Sans"/>
              </a:rPr>
              <a:t>CoP effect: </a:t>
            </a:r>
            <a:r>
              <a:rPr sz="900" b="0" i="0">
                <a:solidFill>
                  <a:srgbClr val="334155"/>
                </a:solidFill>
                <a:latin typeface="DM Sans"/>
              </a:rPr>
              <a:t>Bending does not change the force balance; CoP stays a statics result as long as nothing touches the plate.</a:t>
            </a:r>
          </a:p>
          <a:p>
            <a:pPr marL="146304" indent="-146304">
              <a:lnSpc>
                <a:spcPct val="108000"/>
              </a:lnSpc>
              <a:spcAft>
                <a:spcPts val="400"/>
              </a:spcAft>
              <a:buClr>
                <a:srgbClr val="059669"/>
              </a:buClr>
              <a:buSzPct val="100000"/>
              <a:buFont typeface="Arial"/>
              <a:buChar char="▪"/>
            </a:pPr>
            <a:r>
              <a:rPr sz="900" b="1" i="0">
                <a:solidFill>
                  <a:srgbClr val="0F172A"/>
                </a:solidFill>
                <a:latin typeface="DM Sans"/>
              </a:rPr>
              <a:t>Comparison: </a:t>
            </a:r>
            <a:r>
              <a:rPr sz="900" b="0" i="0">
                <a:solidFill>
                  <a:srgbClr val="334155"/>
                </a:solidFill>
                <a:latin typeface="DM Sans"/>
              </a:rPr>
              <a:t>the 10 mm option was re-run with identical mesh settings (56,335 nodes) for a like-for-like check.</a:t>
            </a:r>
          </a:p>
        </p:txBody>
      </p:sp>
      <p:pic>
        <p:nvPicPr>
          <p:cNvPr id="16" name="Picture 15" descr="image.png"/>
          <p:cNvPicPr>
            <a:picLocks noChangeAspect="1"/>
          </p:cNvPicPr>
          <p:nvPr/>
        </p:nvPicPr>
        <p:blipFill>
          <a:blip r:embed="rId6"/>
          <a:stretch>
            <a:fillRect/>
          </a:stretch>
        </p:blipFill>
        <p:spPr>
          <a:xfrm>
            <a:off x="530352" y="5669280"/>
            <a:ext cx="11128248" cy="365760"/>
          </a:xfrm>
          <a:prstGeom prst="rect">
            <a:avLst/>
          </a:prstGeom>
        </p:spPr>
      </p:pic>
      <p:sp>
        <p:nvSpPr>
          <p:cNvPr id="17" name="TextBox 16"/>
          <p:cNvSpPr txBox="1"/>
          <p:nvPr/>
        </p:nvSpPr>
        <p:spPr>
          <a:xfrm>
            <a:off x="694944" y="5687568"/>
            <a:ext cx="10835640" cy="329184"/>
          </a:xfrm>
          <a:prstGeom prst="rect">
            <a:avLst/>
          </a:prstGeom>
          <a:noFill/>
        </p:spPr>
        <p:txBody>
          <a:bodyPr wrap="square" anchor="ctr" lIns="0" rIns="0" tIns="0" bIns="0">
            <a:spAutoFit/>
          </a:bodyPr>
          <a:lstStyle/>
          <a:p>
            <a:pPr algn="l"/>
            <a:r>
              <a:rPr sz="940" b="1" i="0">
                <a:solidFill>
                  <a:srgbClr val="0F172A"/>
                </a:solidFill>
                <a:latin typeface="DM Sans"/>
              </a:rPr>
              <a:t>Design Iteration: </a:t>
            </a:r>
            <a:r>
              <a:rPr sz="940" b="0" i="0">
                <a:solidFill>
                  <a:srgbClr val="475569"/>
                </a:solidFill>
                <a:latin typeface="DM Sans"/>
              </a:rPr>
              <a:t>radius the spacer edges and cap the enclosure at 20 mm (≥ 5 mm clearance). A 10 mm plate cuts sag by 76% and is the upgrade path if V6 grid residuals exceed 3 mm.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rcRect l="14673" r="15820" t="33074" b="44466"/>
          <a:stretch>
            <a:fillRect/>
          </a:stretch>
        </p:blipFill>
        <p:spPr>
          <a:xfrm>
            <a:off x="0" y="6281013"/>
            <a:ext cx="1785823" cy="576986"/>
          </a:xfrm>
          <a:prstGeom prst="rect">
            <a:avLst/>
          </a:prstGeom>
        </p:spPr>
      </p:pic>
      <p:pic>
        <p:nvPicPr>
          <p:cNvPr id="4" name="Picture 3" descr="image.png"/>
          <p:cNvPicPr>
            <a:picLocks noChangeAspect="1"/>
          </p:cNvPicPr>
          <p:nvPr/>
        </p:nvPicPr>
        <p:blipFill>
          <a:blip r:embed="rId4"/>
          <a:stretch>
            <a:fillRect/>
          </a:stretch>
        </p:blipFill>
        <p:spPr>
          <a:xfrm>
            <a:off x="11095329" y="6281013"/>
            <a:ext cx="1096365" cy="576986"/>
          </a:xfrm>
          <a:prstGeom prst="rect">
            <a:avLst/>
          </a:prstGeom>
        </p:spPr>
      </p:pic>
      <p:sp>
        <p:nvSpPr>
          <p:cNvPr id="5" name="TextBox 4"/>
          <p:cNvSpPr txBox="1"/>
          <p:nvPr/>
        </p:nvSpPr>
        <p:spPr>
          <a:xfrm>
            <a:off x="530352" y="402336"/>
            <a:ext cx="8595360" cy="365760"/>
          </a:xfrm>
          <a:prstGeom prst="rect">
            <a:avLst/>
          </a:prstGeom>
          <a:noFill/>
        </p:spPr>
        <p:txBody>
          <a:bodyPr wrap="square" anchor="t" lIns="0" rIns="0" tIns="0" bIns="0">
            <a:spAutoFit/>
          </a:bodyPr>
          <a:lstStyle/>
          <a:p>
            <a:pPr algn="l"/>
            <a:r>
              <a:rPr sz="2025" b="1" i="0">
                <a:solidFill>
                  <a:srgbClr val="0F172A"/>
                </a:solidFill>
                <a:latin typeface="Poppins"/>
              </a:rPr>
              <a:t>Electronics Schematic (KiCad 10)</a:t>
            </a:r>
          </a:p>
        </p:txBody>
      </p:sp>
      <p:sp>
        <p:nvSpPr>
          <p:cNvPr id="6" name="Rounded Rectangle 5"/>
          <p:cNvSpPr/>
          <p:nvPr/>
        </p:nvSpPr>
        <p:spPr>
          <a:xfrm>
            <a:off x="10378440" y="484632"/>
            <a:ext cx="1280160" cy="210312"/>
          </a:xfrm>
          <a:prstGeom prst="roundRect">
            <a:avLst>
              <a:gd name="adj" fmla="val 50000"/>
            </a:avLst>
          </a:prstGeom>
          <a:solidFill>
            <a:srgbClr val="DCFCE7"/>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378440" y="484632"/>
            <a:ext cx="1280160" cy="210312"/>
          </a:xfrm>
          <a:prstGeom prst="rect">
            <a:avLst/>
          </a:prstGeom>
          <a:noFill/>
        </p:spPr>
        <p:txBody>
          <a:bodyPr wrap="square" anchor="ctr" lIns="0" rIns="0" tIns="0" bIns="0">
            <a:spAutoFit/>
          </a:bodyPr>
          <a:lstStyle/>
          <a:p>
            <a:pPr algn="ctr"/>
            <a:r>
              <a:rPr sz="750" b="1" i="0">
                <a:solidFill>
                  <a:srgbClr val="047857"/>
                </a:solidFill>
                <a:latin typeface="Poppins"/>
              </a:rPr>
              <a:t>ELECTRONICS</a:t>
            </a:r>
          </a:p>
        </p:txBody>
      </p:sp>
      <p:sp>
        <p:nvSpPr>
          <p:cNvPr id="8" name="Rounded Rectangle 7"/>
          <p:cNvSpPr/>
          <p:nvPr/>
        </p:nvSpPr>
        <p:spPr>
          <a:xfrm>
            <a:off x="530352" y="960120"/>
            <a:ext cx="3611880" cy="4343400"/>
          </a:xfrm>
          <a:prstGeom prst="roundRect">
            <a:avLst>
              <a:gd name="adj" fmla="val 1518"/>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sch_mcu.png"/>
          <p:cNvPicPr>
            <a:picLocks noChangeAspect="1"/>
          </p:cNvPicPr>
          <p:nvPr/>
        </p:nvPicPr>
        <p:blipFill>
          <a:blip r:embed="rId5"/>
          <a:stretch>
            <a:fillRect/>
          </a:stretch>
        </p:blipFill>
        <p:spPr>
          <a:xfrm>
            <a:off x="1312906" y="1014984"/>
            <a:ext cx="2046770" cy="4233672"/>
          </a:xfrm>
          <a:prstGeom prst="rect">
            <a:avLst/>
          </a:prstGeom>
        </p:spPr>
      </p:pic>
      <p:sp>
        <p:nvSpPr>
          <p:cNvPr id="10" name="TextBox 9"/>
          <p:cNvSpPr txBox="1"/>
          <p:nvPr/>
        </p:nvSpPr>
        <p:spPr>
          <a:xfrm>
            <a:off x="530352" y="5330952"/>
            <a:ext cx="3611880" cy="182880"/>
          </a:xfrm>
          <a:prstGeom prst="rect">
            <a:avLst/>
          </a:prstGeom>
          <a:noFill/>
        </p:spPr>
        <p:txBody>
          <a:bodyPr wrap="square" anchor="t" lIns="0" rIns="0" tIns="0" bIns="0">
            <a:spAutoFit/>
          </a:bodyPr>
          <a:lstStyle/>
          <a:p>
            <a:pPr algn="r"/>
            <a:r>
              <a:rPr sz="860" b="0" i="1">
                <a:solidFill>
                  <a:srgbClr val="64748B"/>
                </a:solidFill>
                <a:latin typeface="DM Sans"/>
              </a:rPr>
              <a:t>Power, ESP32 and haptic driver</a:t>
            </a:r>
          </a:p>
        </p:txBody>
      </p:sp>
      <p:sp>
        <p:nvSpPr>
          <p:cNvPr id="11" name="Rounded Rectangle 10"/>
          <p:cNvSpPr/>
          <p:nvPr/>
        </p:nvSpPr>
        <p:spPr>
          <a:xfrm>
            <a:off x="4251960" y="960120"/>
            <a:ext cx="3685032" cy="2834640"/>
          </a:xfrm>
          <a:prstGeom prst="roundRect">
            <a:avLst>
              <a:gd name="adj" fmla="val 193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ch_ch1.png"/>
          <p:cNvPicPr>
            <a:picLocks noChangeAspect="1"/>
          </p:cNvPicPr>
          <p:nvPr/>
        </p:nvPicPr>
        <p:blipFill>
          <a:blip r:embed="rId6"/>
          <a:stretch>
            <a:fillRect/>
          </a:stretch>
        </p:blipFill>
        <p:spPr>
          <a:xfrm>
            <a:off x="4423715" y="1014984"/>
            <a:ext cx="3341520" cy="2724912"/>
          </a:xfrm>
          <a:prstGeom prst="rect">
            <a:avLst/>
          </a:prstGeom>
        </p:spPr>
      </p:pic>
      <p:sp>
        <p:nvSpPr>
          <p:cNvPr id="13" name="TextBox 12"/>
          <p:cNvSpPr txBox="1"/>
          <p:nvPr/>
        </p:nvSpPr>
        <p:spPr>
          <a:xfrm>
            <a:off x="4251960" y="3822191"/>
            <a:ext cx="3685032" cy="182880"/>
          </a:xfrm>
          <a:prstGeom prst="rect">
            <a:avLst/>
          </a:prstGeom>
          <a:noFill/>
        </p:spPr>
        <p:txBody>
          <a:bodyPr wrap="square" anchor="t" lIns="0" rIns="0" tIns="0" bIns="0">
            <a:spAutoFit/>
          </a:bodyPr>
          <a:lstStyle/>
          <a:p>
            <a:pPr algn="r"/>
            <a:r>
              <a:rPr sz="860" b="0" i="1">
                <a:solidFill>
                  <a:srgbClr val="64748B"/>
                </a:solidFill>
                <a:latin typeface="DM Sans"/>
              </a:rPr>
              <a:t>HX711 channel 1 of 4 (FL)</a:t>
            </a:r>
          </a:p>
        </p:txBody>
      </p:sp>
      <p:sp>
        <p:nvSpPr>
          <p:cNvPr id="14" name="Rounded Rectangle 13"/>
          <p:cNvSpPr/>
          <p:nvPr/>
        </p:nvSpPr>
        <p:spPr>
          <a:xfrm>
            <a:off x="4251960" y="4069080"/>
            <a:ext cx="3685032" cy="1234440"/>
          </a:xfrm>
          <a:prstGeom prst="roundRect">
            <a:avLst>
              <a:gd name="adj" fmla="val 444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ch_slide.png"/>
          <p:cNvPicPr>
            <a:picLocks noChangeAspect="1"/>
          </p:cNvPicPr>
          <p:nvPr/>
        </p:nvPicPr>
        <p:blipFill>
          <a:blip r:embed="rId7"/>
          <a:stretch>
            <a:fillRect/>
          </a:stretch>
        </p:blipFill>
        <p:spPr>
          <a:xfrm>
            <a:off x="5178328" y="4123944"/>
            <a:ext cx="1832294" cy="1124712"/>
          </a:xfrm>
          <a:prstGeom prst="rect">
            <a:avLst/>
          </a:prstGeom>
        </p:spPr>
      </p:pic>
      <p:sp>
        <p:nvSpPr>
          <p:cNvPr id="16" name="TextBox 15"/>
          <p:cNvSpPr txBox="1"/>
          <p:nvPr/>
        </p:nvSpPr>
        <p:spPr>
          <a:xfrm>
            <a:off x="4251960" y="5330952"/>
            <a:ext cx="3685032" cy="182880"/>
          </a:xfrm>
          <a:prstGeom prst="rect">
            <a:avLst/>
          </a:prstGeom>
          <a:noFill/>
        </p:spPr>
        <p:txBody>
          <a:bodyPr wrap="square" anchor="t" lIns="0" rIns="0" tIns="0" bIns="0">
            <a:spAutoFit/>
          </a:bodyPr>
          <a:lstStyle/>
          <a:p>
            <a:pPr algn="r"/>
            <a:r>
              <a:rPr sz="860" b="0" i="1">
                <a:solidFill>
                  <a:srgbClr val="64748B"/>
                </a:solidFill>
                <a:latin typeface="DM Sans"/>
              </a:rPr>
              <a:t>Full A3 sheet: EquiSense_schematic.pdf</a:t>
            </a:r>
          </a:p>
        </p:txBody>
      </p:sp>
      <p:sp>
        <p:nvSpPr>
          <p:cNvPr id="17" name="Rounded Rectangle 16"/>
          <p:cNvSpPr/>
          <p:nvPr/>
        </p:nvSpPr>
        <p:spPr>
          <a:xfrm>
            <a:off x="8074152" y="960120"/>
            <a:ext cx="3584448" cy="4553712"/>
          </a:xfrm>
          <a:prstGeom prst="roundRect">
            <a:avLst>
              <a:gd name="adj" fmla="val 204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8257031" y="1133856"/>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476488" y="1078992"/>
            <a:ext cx="3072384" cy="237744"/>
          </a:xfrm>
          <a:prstGeom prst="rect">
            <a:avLst/>
          </a:prstGeom>
          <a:noFill/>
        </p:spPr>
        <p:txBody>
          <a:bodyPr wrap="square" anchor="t" lIns="0" rIns="0" tIns="0" bIns="0">
            <a:spAutoFit/>
          </a:bodyPr>
          <a:lstStyle/>
          <a:p>
            <a:pPr algn="l"/>
            <a:r>
              <a:rPr sz="1125" b="1" i="0">
                <a:solidFill>
                  <a:srgbClr val="0F172A"/>
                </a:solidFill>
                <a:latin typeface="DM Sans"/>
              </a:rPr>
              <a:t>ESP32 Pin Map &amp; Power</a:t>
            </a:r>
          </a:p>
        </p:txBody>
      </p:sp>
      <p:graphicFrame>
        <p:nvGraphicFramePr>
          <p:cNvPr id="20" name="Table 19"/>
          <p:cNvGraphicFramePr>
            <a:graphicFrameLocks noGrp="1"/>
          </p:cNvGraphicFramePr>
          <p:nvPr/>
        </p:nvGraphicFramePr>
        <p:xfrm>
          <a:off x="8257031" y="1417320"/>
          <a:ext cx="3218686" cy="1828800"/>
        </p:xfrm>
        <a:graphic>
          <a:graphicData uri="http://schemas.openxmlformats.org/drawingml/2006/table">
            <a:tbl>
              <a:tblPr firstRow="0" bandRow="0">
                <a:tableStyleId>{5940675A-B579-460E-94D1-54222C63F5DA}</a:tableStyleId>
              </a:tblPr>
              <a:tblGrid>
                <a:gridCol w="1241493"/>
                <a:gridCol w="459812"/>
                <a:gridCol w="1517381"/>
              </a:tblGrid>
              <a:tr h="228600">
                <a:tc>
                  <a:txBody>
                    <a:bodyPr wrap="square"/>
                    <a:lstStyle/>
                    <a:p>
                      <a:r>
                        <a:rPr sz="819" b="1" i="0">
                          <a:solidFill>
                            <a:srgbClr val="0F172A"/>
                          </a:solidFill>
                          <a:latin typeface="DM Sans"/>
                        </a:rPr>
                        <a:t>Signal</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819" b="1" i="0">
                          <a:solidFill>
                            <a:srgbClr val="0F172A"/>
                          </a:solidFill>
                          <a:latin typeface="DM Sans"/>
                        </a:rPr>
                        <a:t>GPIO</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819" b="1" i="0">
                          <a:solidFill>
                            <a:srgbClr val="0F172A"/>
                          </a:solidFill>
                          <a:latin typeface="DM Sans"/>
                        </a:rPr>
                        <a:t>Notes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r>
              <a:tr h="228600">
                <a:tc>
                  <a:txBody>
                    <a:bodyPr wrap="square"/>
                    <a:lstStyle/>
                    <a:p>
                      <a:r>
                        <a:rPr sz="819" b="0" i="0">
                          <a:solidFill>
                            <a:srgbClr val="334155"/>
                          </a:solidFill>
                          <a:latin typeface="DM Sans"/>
                        </a:rPr>
                        <a:t>PD_SCK (shared)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27</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Clock to all 4 HX711</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28600">
                <a:tc>
                  <a:txBody>
                    <a:bodyPr wrap="square"/>
                    <a:lstStyle/>
                    <a:p>
                      <a:r>
                        <a:rPr sz="819" b="0" i="0">
                          <a:solidFill>
                            <a:srgbClr val="334155"/>
                          </a:solidFill>
                          <a:latin typeface="DM Sans"/>
                        </a:rPr>
                        <a:t>DT_FL</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32</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Front-left data</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28600">
                <a:tc>
                  <a:txBody>
                    <a:bodyPr wrap="square"/>
                    <a:lstStyle/>
                    <a:p>
                      <a:r>
                        <a:rPr sz="819" b="0" i="0">
                          <a:solidFill>
                            <a:srgbClr val="334155"/>
                          </a:solidFill>
                          <a:latin typeface="DM Sans"/>
                        </a:rPr>
                        <a:t>DT_FR</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33</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Front-right data</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28600">
                <a:tc>
                  <a:txBody>
                    <a:bodyPr wrap="square"/>
                    <a:lstStyle/>
                    <a:p>
                      <a:r>
                        <a:rPr sz="819" b="0" i="0">
                          <a:solidFill>
                            <a:srgbClr val="334155"/>
                          </a:solidFill>
                          <a:latin typeface="DM Sans"/>
                        </a:rPr>
                        <a:t>DT_BL</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25</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Back-left data</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28600">
                <a:tc>
                  <a:txBody>
                    <a:bodyPr wrap="square"/>
                    <a:lstStyle/>
                    <a:p>
                      <a:r>
                        <a:rPr sz="819" b="0" i="0">
                          <a:solidFill>
                            <a:srgbClr val="334155"/>
                          </a:solidFill>
                          <a:latin typeface="DM Sans"/>
                        </a:rPr>
                        <a:t>DT_BR</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26</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Back-right data</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28600">
                <a:tc>
                  <a:txBody>
                    <a:bodyPr wrap="square"/>
                    <a:lstStyle/>
                    <a:p>
                      <a:r>
                        <a:rPr sz="819" b="0" i="0">
                          <a:solidFill>
                            <a:srgbClr val="334155"/>
                          </a:solidFill>
                          <a:latin typeface="DM Sans"/>
                        </a:rPr>
                        <a:t>HAPTIC_PWM</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14</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AO3400A + 1N4007</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28600">
                <a:tc>
                  <a:txBody>
                    <a:bodyPr wrap="square"/>
                    <a:lstStyle/>
                    <a:p>
                      <a:r>
                        <a:rPr sz="819" b="0" i="0">
                          <a:solidFill>
                            <a:srgbClr val="334155"/>
                          </a:solidFill>
                          <a:latin typeface="DM Sans"/>
                        </a:rPr>
                        <a:t>STATUS LED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2</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19" b="0" i="0">
                          <a:solidFill>
                            <a:srgbClr val="334155"/>
                          </a:solidFill>
                          <a:latin typeface="DM Sans"/>
                        </a:rPr>
                        <a:t>Self-test / errors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bl>
          </a:graphicData>
        </a:graphic>
      </p:graphicFrame>
      <p:sp>
        <p:nvSpPr>
          <p:cNvPr id="21" name="TextBox 20"/>
          <p:cNvSpPr txBox="1"/>
          <p:nvPr/>
        </p:nvSpPr>
        <p:spPr>
          <a:xfrm>
            <a:off x="8257031" y="3337560"/>
            <a:ext cx="3246120" cy="2148840"/>
          </a:xfrm>
          <a:prstGeom prst="rect">
            <a:avLst/>
          </a:prstGeom>
          <a:noFill/>
        </p:spPr>
        <p:txBody>
          <a:bodyPr wrap="square" anchor="t" lIns="0" rIns="0" tIns="0" bIns="0">
            <a:spAutoFit/>
          </a:bodyPr>
          <a:lstStyle/>
          <a:p>
            <a:pPr marL="146304" indent="-146304">
              <a:lnSpc>
                <a:spcPct val="108000"/>
              </a:lnSpc>
              <a:spcAft>
                <a:spcPts val="300"/>
              </a:spcAft>
              <a:buClr>
                <a:srgbClr val="059669"/>
              </a:buClr>
              <a:buSzPct val="100000"/>
              <a:buFont typeface="Arial"/>
              <a:buChar char="▪"/>
            </a:pPr>
            <a:r>
              <a:rPr sz="860" b="1" i="0">
                <a:solidFill>
                  <a:srgbClr val="0F172A"/>
                </a:solidFill>
                <a:latin typeface="DM Sans"/>
              </a:rPr>
              <a:t>AVDD: </a:t>
            </a:r>
            <a:r>
              <a:rPr sz="860" b="0" i="0">
                <a:solidFill>
                  <a:srgbClr val="334155"/>
                </a:solidFill>
                <a:latin typeface="DM Sans"/>
              </a:rPr>
              <a:t>1.25 V × (1 + 20k/8.2k) = 4.30 V per channel via S8550; bridge E+ = AVDD.</a:t>
            </a:r>
          </a:p>
          <a:p>
            <a:pPr marL="146304" indent="-146304">
              <a:lnSpc>
                <a:spcPct val="108000"/>
              </a:lnSpc>
              <a:spcAft>
                <a:spcPts val="300"/>
              </a:spcAft>
              <a:buClr>
                <a:srgbClr val="059669"/>
              </a:buClr>
              <a:buSzPct val="100000"/>
              <a:buFont typeface="Arial"/>
              <a:buChar char="▪"/>
            </a:pPr>
            <a:r>
              <a:rPr sz="860" b="1" i="0">
                <a:solidFill>
                  <a:srgbClr val="0F172A"/>
                </a:solidFill>
                <a:latin typeface="DM Sans"/>
              </a:rPr>
              <a:t>Bridge: </a:t>
            </a:r>
            <a:r>
              <a:rPr sz="860" b="0" i="0">
                <a:solidFill>
                  <a:srgbClr val="334155"/>
                </a:solidFill>
                <a:latin typeface="DM Sans"/>
              </a:rPr>
              <a:t>Red E+, Black E−, White A−, Green A+; Channel B unused (NC).</a:t>
            </a:r>
          </a:p>
          <a:p>
            <a:pPr marL="146304" indent="-146304">
              <a:lnSpc>
                <a:spcPct val="108000"/>
              </a:lnSpc>
              <a:spcAft>
                <a:spcPts val="300"/>
              </a:spcAft>
              <a:buClr>
                <a:srgbClr val="059669"/>
              </a:buClr>
              <a:buSzPct val="100000"/>
              <a:buFont typeface="Arial"/>
              <a:buChar char="▪"/>
            </a:pPr>
            <a:r>
              <a:rPr sz="860" b="1" i="0">
                <a:solidFill>
                  <a:srgbClr val="0F172A"/>
                </a:solidFill>
                <a:latin typeface="DM Sans"/>
              </a:rPr>
              <a:t>Avoided pins: </a:t>
            </a:r>
            <a:r>
              <a:rPr sz="860" b="0" i="0">
                <a:solidFill>
                  <a:srgbClr val="334155"/>
                </a:solidFill>
                <a:latin typeface="DM Sans"/>
              </a:rPr>
              <a:t>GPIO 6–11 (flash), 12 (strap), 34–39 (input-only).</a:t>
            </a:r>
          </a:p>
          <a:p>
            <a:pPr marL="146304" indent="-146304">
              <a:lnSpc>
                <a:spcPct val="108000"/>
              </a:lnSpc>
              <a:spcAft>
                <a:spcPts val="300"/>
              </a:spcAft>
              <a:buClr>
                <a:srgbClr val="059669"/>
              </a:buClr>
              <a:buSzPct val="100000"/>
              <a:buFont typeface="Arial"/>
              <a:buChar char="▪"/>
            </a:pPr>
            <a:r>
              <a:rPr sz="860" b="1" i="0">
                <a:solidFill>
                  <a:srgbClr val="0F172A"/>
                </a:solidFill>
                <a:latin typeface="DM Sans"/>
              </a:rPr>
              <a:t>Haptic: </a:t>
            </a:r>
            <a:r>
              <a:rPr sz="860" b="0" i="0">
                <a:solidFill>
                  <a:srgbClr val="334155"/>
                </a:solidFill>
                <a:latin typeface="DM Sans"/>
              </a:rPr>
              <a:t>JP1 removed and firmware off for human trials.</a:t>
            </a:r>
          </a:p>
        </p:txBody>
      </p:sp>
      <p:pic>
        <p:nvPicPr>
          <p:cNvPr id="22" name="Picture 21" descr="image.png"/>
          <p:cNvPicPr>
            <a:picLocks noChangeAspect="1"/>
          </p:cNvPicPr>
          <p:nvPr/>
        </p:nvPicPr>
        <p:blipFill>
          <a:blip r:embed="rId8"/>
          <a:stretch>
            <a:fillRect/>
          </a:stretch>
        </p:blipFill>
        <p:spPr>
          <a:xfrm>
            <a:off x="530352" y="5669280"/>
            <a:ext cx="11128248" cy="365760"/>
          </a:xfrm>
          <a:prstGeom prst="rect">
            <a:avLst/>
          </a:prstGeom>
        </p:spPr>
      </p:pic>
      <p:sp>
        <p:nvSpPr>
          <p:cNvPr id="23" name="TextBox 22"/>
          <p:cNvSpPr txBox="1"/>
          <p:nvPr/>
        </p:nvSpPr>
        <p:spPr>
          <a:xfrm>
            <a:off x="694944" y="5687568"/>
            <a:ext cx="10835640" cy="329184"/>
          </a:xfrm>
          <a:prstGeom prst="rect">
            <a:avLst/>
          </a:prstGeom>
          <a:noFill/>
        </p:spPr>
        <p:txBody>
          <a:bodyPr wrap="square" anchor="ctr" lIns="0" rIns="0" tIns="0" bIns="0">
            <a:spAutoFit/>
          </a:bodyPr>
          <a:lstStyle/>
          <a:p>
            <a:pPr algn="l"/>
            <a:r>
              <a:rPr sz="940" b="1" i="0">
                <a:solidFill>
                  <a:srgbClr val="0F172A"/>
                </a:solidFill>
                <a:latin typeface="DM Sans"/>
              </a:rPr>
              <a:t>ERC: </a:t>
            </a:r>
            <a:r>
              <a:rPr sz="940" b="0" i="0">
                <a:solidFill>
                  <a:srgbClr val="475569"/>
                </a:solidFill>
                <a:latin typeface="DM Sans"/>
              </a:rPr>
              <a:t>KiCad 10 ERC returns 0 errors and 0 warnings (46 symbols, 43 named nets). RATE (pin 15) is tied to DVDD (pin 16); the Rev 2.0 note's "pin 6" is VBG, not a 3.3 V rail.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rcRect l="14673" r="15820" t="33074" b="44466"/>
          <a:stretch>
            <a:fillRect/>
          </a:stretch>
        </p:blipFill>
        <p:spPr>
          <a:xfrm>
            <a:off x="0" y="6281013"/>
            <a:ext cx="1785823" cy="576986"/>
          </a:xfrm>
          <a:prstGeom prst="rect">
            <a:avLst/>
          </a:prstGeom>
        </p:spPr>
      </p:pic>
      <p:pic>
        <p:nvPicPr>
          <p:cNvPr id="4" name="Picture 3" descr="image.png"/>
          <p:cNvPicPr>
            <a:picLocks noChangeAspect="1"/>
          </p:cNvPicPr>
          <p:nvPr/>
        </p:nvPicPr>
        <p:blipFill>
          <a:blip r:embed="rId4"/>
          <a:stretch>
            <a:fillRect/>
          </a:stretch>
        </p:blipFill>
        <p:spPr>
          <a:xfrm>
            <a:off x="11095329" y="6281013"/>
            <a:ext cx="1096365" cy="576986"/>
          </a:xfrm>
          <a:prstGeom prst="rect">
            <a:avLst/>
          </a:prstGeom>
        </p:spPr>
      </p:pic>
      <p:sp>
        <p:nvSpPr>
          <p:cNvPr id="5" name="TextBox 4"/>
          <p:cNvSpPr txBox="1"/>
          <p:nvPr/>
        </p:nvSpPr>
        <p:spPr>
          <a:xfrm>
            <a:off x="530352" y="402336"/>
            <a:ext cx="8595360" cy="365760"/>
          </a:xfrm>
          <a:prstGeom prst="rect">
            <a:avLst/>
          </a:prstGeom>
          <a:noFill/>
        </p:spPr>
        <p:txBody>
          <a:bodyPr wrap="square" anchor="t" lIns="0" rIns="0" tIns="0" bIns="0">
            <a:spAutoFit/>
          </a:bodyPr>
          <a:lstStyle/>
          <a:p>
            <a:pPr algn="l"/>
            <a:r>
              <a:rPr sz="2025" b="1" i="0">
                <a:solidFill>
                  <a:srgbClr val="0F172A"/>
                </a:solidFill>
                <a:latin typeface="Poppins"/>
              </a:rPr>
              <a:t>Itemised Bill of Materials</a:t>
            </a:r>
          </a:p>
        </p:txBody>
      </p:sp>
      <p:sp>
        <p:nvSpPr>
          <p:cNvPr id="6" name="Rounded Rectangle 5"/>
          <p:cNvSpPr/>
          <p:nvPr/>
        </p:nvSpPr>
        <p:spPr>
          <a:xfrm>
            <a:off x="10172700" y="484632"/>
            <a:ext cx="1485900" cy="210312"/>
          </a:xfrm>
          <a:prstGeom prst="roundRect">
            <a:avLst>
              <a:gd name="adj" fmla="val 50000"/>
            </a:avLst>
          </a:prstGeom>
          <a:solidFill>
            <a:srgbClr val="DCFCE7"/>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172700" y="484632"/>
            <a:ext cx="1485900" cy="210312"/>
          </a:xfrm>
          <a:prstGeom prst="rect">
            <a:avLst/>
          </a:prstGeom>
          <a:noFill/>
        </p:spPr>
        <p:txBody>
          <a:bodyPr wrap="square" anchor="ctr" lIns="0" rIns="0" tIns="0" bIns="0">
            <a:spAutoFit/>
          </a:bodyPr>
          <a:lstStyle/>
          <a:p>
            <a:pPr algn="ctr"/>
            <a:r>
              <a:rPr sz="750" b="1" i="0">
                <a:solidFill>
                  <a:srgbClr val="047857"/>
                </a:solidFill>
                <a:latin typeface="Poppins"/>
              </a:rPr>
              <a:t>ELECTRONICS &amp; BOM</a:t>
            </a:r>
          </a:p>
        </p:txBody>
      </p:sp>
      <p:graphicFrame>
        <p:nvGraphicFramePr>
          <p:cNvPr id="8" name="Table 7"/>
          <p:cNvGraphicFramePr>
            <a:graphicFrameLocks noGrp="1"/>
          </p:cNvGraphicFramePr>
          <p:nvPr/>
        </p:nvGraphicFramePr>
        <p:xfrm>
          <a:off x="530352" y="960120"/>
          <a:ext cx="11128245" cy="4462272"/>
        </p:xfrm>
        <a:graphic>
          <a:graphicData uri="http://schemas.openxmlformats.org/drawingml/2006/table">
            <a:tbl>
              <a:tblPr firstRow="0" bandRow="0">
                <a:tableStyleId>{5940675A-B579-460E-94D1-54222C63F5DA}</a:tableStyleId>
              </a:tblPr>
              <a:tblGrid>
                <a:gridCol w="1950311"/>
                <a:gridCol w="3671174"/>
                <a:gridCol w="573621"/>
                <a:gridCol w="917793"/>
                <a:gridCol w="1032517"/>
                <a:gridCol w="2982829"/>
              </a:tblGrid>
              <a:tr h="278892">
                <a:tc>
                  <a:txBody>
                    <a:bodyPr wrap="square"/>
                    <a:lstStyle/>
                    <a:p>
                      <a:r>
                        <a:rPr sz="860" b="1" i="0">
                          <a:solidFill>
                            <a:srgbClr val="0F172A"/>
                          </a:solidFill>
                          <a:latin typeface="DM Sans"/>
                        </a:rPr>
                        <a:t>Component</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860" b="1" i="0">
                          <a:solidFill>
                            <a:srgbClr val="0F172A"/>
                          </a:solidFill>
                          <a:latin typeface="DM Sans"/>
                        </a:rPr>
                        <a:t>Part / specification</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860" b="1" i="0">
                          <a:solidFill>
                            <a:srgbClr val="0F172A"/>
                          </a:solidFill>
                          <a:latin typeface="DM Sans"/>
                        </a:rPr>
                        <a:t>Qty</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860" b="1" i="0">
                          <a:solidFill>
                            <a:srgbClr val="0F172A"/>
                          </a:solidFill>
                          <a:latin typeface="DM Sans"/>
                        </a:rPr>
                        <a:t>Unit (₹)</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860" b="1" i="0">
                          <a:solidFill>
                            <a:srgbClr val="0F172A"/>
                          </a:solidFill>
                          <a:latin typeface="DM Sans"/>
                        </a:rPr>
                        <a:t>Total (₹)</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860" b="1" i="0">
                          <a:solidFill>
                            <a:srgbClr val="0F172A"/>
                          </a:solidFill>
                          <a:latin typeface="DM Sans"/>
                        </a:rPr>
                        <a:t>Sourcing</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r>
              <a:tr h="278892">
                <a:tc>
                  <a:txBody>
                    <a:bodyPr wrap="square"/>
                    <a:lstStyle/>
                    <a:p>
                      <a:r>
                        <a:rPr sz="860" b="0" i="0">
                          <a:solidFill>
                            <a:srgbClr val="334155"/>
                          </a:solidFill>
                          <a:latin typeface="DM Sans"/>
                        </a:rPr>
                        <a:t>Load cell</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Phaeton 611E, 200 kg, 2.0 mV/V, IP65</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4</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650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2,600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Domestic · industrial weighing supplier</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78892">
                <a:tc>
                  <a:txBody>
                    <a:bodyPr wrap="square"/>
                    <a:lstStyle/>
                    <a:p>
                      <a:r>
                        <a:rPr sz="860" b="0" i="0">
                          <a:solidFill>
                            <a:srgbClr val="334155"/>
                          </a:solidFill>
                          <a:latin typeface="DM Sans"/>
                        </a:rPr>
                        <a:t>24-bit ADC</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HX711 breakout (green PCB), RATE mod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4</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120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480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Domestic · electronics retail</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78892">
                <a:tc>
                  <a:txBody>
                    <a:bodyPr wrap="square"/>
                    <a:lstStyle/>
                    <a:p>
                      <a:r>
                        <a:rPr sz="860" b="0" i="0">
                          <a:solidFill>
                            <a:srgbClr val="334155"/>
                          </a:solidFill>
                          <a:latin typeface="DM Sans"/>
                        </a:rPr>
                        <a:t>Microcontroller</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ESP32 NodeMCU-32S V1</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1</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450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450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Domestic · electronics retail</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78892">
                <a:tc>
                  <a:txBody>
                    <a:bodyPr wrap="square"/>
                    <a:lstStyle/>
                    <a:p>
                      <a:r>
                        <a:rPr sz="860" b="0" i="0">
                          <a:solidFill>
                            <a:srgbClr val="334155"/>
                          </a:solidFill>
                          <a:latin typeface="DM Sans"/>
                        </a:rPr>
                        <a:t>Top plate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6 mm Al 6061-T6, 450 × 450 mm</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1</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1,800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1,800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Local waterjet / machine shop</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78892">
                <a:tc>
                  <a:txBody>
                    <a:bodyPr wrap="square"/>
                    <a:lstStyle/>
                    <a:p>
                      <a:r>
                        <a:rPr sz="860" b="0" i="0">
                          <a:solidFill>
                            <a:srgbClr val="334155"/>
                          </a:solidFill>
                          <a:latin typeface="DM Sans"/>
                        </a:rPr>
                        <a:t>Base plate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12 mm marine plywood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1</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900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900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Local timber supplier</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78892">
                <a:tc>
                  <a:txBody>
                    <a:bodyPr wrap="square"/>
                    <a:lstStyle/>
                    <a:p>
                      <a:r>
                        <a:rPr sz="860" b="0" i="0">
                          <a:solidFill>
                            <a:srgbClr val="334155"/>
                          </a:solidFill>
                          <a:latin typeface="DM Sans"/>
                        </a:rPr>
                        <a:t>Z-mount spacers &amp; shims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3 mm mild steel, laser-cut, ground flat</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8</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90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720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Local laser-cutting shop</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78892">
                <a:tc>
                  <a:txBody>
                    <a:bodyPr wrap="square"/>
                    <a:lstStyle/>
                    <a:p>
                      <a:r>
                        <a:rPr sz="860" b="0" i="0">
                          <a:solidFill>
                            <a:srgbClr val="334155"/>
                          </a:solidFill>
                          <a:latin typeface="DM Sans"/>
                        </a:rPr>
                        <a:t>Fasteners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M6 grade 8.8 bolts, Nyloc nuts, washers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16</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12</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192</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Local fastener depot</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78892">
                <a:tc>
                  <a:txBody>
                    <a:bodyPr wrap="square"/>
                    <a:lstStyle/>
                    <a:p>
                      <a:r>
                        <a:rPr sz="860" b="0" i="0">
                          <a:solidFill>
                            <a:srgbClr val="334155"/>
                          </a:solidFill>
                          <a:latin typeface="DM Sans"/>
                        </a:rPr>
                        <a:t>Levelling feet</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M8 adjustable, rubber pad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4</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60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240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Local hardware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78892">
                <a:tc>
                  <a:txBody>
                    <a:bodyPr wrap="square"/>
                    <a:lstStyle/>
                    <a:p>
                      <a:r>
                        <a:rPr sz="860" b="0" i="0">
                          <a:solidFill>
                            <a:srgbClr val="334155"/>
                          </a:solidFill>
                          <a:latin typeface="DM Sans"/>
                        </a:rPr>
                        <a:t>Power</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18650 Battery Shield V8 (2 cells)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1</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700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700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Domestic · electronics retail</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78892">
                <a:tc>
                  <a:txBody>
                    <a:bodyPr wrap="square"/>
                    <a:lstStyle/>
                    <a:p>
                      <a:r>
                        <a:rPr sz="860" b="0" i="0">
                          <a:solidFill>
                            <a:srgbClr val="334155"/>
                          </a:solidFill>
                          <a:latin typeface="DM Sans"/>
                        </a:rPr>
                        <a:t>Haptic actuator</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10 mm ERM motor + MOSFET driver</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1</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165</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165</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Domestic · electronics retail</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78892">
                <a:tc>
                  <a:txBody>
                    <a:bodyPr wrap="square"/>
                    <a:lstStyle/>
                    <a:p>
                      <a:r>
                        <a:rPr sz="860" b="0" i="0">
                          <a:solidFill>
                            <a:srgbClr val="334155"/>
                          </a:solidFill>
                          <a:latin typeface="DM Sans"/>
                        </a:rPr>
                        <a:t>Enclosure &amp; cabling</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Enclosure, cable glands, 4-core loom</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1</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600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600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Local electrical</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78892">
                <a:tc>
                  <a:txBody>
                    <a:bodyPr wrap="square"/>
                    <a:lstStyle/>
                    <a:p>
                      <a:r>
                        <a:rPr sz="860" b="0" i="0">
                          <a:solidFill>
                            <a:srgbClr val="334155"/>
                          </a:solidFill>
                          <a:latin typeface="DM Sans"/>
                        </a:rPr>
                        <a:t>Calibration service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Certified masses 5/10/20 kg (secondary std.)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1</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3,000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3,000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Accredited calibration lab</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78892">
                <a:tc>
                  <a:txBody>
                    <a:bodyPr wrap="square"/>
                    <a:lstStyle/>
                    <a:p>
                      <a:r>
                        <a:rPr sz="860" b="0" i="0">
                          <a:solidFill>
                            <a:srgbClr val="334155"/>
                          </a:solidFill>
                          <a:latin typeface="DM Sans"/>
                        </a:rPr>
                        <a:t>Subtotal</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8FAFC"/>
                    </a:solidFill>
                  </a:tcPr>
                </a:tc>
                <a:tc>
                  <a:txBody>
                    <a:bodyPr wrap="square"/>
                    <a:lstStyle/>
                    <a:p>
                      <a:r>
                        <a:rPr sz="860" b="0" i="0">
                          <a:solidFill>
                            <a:srgbClr val="334155"/>
                          </a:solidFill>
                          <a:latin typeface="DM Sans"/>
                        </a:rPr>
                        <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8FAFC"/>
                    </a:solidFill>
                  </a:tcPr>
                </a:tc>
                <a:tc>
                  <a:txBody>
                    <a:bodyPr wrap="square"/>
                    <a:lstStyle/>
                    <a:p>
                      <a:r>
                        <a:rPr sz="860" b="0" i="0">
                          <a:solidFill>
                            <a:srgbClr val="334155"/>
                          </a:solidFill>
                          <a:latin typeface="DM Sans"/>
                        </a:rPr>
                        <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8FAFC"/>
                    </a:solidFill>
                  </a:tcPr>
                </a:tc>
                <a:tc>
                  <a:txBody>
                    <a:bodyPr wrap="square"/>
                    <a:lstStyle/>
                    <a:p>
                      <a:r>
                        <a:rPr sz="860" b="0" i="0">
                          <a:solidFill>
                            <a:srgbClr val="334155"/>
                          </a:solidFill>
                          <a:latin typeface="DM Sans"/>
                        </a:rPr>
                        <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8FAFC"/>
                    </a:solidFill>
                  </a:tcPr>
                </a:tc>
                <a:tc>
                  <a:txBody>
                    <a:bodyPr wrap="square"/>
                    <a:lstStyle/>
                    <a:p>
                      <a:r>
                        <a:rPr sz="860" b="0" i="0">
                          <a:solidFill>
                            <a:srgbClr val="334155"/>
                          </a:solidFill>
                          <a:latin typeface="DM Sans"/>
                        </a:rPr>
                        <a:t>11,847</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8FAFC"/>
                    </a:solidFill>
                  </a:tcPr>
                </a:tc>
                <a:tc>
                  <a:txBody>
                    <a:bodyPr wrap="square"/>
                    <a:lstStyle/>
                    <a:p>
                      <a:r>
                        <a:rPr sz="860" b="0" i="0">
                          <a:solidFill>
                            <a:srgbClr val="334155"/>
                          </a:solidFill>
                          <a:latin typeface="DM Sans"/>
                        </a:rPr>
                        <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8FAFC"/>
                    </a:solidFill>
                  </a:tcPr>
                </a:tc>
              </a:tr>
              <a:tr h="278892">
                <a:tc>
                  <a:txBody>
                    <a:bodyPr wrap="square"/>
                    <a:lstStyle/>
                    <a:p>
                      <a:r>
                        <a:rPr sz="860" b="0" i="0">
                          <a:solidFill>
                            <a:srgbClr val="334155"/>
                          </a:solidFill>
                          <a:latin typeface="DM Sans"/>
                        </a:rPr>
                        <a:t>Contingency (15%)</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8FAFC"/>
                    </a:solidFill>
                  </a:tcPr>
                </a:tc>
                <a:tc>
                  <a:txBody>
                    <a:bodyPr wrap="square"/>
                    <a:lstStyle/>
                    <a:p>
                      <a:r>
                        <a:rPr sz="860" b="0" i="0">
                          <a:solidFill>
                            <a:srgbClr val="334155"/>
                          </a:solidFill>
                          <a:latin typeface="DM Sans"/>
                        </a:rPr>
                        <a:t>Mechanical rework / spare parts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8FAFC"/>
                    </a:solidFill>
                  </a:tcPr>
                </a:tc>
                <a:tc>
                  <a:txBody>
                    <a:bodyPr wrap="square"/>
                    <a:lstStyle/>
                    <a:p>
                      <a:r>
                        <a:rPr sz="860" b="0" i="0">
                          <a:solidFill>
                            <a:srgbClr val="334155"/>
                          </a:solidFill>
                          <a:latin typeface="DM Sans"/>
                        </a:rPr>
                        <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8FAFC"/>
                    </a:solidFill>
                  </a:tcPr>
                </a:tc>
                <a:tc>
                  <a:txBody>
                    <a:bodyPr wrap="square"/>
                    <a:lstStyle/>
                    <a:p>
                      <a:r>
                        <a:rPr sz="860" b="0" i="0">
                          <a:solidFill>
                            <a:srgbClr val="334155"/>
                          </a:solidFill>
                          <a:latin typeface="DM Sans"/>
                        </a:rPr>
                        <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8FAFC"/>
                    </a:solidFill>
                  </a:tcPr>
                </a:tc>
                <a:tc>
                  <a:txBody>
                    <a:bodyPr wrap="square"/>
                    <a:lstStyle/>
                    <a:p>
                      <a:r>
                        <a:rPr sz="860" b="0" i="0">
                          <a:solidFill>
                            <a:srgbClr val="334155"/>
                          </a:solidFill>
                          <a:latin typeface="DM Sans"/>
                        </a:rPr>
                        <a:t>1,777</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8FAFC"/>
                    </a:solidFill>
                  </a:tcPr>
                </a:tc>
                <a:tc>
                  <a:txBody>
                    <a:bodyPr wrap="square"/>
                    <a:lstStyle/>
                    <a:p>
                      <a:r>
                        <a:rPr sz="860" b="0" i="0">
                          <a:solidFill>
                            <a:srgbClr val="334155"/>
                          </a:solidFill>
                          <a:latin typeface="DM Sans"/>
                        </a:rPr>
                        <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8FAFC"/>
                    </a:solidFill>
                  </a:tcPr>
                </a:tc>
              </a:tr>
              <a:tr h="278892">
                <a:tc>
                  <a:txBody>
                    <a:bodyPr wrap="square"/>
                    <a:lstStyle/>
                    <a:p>
                      <a:r>
                        <a:rPr sz="860" b="1" i="0">
                          <a:solidFill>
                            <a:srgbClr val="0F172A"/>
                          </a:solidFill>
                          <a:latin typeface="DM Sans"/>
                        </a:rPr>
                        <a:t>Total build cost</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0FDF4"/>
                    </a:solidFill>
                  </a:tcPr>
                </a:tc>
                <a:tc>
                  <a:txBody>
                    <a:bodyPr wrap="square"/>
                    <a:lstStyle/>
                    <a:p>
                      <a:r>
                        <a:rPr sz="860" b="1" i="0">
                          <a:solidFill>
                            <a:srgbClr val="0F172A"/>
                          </a:solidFill>
                          <a:latin typeface="DM Sans"/>
                        </a:rPr>
                        <a:t>≈ US$166 at ₹82/US$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0FDF4"/>
                    </a:solidFill>
                  </a:tcPr>
                </a:tc>
                <a:tc>
                  <a:txBody>
                    <a:bodyPr wrap="square"/>
                    <a:lstStyle/>
                    <a:p>
                      <a:r>
                        <a:rPr sz="860" b="1" i="0">
                          <a:solidFill>
                            <a:srgbClr val="0F172A"/>
                          </a:solidFill>
                          <a:latin typeface="DM Sans"/>
                        </a:rPr>
                        <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0FDF4"/>
                    </a:solidFill>
                  </a:tcPr>
                </a:tc>
                <a:tc>
                  <a:txBody>
                    <a:bodyPr wrap="square"/>
                    <a:lstStyle/>
                    <a:p>
                      <a:r>
                        <a:rPr sz="860" b="1" i="0">
                          <a:solidFill>
                            <a:srgbClr val="0F172A"/>
                          </a:solidFill>
                          <a:latin typeface="DM Sans"/>
                        </a:rPr>
                        <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0FDF4"/>
                    </a:solidFill>
                  </a:tcPr>
                </a:tc>
                <a:tc>
                  <a:txBody>
                    <a:bodyPr wrap="square"/>
                    <a:lstStyle/>
                    <a:p>
                      <a:r>
                        <a:rPr sz="860" b="1" i="0">
                          <a:solidFill>
                            <a:srgbClr val="0F172A"/>
                          </a:solidFill>
                          <a:latin typeface="DM Sans"/>
                        </a:rPr>
                        <a:t>₹13,624</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0FDF4"/>
                    </a:solidFill>
                  </a:tcPr>
                </a:tc>
                <a:tc>
                  <a:txBody>
                    <a:bodyPr wrap="square"/>
                    <a:lstStyle/>
                    <a:p>
                      <a:r>
                        <a:rPr sz="860" b="1" i="0">
                          <a:solidFill>
                            <a:srgbClr val="0F172A"/>
                          </a:solidFill>
                          <a:latin typeface="DM Sans"/>
                        </a:rPr>
                        <a:t>All items available in India</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0FDF4"/>
                    </a:solidFill>
                  </a:tcPr>
                </a:tc>
              </a:tr>
            </a:tbl>
          </a:graphicData>
        </a:graphic>
      </p:graphicFrame>
      <p:pic>
        <p:nvPicPr>
          <p:cNvPr id="9" name="Picture 8" descr="image.png"/>
          <p:cNvPicPr>
            <a:picLocks noChangeAspect="1"/>
          </p:cNvPicPr>
          <p:nvPr/>
        </p:nvPicPr>
        <p:blipFill>
          <a:blip r:embed="rId5"/>
          <a:stretch>
            <a:fillRect/>
          </a:stretch>
        </p:blipFill>
        <p:spPr>
          <a:xfrm>
            <a:off x="530352" y="5669280"/>
            <a:ext cx="11128248" cy="365760"/>
          </a:xfrm>
          <a:prstGeom prst="rect">
            <a:avLst/>
          </a:prstGeom>
        </p:spPr>
      </p:pic>
      <p:sp>
        <p:nvSpPr>
          <p:cNvPr id="10" name="TextBox 9"/>
          <p:cNvSpPr txBox="1"/>
          <p:nvPr/>
        </p:nvSpPr>
        <p:spPr>
          <a:xfrm>
            <a:off x="694944" y="5687568"/>
            <a:ext cx="10835640" cy="329184"/>
          </a:xfrm>
          <a:prstGeom prst="rect">
            <a:avLst/>
          </a:prstGeom>
          <a:noFill/>
        </p:spPr>
        <p:txBody>
          <a:bodyPr wrap="square" anchor="ctr" lIns="0" rIns="0" tIns="0" bIns="0">
            <a:spAutoFit/>
          </a:bodyPr>
          <a:lstStyle/>
          <a:p>
            <a:pPr algn="l"/>
            <a:r>
              <a:rPr sz="940" b="1" i="0">
                <a:solidFill>
                  <a:srgbClr val="0F172A"/>
                </a:solidFill>
                <a:latin typeface="DM Sans"/>
              </a:rPr>
              <a:t>Procurement Status: </a:t>
            </a:r>
            <a:r>
              <a:rPr sz="940" b="0" i="0">
                <a:solidFill>
                  <a:srgbClr val="475569"/>
                </a:solidFill>
                <a:latin typeface="DM Sans"/>
              </a:rPr>
              <a:t>no imported parts; the critical path is machining the plate and spacers. Vendor lead times will be confirmed at PO (Nov 2026).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rcRect l="14673" r="15820" t="33074" b="44466"/>
          <a:stretch>
            <a:fillRect/>
          </a:stretch>
        </p:blipFill>
        <p:spPr>
          <a:xfrm>
            <a:off x="0" y="6281013"/>
            <a:ext cx="1785823" cy="576986"/>
          </a:xfrm>
          <a:prstGeom prst="rect">
            <a:avLst/>
          </a:prstGeom>
        </p:spPr>
      </p:pic>
      <p:pic>
        <p:nvPicPr>
          <p:cNvPr id="4" name="Picture 3" descr="image.png"/>
          <p:cNvPicPr>
            <a:picLocks noChangeAspect="1"/>
          </p:cNvPicPr>
          <p:nvPr/>
        </p:nvPicPr>
        <p:blipFill>
          <a:blip r:embed="rId4"/>
          <a:stretch>
            <a:fillRect/>
          </a:stretch>
        </p:blipFill>
        <p:spPr>
          <a:xfrm>
            <a:off x="11095329" y="6281013"/>
            <a:ext cx="1096365" cy="576986"/>
          </a:xfrm>
          <a:prstGeom prst="rect">
            <a:avLst/>
          </a:prstGeom>
        </p:spPr>
      </p:pic>
      <p:sp>
        <p:nvSpPr>
          <p:cNvPr id="5" name="TextBox 4"/>
          <p:cNvSpPr txBox="1"/>
          <p:nvPr/>
        </p:nvSpPr>
        <p:spPr>
          <a:xfrm>
            <a:off x="530352" y="402336"/>
            <a:ext cx="8595360" cy="365760"/>
          </a:xfrm>
          <a:prstGeom prst="rect">
            <a:avLst/>
          </a:prstGeom>
          <a:noFill/>
        </p:spPr>
        <p:txBody>
          <a:bodyPr wrap="square" anchor="t" lIns="0" rIns="0" tIns="0" bIns="0">
            <a:spAutoFit/>
          </a:bodyPr>
          <a:lstStyle/>
          <a:p>
            <a:pPr algn="l"/>
            <a:r>
              <a:rPr sz="2025" b="1" i="0">
                <a:solidFill>
                  <a:srgbClr val="0F172A"/>
                </a:solidFill>
                <a:latin typeface="Poppins"/>
              </a:rPr>
              <a:t>Your Maker Journey: Evidence of Work</a:t>
            </a:r>
          </a:p>
        </p:txBody>
      </p:sp>
      <p:sp>
        <p:nvSpPr>
          <p:cNvPr id="6" name="Rounded Rectangle 5"/>
          <p:cNvSpPr/>
          <p:nvPr/>
        </p:nvSpPr>
        <p:spPr>
          <a:xfrm>
            <a:off x="10378440" y="484632"/>
            <a:ext cx="1280160" cy="210312"/>
          </a:xfrm>
          <a:prstGeom prst="roundRect">
            <a:avLst>
              <a:gd name="adj" fmla="val 50000"/>
            </a:avLst>
          </a:prstGeom>
          <a:solidFill>
            <a:srgbClr val="DCFCE7"/>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378440" y="484632"/>
            <a:ext cx="1280160" cy="210312"/>
          </a:xfrm>
          <a:prstGeom prst="rect">
            <a:avLst/>
          </a:prstGeom>
          <a:noFill/>
        </p:spPr>
        <p:txBody>
          <a:bodyPr wrap="square" anchor="ctr" lIns="0" rIns="0" tIns="0" bIns="0">
            <a:spAutoFit/>
          </a:bodyPr>
          <a:lstStyle/>
          <a:p>
            <a:pPr algn="ctr"/>
            <a:r>
              <a:rPr sz="750" b="1" i="0">
                <a:solidFill>
                  <a:srgbClr val="047857"/>
                </a:solidFill>
                <a:latin typeface="Poppins"/>
              </a:rPr>
              <a:t>MAKER JOURNEY</a:t>
            </a:r>
          </a:p>
        </p:txBody>
      </p:sp>
      <p:sp>
        <p:nvSpPr>
          <p:cNvPr id="8" name="Rounded Rectangle 7"/>
          <p:cNvSpPr/>
          <p:nvPr/>
        </p:nvSpPr>
        <p:spPr>
          <a:xfrm>
            <a:off x="530352" y="960120"/>
            <a:ext cx="3584448" cy="4553712"/>
          </a:xfrm>
          <a:prstGeom prst="roundRect">
            <a:avLst>
              <a:gd name="adj" fmla="val 204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713232" y="1133856"/>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32688" y="1078992"/>
            <a:ext cx="3090672" cy="237744"/>
          </a:xfrm>
          <a:prstGeom prst="rect">
            <a:avLst/>
          </a:prstGeom>
          <a:noFill/>
        </p:spPr>
        <p:txBody>
          <a:bodyPr wrap="square" anchor="t" lIns="0" rIns="0" tIns="0" bIns="0">
            <a:spAutoFit/>
          </a:bodyPr>
          <a:lstStyle/>
          <a:p>
            <a:pPr algn="l"/>
            <a:r>
              <a:rPr sz="1125" b="1" i="0">
                <a:solidFill>
                  <a:srgbClr val="0F172A"/>
                </a:solidFill>
                <a:latin typeface="DM Sans"/>
              </a:rPr>
              <a:t>Authenticity Verification</a:t>
            </a:r>
          </a:p>
        </p:txBody>
      </p:sp>
      <p:sp>
        <p:nvSpPr>
          <p:cNvPr id="11" name="Rounded Rectangle 10"/>
          <p:cNvSpPr/>
          <p:nvPr/>
        </p:nvSpPr>
        <p:spPr>
          <a:xfrm>
            <a:off x="713232" y="1463040"/>
            <a:ext cx="3218688" cy="1463040"/>
          </a:xfrm>
          <a:prstGeom prst="roundRect">
            <a:avLst>
              <a:gd name="adj" fmla="val 5000"/>
            </a:avLst>
          </a:prstGeom>
          <a:solidFill>
            <a:srgbClr val="FFFFFF"/>
          </a:solidFill>
          <a:ln w="15875">
            <a:solidFill>
              <a:srgbClr val="94A3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50392" y="1920240"/>
            <a:ext cx="2944368" cy="640080"/>
          </a:xfrm>
          <a:prstGeom prst="rect">
            <a:avLst/>
          </a:prstGeom>
          <a:noFill/>
        </p:spPr>
        <p:txBody>
          <a:bodyPr wrap="square" anchor="t" lIns="0" rIns="0" tIns="0" bIns="0">
            <a:spAutoFit/>
          </a:bodyPr>
          <a:lstStyle/>
          <a:p>
            <a:pPr algn="ctr"/>
            <a:r>
              <a:rPr sz="900" b="0" i="0">
                <a:solidFill>
                  <a:srgbClr val="64748B"/>
                </a:solidFill>
                <a:latin typeface="DM Sans"/>
              </a:rPr>
              <a:t>[ Team photo: modelling / soldering / assembling, ID badges visible ]</a:t>
            </a:r>
          </a:p>
        </p:txBody>
      </p:sp>
      <p:sp>
        <p:nvSpPr>
          <p:cNvPr id="13" name="Rounded Rectangle 12"/>
          <p:cNvSpPr/>
          <p:nvPr/>
        </p:nvSpPr>
        <p:spPr>
          <a:xfrm>
            <a:off x="713232" y="3063240"/>
            <a:ext cx="3218688" cy="1463040"/>
          </a:xfrm>
          <a:prstGeom prst="roundRect">
            <a:avLst>
              <a:gd name="adj" fmla="val 5000"/>
            </a:avLst>
          </a:prstGeom>
          <a:solidFill>
            <a:srgbClr val="FFFFFF"/>
          </a:solidFill>
          <a:ln w="15875">
            <a:solidFill>
              <a:srgbClr val="94A3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50392" y="3520440"/>
            <a:ext cx="2944368" cy="640080"/>
          </a:xfrm>
          <a:prstGeom prst="rect">
            <a:avLst/>
          </a:prstGeom>
          <a:noFill/>
        </p:spPr>
        <p:txBody>
          <a:bodyPr wrap="square" anchor="t" lIns="0" rIns="0" tIns="0" bIns="0">
            <a:spAutoFit/>
          </a:bodyPr>
          <a:lstStyle/>
          <a:p>
            <a:pPr algn="ctr"/>
            <a:r>
              <a:rPr sz="900" b="0" i="0">
                <a:solidFill>
                  <a:srgbClr val="64748B"/>
                </a:solidFill>
                <a:latin typeface="DM Sans"/>
              </a:rPr>
              <a:t>[ Joint lab review photo with faculty guide ]</a:t>
            </a:r>
          </a:p>
        </p:txBody>
      </p:sp>
      <p:sp>
        <p:nvSpPr>
          <p:cNvPr id="15" name="TextBox 14"/>
          <p:cNvSpPr txBox="1"/>
          <p:nvPr/>
        </p:nvSpPr>
        <p:spPr>
          <a:xfrm>
            <a:off x="713232" y="4709160"/>
            <a:ext cx="3218688" cy="731520"/>
          </a:xfrm>
          <a:prstGeom prst="rect">
            <a:avLst/>
          </a:prstGeom>
          <a:noFill/>
        </p:spPr>
        <p:txBody>
          <a:bodyPr wrap="square" anchor="t" lIns="0" rIns="0" tIns="0" bIns="0">
            <a:spAutoFit/>
          </a:bodyPr>
          <a:lstStyle/>
          <a:p>
            <a:pPr algn="l"/>
            <a:r>
              <a:rPr sz="860" b="0" i="1">
                <a:solidFill>
                  <a:srgbClr val="64748B"/>
                </a:solidFill>
                <a:latin typeface="DM Sans"/>
              </a:rPr>
              <a:t>High-resolution lab photos of the team at work, to be added before submission.</a:t>
            </a:r>
          </a:p>
        </p:txBody>
      </p:sp>
      <p:sp>
        <p:nvSpPr>
          <p:cNvPr id="16" name="Rounded Rectangle 15"/>
          <p:cNvSpPr/>
          <p:nvPr/>
        </p:nvSpPr>
        <p:spPr>
          <a:xfrm>
            <a:off x="4302252" y="960120"/>
            <a:ext cx="3584448" cy="4553712"/>
          </a:xfrm>
          <a:prstGeom prst="roundRect">
            <a:avLst>
              <a:gd name="adj" fmla="val 204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485132" y="1133856"/>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704588" y="1078992"/>
            <a:ext cx="3090672" cy="237744"/>
          </a:xfrm>
          <a:prstGeom prst="rect">
            <a:avLst/>
          </a:prstGeom>
          <a:noFill/>
        </p:spPr>
        <p:txBody>
          <a:bodyPr wrap="square" anchor="t" lIns="0" rIns="0" tIns="0" bIns="0">
            <a:spAutoFit/>
          </a:bodyPr>
          <a:lstStyle/>
          <a:p>
            <a:pPr algn="l"/>
            <a:r>
              <a:rPr sz="1125" b="1" i="0">
                <a:solidFill>
                  <a:srgbClr val="0F172A"/>
                </a:solidFill>
                <a:latin typeface="DM Sans"/>
              </a:rPr>
              <a:t>Work-in-Progress Software Evidence</a:t>
            </a:r>
          </a:p>
        </p:txBody>
      </p:sp>
      <p:sp>
        <p:nvSpPr>
          <p:cNvPr id="19" name="Rounded Rectangle 18"/>
          <p:cNvSpPr/>
          <p:nvPr/>
        </p:nvSpPr>
        <p:spPr>
          <a:xfrm>
            <a:off x="4485132" y="1417320"/>
            <a:ext cx="3218688" cy="1325880"/>
          </a:xfrm>
          <a:prstGeom prst="roundRect">
            <a:avLst>
              <a:gd name="adj" fmla="val 413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ea_vonmises.png"/>
          <p:cNvPicPr>
            <a:picLocks noChangeAspect="1"/>
          </p:cNvPicPr>
          <p:nvPr/>
        </p:nvPicPr>
        <p:blipFill>
          <a:blip r:embed="rId5"/>
          <a:stretch>
            <a:fillRect/>
          </a:stretch>
        </p:blipFill>
        <p:spPr>
          <a:xfrm>
            <a:off x="5084498" y="1472184"/>
            <a:ext cx="2019954" cy="1216152"/>
          </a:xfrm>
          <a:prstGeom prst="rect">
            <a:avLst/>
          </a:prstGeom>
        </p:spPr>
      </p:pic>
      <p:sp>
        <p:nvSpPr>
          <p:cNvPr id="21" name="TextBox 20"/>
          <p:cNvSpPr txBox="1"/>
          <p:nvPr/>
        </p:nvSpPr>
        <p:spPr>
          <a:xfrm>
            <a:off x="4485132" y="2761488"/>
            <a:ext cx="3218688" cy="182880"/>
          </a:xfrm>
          <a:prstGeom prst="rect">
            <a:avLst/>
          </a:prstGeom>
          <a:noFill/>
        </p:spPr>
        <p:txBody>
          <a:bodyPr wrap="square" anchor="t" lIns="0" rIns="0" tIns="0" bIns="0">
            <a:spAutoFit/>
          </a:bodyPr>
          <a:lstStyle/>
          <a:p>
            <a:pPr algn="r"/>
            <a:r>
              <a:rPr sz="860" b="0" i="1">
                <a:solidFill>
                  <a:srgbClr val="64748B"/>
                </a:solidFill>
                <a:latin typeface="DM Sans"/>
              </a:rPr>
              <a:t>FreeCAD FEM result view (6 mm plate)</a:t>
            </a:r>
          </a:p>
        </p:txBody>
      </p:sp>
      <p:sp>
        <p:nvSpPr>
          <p:cNvPr id="22" name="TextBox 21"/>
          <p:cNvSpPr txBox="1"/>
          <p:nvPr/>
        </p:nvSpPr>
        <p:spPr>
          <a:xfrm>
            <a:off x="4485132" y="3035808"/>
            <a:ext cx="3218688" cy="2423160"/>
          </a:xfrm>
          <a:prstGeom prst="rect">
            <a:avLst/>
          </a:prstGeom>
          <a:noFill/>
        </p:spPr>
        <p:txBody>
          <a:bodyPr wrap="square" anchor="t" lIns="0" rIns="0" tIns="0" bIns="0">
            <a:spAutoFit/>
          </a:bodyPr>
          <a:lstStyle/>
          <a:p>
            <a:pPr marL="146304" indent="-146304">
              <a:lnSpc>
                <a:spcPct val="108000"/>
              </a:lnSpc>
              <a:spcAft>
                <a:spcPts val="300"/>
              </a:spcAft>
              <a:buClr>
                <a:srgbClr val="059669"/>
              </a:buClr>
              <a:buSzPct val="100000"/>
              <a:buFont typeface="Arial"/>
              <a:buChar char="▪"/>
            </a:pPr>
            <a:r>
              <a:rPr sz="900" b="1" i="0">
                <a:solidFill>
                  <a:srgbClr val="0F172A"/>
                </a:solidFill>
                <a:latin typeface="DM Sans"/>
              </a:rPr>
              <a:t>CAD: </a:t>
            </a:r>
            <a:r>
              <a:rPr sz="900" b="0" i="0">
                <a:solidFill>
                  <a:srgbClr val="334155"/>
                </a:solidFill>
                <a:latin typeface="DM Sans"/>
              </a:rPr>
              <a:t>FreeCAD 1.1 parametric assembly, 44 solids; STEP export.</a:t>
            </a:r>
          </a:p>
          <a:p>
            <a:pPr marL="146304" indent="-146304">
              <a:lnSpc>
                <a:spcPct val="108000"/>
              </a:lnSpc>
              <a:spcAft>
                <a:spcPts val="300"/>
              </a:spcAft>
              <a:buClr>
                <a:srgbClr val="059669"/>
              </a:buClr>
              <a:buSzPct val="100000"/>
              <a:buFont typeface="Arial"/>
              <a:buChar char="▪"/>
            </a:pPr>
            <a:r>
              <a:rPr sz="900" b="1" i="0">
                <a:solidFill>
                  <a:srgbClr val="0F172A"/>
                </a:solidFill>
                <a:latin typeface="DM Sans"/>
              </a:rPr>
              <a:t>FEA: </a:t>
            </a:r>
            <a:r>
              <a:rPr sz="900" b="0" i="0">
                <a:solidFill>
                  <a:srgbClr val="334155"/>
                </a:solidFill>
                <a:latin typeface="DM Sans"/>
              </a:rPr>
              <a:t>Gmsh 2nd-order tetra mesh, 56,502 nodes / 28,287 elements; CalculiX solved (6 mm and 10 mm).</a:t>
            </a:r>
          </a:p>
          <a:p>
            <a:pPr marL="146304" indent="-146304">
              <a:lnSpc>
                <a:spcPct val="108000"/>
              </a:lnSpc>
              <a:spcAft>
                <a:spcPts val="300"/>
              </a:spcAft>
              <a:buClr>
                <a:srgbClr val="059669"/>
              </a:buClr>
              <a:buSzPct val="100000"/>
              <a:buFont typeface="Arial"/>
              <a:buChar char="▪"/>
            </a:pPr>
            <a:r>
              <a:rPr sz="900" b="1" i="0">
                <a:solidFill>
                  <a:srgbClr val="0F172A"/>
                </a:solidFill>
                <a:latin typeface="DM Sans"/>
              </a:rPr>
              <a:t>EDA: </a:t>
            </a:r>
            <a:r>
              <a:rPr sz="900" b="0" i="0">
                <a:solidFill>
                  <a:srgbClr val="334155"/>
                </a:solidFill>
                <a:latin typeface="DM Sans"/>
              </a:rPr>
              <a:t>KiCad 10 schematic, 46 symbols, 43 named nets.</a:t>
            </a:r>
          </a:p>
          <a:p>
            <a:pPr marL="146304" indent="-146304">
              <a:lnSpc>
                <a:spcPct val="108000"/>
              </a:lnSpc>
              <a:spcAft>
                <a:spcPts val="300"/>
              </a:spcAft>
              <a:buClr>
                <a:srgbClr val="059669"/>
              </a:buClr>
              <a:buSzPct val="100000"/>
              <a:buFont typeface="Arial"/>
              <a:buChar char="▪"/>
            </a:pPr>
            <a:r>
              <a:rPr sz="900" b="1" i="0">
                <a:solidFill>
                  <a:srgbClr val="0F172A"/>
                </a:solidFill>
                <a:latin typeface="DM Sans"/>
              </a:rPr>
              <a:t>ERC log: </a:t>
            </a:r>
            <a:r>
              <a:rPr sz="900" b="0" i="0">
                <a:solidFill>
                  <a:srgbClr val="334155"/>
                </a:solidFill>
                <a:latin typeface="DM Sans"/>
              </a:rPr>
              <a:t>0 errors, 0 warnings (EquiSense_ERC.rpt).</a:t>
            </a:r>
          </a:p>
        </p:txBody>
      </p:sp>
      <p:sp>
        <p:nvSpPr>
          <p:cNvPr id="23" name="Rounded Rectangle 22"/>
          <p:cNvSpPr/>
          <p:nvPr/>
        </p:nvSpPr>
        <p:spPr>
          <a:xfrm>
            <a:off x="8074152" y="960120"/>
            <a:ext cx="3584448" cy="4553712"/>
          </a:xfrm>
          <a:prstGeom prst="roundRect">
            <a:avLst>
              <a:gd name="adj" fmla="val 204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8257031" y="1133856"/>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476488" y="1078992"/>
            <a:ext cx="3090672" cy="237744"/>
          </a:xfrm>
          <a:prstGeom prst="rect">
            <a:avLst/>
          </a:prstGeom>
          <a:noFill/>
        </p:spPr>
        <p:txBody>
          <a:bodyPr wrap="square" anchor="t" lIns="0" rIns="0" tIns="0" bIns="0">
            <a:spAutoFit/>
          </a:bodyPr>
          <a:lstStyle/>
          <a:p>
            <a:pPr algn="l"/>
            <a:r>
              <a:rPr sz="1125" b="1" i="0">
                <a:solidFill>
                  <a:srgbClr val="0F172A"/>
                </a:solidFill>
                <a:latin typeface="DM Sans"/>
              </a:rPr>
              <a:t>Raw Repository Linkage</a:t>
            </a:r>
          </a:p>
        </p:txBody>
      </p:sp>
      <p:sp>
        <p:nvSpPr>
          <p:cNvPr id="26" name="Rounded Rectangle 25"/>
          <p:cNvSpPr/>
          <p:nvPr/>
        </p:nvSpPr>
        <p:spPr>
          <a:xfrm>
            <a:off x="8257031" y="1444752"/>
            <a:ext cx="3218688" cy="502920"/>
          </a:xfrm>
          <a:prstGeom prst="roundRect">
            <a:avLst>
              <a:gd name="adj" fmla="val 14545"/>
            </a:avLst>
          </a:prstGeom>
          <a:solidFill>
            <a:srgbClr val="FFFFFF"/>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348472" y="1463040"/>
            <a:ext cx="3035808" cy="457200"/>
          </a:xfrm>
          <a:prstGeom prst="rect">
            <a:avLst/>
          </a:prstGeom>
          <a:noFill/>
        </p:spPr>
        <p:txBody>
          <a:bodyPr wrap="square" anchor="ctr" lIns="0" rIns="0" tIns="0" bIns="0">
            <a:spAutoFit/>
          </a:bodyPr>
          <a:lstStyle/>
          <a:p>
            <a:pPr algn="l"/>
            <a:r>
              <a:rPr sz="940" b="1" i="0">
                <a:solidFill>
                  <a:srgbClr val="0369A1"/>
                </a:solidFill>
                <a:latin typeface="DM Sans"/>
              </a:rPr>
              <a:t>https://github.com/amalnathkp13-boop/EquiSense-ForcePlatform</a:t>
            </a:r>
          </a:p>
        </p:txBody>
      </p:sp>
      <p:graphicFrame>
        <p:nvGraphicFramePr>
          <p:cNvPr id="28" name="Table 27"/>
          <p:cNvGraphicFramePr>
            <a:graphicFrameLocks noGrp="1"/>
          </p:cNvGraphicFramePr>
          <p:nvPr/>
        </p:nvGraphicFramePr>
        <p:xfrm>
          <a:off x="8257031" y="2103120"/>
          <a:ext cx="3218687" cy="2194560"/>
        </p:xfrm>
        <a:graphic>
          <a:graphicData uri="http://schemas.openxmlformats.org/drawingml/2006/table">
            <a:tbl>
              <a:tblPr firstRow="0" bandRow="0">
                <a:tableStyleId>{5940675A-B579-460E-94D1-54222C63F5DA}</a:tableStyleId>
              </a:tblPr>
              <a:tblGrid>
                <a:gridCol w="2023175"/>
                <a:gridCol w="1195512"/>
              </a:tblGrid>
              <a:tr h="274320">
                <a:tc>
                  <a:txBody>
                    <a:bodyPr wrap="square"/>
                    <a:lstStyle/>
                    <a:p>
                      <a:r>
                        <a:rPr sz="800" b="1" i="0">
                          <a:solidFill>
                            <a:srgbClr val="0F172A"/>
                          </a:solidFill>
                          <a:latin typeface="DM Sans"/>
                        </a:rPr>
                        <a:t>Native file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800" b="1" i="0">
                          <a:solidFill>
                            <a:srgbClr val="0F172A"/>
                          </a:solidFill>
                          <a:latin typeface="DM Sans"/>
                        </a:rPr>
                        <a:t>Folder</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r>
              <a:tr h="274320">
                <a:tc>
                  <a:txBody>
                    <a:bodyPr wrap="square"/>
                    <a:lstStyle/>
                    <a:p>
                      <a:r>
                        <a:rPr sz="800" b="0" i="0">
                          <a:solidFill>
                            <a:srgbClr val="334155"/>
                          </a:solidFill>
                          <a:latin typeface="DM Sans"/>
                        </a:rPr>
                        <a:t>EquiSense_ForcePlatform.FCStd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00" b="0" i="0">
                          <a:solidFill>
                            <a:srgbClr val="334155"/>
                          </a:solidFill>
                          <a:latin typeface="DM Sans"/>
                        </a:rPr>
                        <a:t>hardware/cad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74320">
                <a:tc>
                  <a:txBody>
                    <a:bodyPr wrap="square"/>
                    <a:lstStyle/>
                    <a:p>
                      <a:r>
                        <a:rPr sz="800" b="0" i="0">
                          <a:solidFill>
                            <a:srgbClr val="334155"/>
                          </a:solidFill>
                          <a:latin typeface="DM Sans"/>
                        </a:rPr>
                        <a:t>EquiSense_ForcePlatform.step</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00" b="0" i="0">
                          <a:solidFill>
                            <a:srgbClr val="334155"/>
                          </a:solidFill>
                          <a:latin typeface="DM Sans"/>
                        </a:rPr>
                        <a:t>hardware/cad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74320">
                <a:tc>
                  <a:txBody>
                    <a:bodyPr wrap="square"/>
                    <a:lstStyle/>
                    <a:p>
                      <a:r>
                        <a:rPr sz="800" b="0" i="0">
                          <a:solidFill>
                            <a:srgbClr val="334155"/>
                          </a:solidFill>
                          <a:latin typeface="DM Sans"/>
                        </a:rPr>
                        <a:t>TopPlate_FEA_6mm / 10mm.FCStd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00" b="0" i="0">
                          <a:solidFill>
                            <a:srgbClr val="334155"/>
                          </a:solidFill>
                          <a:latin typeface="DM Sans"/>
                        </a:rPr>
                        <a:t>hardware/cad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74320">
                <a:tc>
                  <a:txBody>
                    <a:bodyPr wrap="square"/>
                    <a:lstStyle/>
                    <a:p>
                      <a:r>
                        <a:rPr sz="800" b="0" i="0">
                          <a:solidFill>
                            <a:srgbClr val="334155"/>
                          </a:solidFill>
                          <a:latin typeface="DM Sans"/>
                        </a:rPr>
                        <a:t>EquiSense.kicad_sch / .net</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00" b="0" i="0">
                          <a:solidFill>
                            <a:srgbClr val="334155"/>
                          </a:solidFill>
                          <a:latin typeface="DM Sans"/>
                        </a:rPr>
                        <a:t>hardware/kicad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74320">
                <a:tc>
                  <a:txBody>
                    <a:bodyPr wrap="square"/>
                    <a:lstStyle/>
                    <a:p>
                      <a:r>
                        <a:rPr sz="800" b="0" i="0">
                          <a:solidFill>
                            <a:srgbClr val="334155"/>
                          </a:solidFill>
                          <a:latin typeface="DM Sans"/>
                        </a:rPr>
                        <a:t>EquiSense_ERC.rpt</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00" b="0" i="0">
                          <a:solidFill>
                            <a:srgbClr val="334155"/>
                          </a:solidFill>
                          <a:latin typeface="DM Sans"/>
                        </a:rPr>
                        <a:t>hardware/kicad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74320">
                <a:tc>
                  <a:txBody>
                    <a:bodyPr wrap="square"/>
                    <a:lstStyle/>
                    <a:p>
                      <a:r>
                        <a:rPr sz="800" b="0" i="0">
                          <a:solidFill>
                            <a:srgbClr val="334155"/>
                          </a:solidFill>
                          <a:latin typeface="DM Sans"/>
                        </a:rPr>
                        <a:t>BOM.csv</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00" b="0" i="0">
                          <a:solidFill>
                            <a:srgbClr val="334155"/>
                          </a:solidFill>
                          <a:latin typeface="DM Sans"/>
                        </a:rPr>
                        <a:t>hardware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74320">
                <a:tc>
                  <a:txBody>
                    <a:bodyPr wrap="square"/>
                    <a:lstStyle/>
                    <a:p>
                      <a:r>
                        <a:rPr sz="800" b="0" i="0">
                          <a:solidFill>
                            <a:srgbClr val="334155"/>
                          </a:solidFill>
                          <a:latin typeface="DM Sans"/>
                        </a:rPr>
                        <a:t>PROJECT_HANDOVER.md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00" b="0" i="0">
                          <a:solidFill>
                            <a:srgbClr val="334155"/>
                          </a:solidFill>
                          <a:latin typeface="DM Sans"/>
                        </a:rPr>
                        <a:t>docs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bl>
          </a:graphicData>
        </a:graphic>
      </p:graphicFrame>
      <p:sp>
        <p:nvSpPr>
          <p:cNvPr id="29" name="TextBox 28"/>
          <p:cNvSpPr txBox="1"/>
          <p:nvPr/>
        </p:nvSpPr>
        <p:spPr>
          <a:xfrm>
            <a:off x="8257031" y="4434840"/>
            <a:ext cx="3218688" cy="1005840"/>
          </a:xfrm>
          <a:prstGeom prst="rect">
            <a:avLst/>
          </a:prstGeom>
          <a:noFill/>
        </p:spPr>
        <p:txBody>
          <a:bodyPr wrap="square" anchor="t" lIns="0" rIns="0" tIns="0" bIns="0">
            <a:spAutoFit/>
          </a:bodyPr>
          <a:lstStyle/>
          <a:p>
            <a:pPr algn="l"/>
            <a:r>
              <a:rPr sz="880" b="0" i="0">
                <a:solidFill>
                  <a:srgbClr val="334155"/>
                </a:solidFill>
                <a:latin typeface="DM Sans"/>
              </a:rPr>
              <a:t>Commit history carries the file timestamps for the Stage 2 audit. No embedded videos; any demo video will be shared as an external link.</a:t>
            </a:r>
          </a:p>
        </p:txBody>
      </p:sp>
      <p:pic>
        <p:nvPicPr>
          <p:cNvPr id="30" name="Picture 29" descr="image.png"/>
          <p:cNvPicPr>
            <a:picLocks noChangeAspect="1"/>
          </p:cNvPicPr>
          <p:nvPr/>
        </p:nvPicPr>
        <p:blipFill>
          <a:blip r:embed="rId6"/>
          <a:stretch>
            <a:fillRect/>
          </a:stretch>
        </p:blipFill>
        <p:spPr>
          <a:xfrm>
            <a:off x="530352" y="5669280"/>
            <a:ext cx="11128248" cy="365760"/>
          </a:xfrm>
          <a:prstGeom prst="rect">
            <a:avLst/>
          </a:prstGeom>
        </p:spPr>
      </p:pic>
      <p:sp>
        <p:nvSpPr>
          <p:cNvPr id="31" name="TextBox 30"/>
          <p:cNvSpPr txBox="1"/>
          <p:nvPr/>
        </p:nvSpPr>
        <p:spPr>
          <a:xfrm>
            <a:off x="694944" y="5687568"/>
            <a:ext cx="10835640" cy="329184"/>
          </a:xfrm>
          <a:prstGeom prst="rect">
            <a:avLst/>
          </a:prstGeom>
          <a:noFill/>
        </p:spPr>
        <p:txBody>
          <a:bodyPr wrap="square" anchor="ctr" lIns="0" rIns="0" tIns="0" bIns="0">
            <a:spAutoFit/>
          </a:bodyPr>
          <a:lstStyle/>
          <a:p>
            <a:pPr algn="l"/>
            <a:r>
              <a:rPr sz="940" b="1" i="0">
                <a:solidFill>
                  <a:srgbClr val="0F172A"/>
                </a:solidFill>
                <a:latin typeface="DM Sans"/>
              </a:rPr>
              <a:t>Institutional Sign-Off: </a:t>
            </a:r>
            <a:r>
              <a:rPr sz="940" b="0" i="0">
                <a:solidFill>
                  <a:srgbClr val="475569"/>
                </a:solidFill>
                <a:latin typeface="DM Sans"/>
              </a:rPr>
              <a:t>work supervised by Mrs. C. Radhika, AP/BME, Department of Biomedical Engineering.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rcRect l="14673" r="15820" t="33074" b="44466"/>
          <a:stretch>
            <a:fillRect/>
          </a:stretch>
        </p:blipFill>
        <p:spPr>
          <a:xfrm>
            <a:off x="0" y="6281013"/>
            <a:ext cx="1785823" cy="576986"/>
          </a:xfrm>
          <a:prstGeom prst="rect">
            <a:avLst/>
          </a:prstGeom>
        </p:spPr>
      </p:pic>
      <p:pic>
        <p:nvPicPr>
          <p:cNvPr id="4" name="Picture 3" descr="image.png"/>
          <p:cNvPicPr>
            <a:picLocks noChangeAspect="1"/>
          </p:cNvPicPr>
          <p:nvPr/>
        </p:nvPicPr>
        <p:blipFill>
          <a:blip r:embed="rId4"/>
          <a:stretch>
            <a:fillRect/>
          </a:stretch>
        </p:blipFill>
        <p:spPr>
          <a:xfrm>
            <a:off x="11095329" y="6281013"/>
            <a:ext cx="1096365" cy="576986"/>
          </a:xfrm>
          <a:prstGeom prst="rect">
            <a:avLst/>
          </a:prstGeom>
        </p:spPr>
      </p:pic>
      <p:sp>
        <p:nvSpPr>
          <p:cNvPr id="5" name="TextBox 4"/>
          <p:cNvSpPr txBox="1"/>
          <p:nvPr/>
        </p:nvSpPr>
        <p:spPr>
          <a:xfrm>
            <a:off x="530352" y="402336"/>
            <a:ext cx="8595360" cy="365760"/>
          </a:xfrm>
          <a:prstGeom prst="rect">
            <a:avLst/>
          </a:prstGeom>
          <a:noFill/>
        </p:spPr>
        <p:txBody>
          <a:bodyPr wrap="square" anchor="t" lIns="0" rIns="0" tIns="0" bIns="0">
            <a:spAutoFit/>
          </a:bodyPr>
          <a:lstStyle/>
          <a:p>
            <a:pPr algn="l"/>
            <a:r>
              <a:rPr sz="2025" b="1" i="0">
                <a:solidFill>
                  <a:srgbClr val="0F172A"/>
                </a:solidFill>
                <a:latin typeface="Poppins"/>
              </a:rPr>
              <a:t>Maker Journey: Stage 1 → Stage 2 Iterations</a:t>
            </a:r>
          </a:p>
        </p:txBody>
      </p:sp>
      <p:sp>
        <p:nvSpPr>
          <p:cNvPr id="6" name="Rounded Rectangle 5"/>
          <p:cNvSpPr/>
          <p:nvPr/>
        </p:nvSpPr>
        <p:spPr>
          <a:xfrm>
            <a:off x="10378440" y="484632"/>
            <a:ext cx="1280160" cy="210312"/>
          </a:xfrm>
          <a:prstGeom prst="roundRect">
            <a:avLst>
              <a:gd name="adj" fmla="val 50000"/>
            </a:avLst>
          </a:prstGeom>
          <a:solidFill>
            <a:srgbClr val="DCFCE7"/>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378440" y="484632"/>
            <a:ext cx="1280160" cy="210312"/>
          </a:xfrm>
          <a:prstGeom prst="rect">
            <a:avLst/>
          </a:prstGeom>
          <a:noFill/>
        </p:spPr>
        <p:txBody>
          <a:bodyPr wrap="square" anchor="ctr" lIns="0" rIns="0" tIns="0" bIns="0">
            <a:spAutoFit/>
          </a:bodyPr>
          <a:lstStyle/>
          <a:p>
            <a:pPr algn="ctr"/>
            <a:r>
              <a:rPr sz="750" b="1" i="0">
                <a:solidFill>
                  <a:srgbClr val="047857"/>
                </a:solidFill>
                <a:latin typeface="Poppins"/>
              </a:rPr>
              <a:t>MAKER JOURNEY</a:t>
            </a:r>
          </a:p>
        </p:txBody>
      </p:sp>
      <p:sp>
        <p:nvSpPr>
          <p:cNvPr id="8" name="Rounded Rectangle 7"/>
          <p:cNvSpPr/>
          <p:nvPr/>
        </p:nvSpPr>
        <p:spPr>
          <a:xfrm>
            <a:off x="530352" y="960120"/>
            <a:ext cx="2651760" cy="2148840"/>
          </a:xfrm>
          <a:prstGeom prst="roundRect">
            <a:avLst>
              <a:gd name="adj" fmla="val 255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sch_ch1.png"/>
          <p:cNvPicPr>
            <a:picLocks noChangeAspect="1"/>
          </p:cNvPicPr>
          <p:nvPr/>
        </p:nvPicPr>
        <p:blipFill>
          <a:blip r:embed="rId5"/>
          <a:stretch>
            <a:fillRect/>
          </a:stretch>
        </p:blipFill>
        <p:spPr>
          <a:xfrm>
            <a:off x="605965" y="1014984"/>
            <a:ext cx="2500533" cy="2039112"/>
          </a:xfrm>
          <a:prstGeom prst="rect">
            <a:avLst/>
          </a:prstGeom>
        </p:spPr>
      </p:pic>
      <p:sp>
        <p:nvSpPr>
          <p:cNvPr id="10" name="Rounded Rectangle 9"/>
          <p:cNvSpPr/>
          <p:nvPr/>
        </p:nvSpPr>
        <p:spPr>
          <a:xfrm>
            <a:off x="3310128" y="960120"/>
            <a:ext cx="2651760" cy="2148840"/>
          </a:xfrm>
          <a:prstGeom prst="roundRect">
            <a:avLst>
              <a:gd name="adj" fmla="val 255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ad_iso.png"/>
          <p:cNvPicPr>
            <a:picLocks noChangeAspect="1"/>
          </p:cNvPicPr>
          <p:nvPr/>
        </p:nvPicPr>
        <p:blipFill>
          <a:blip r:embed="rId6"/>
          <a:stretch>
            <a:fillRect/>
          </a:stretch>
        </p:blipFill>
        <p:spPr>
          <a:xfrm>
            <a:off x="3364992" y="1198388"/>
            <a:ext cx="2542032" cy="1672303"/>
          </a:xfrm>
          <a:prstGeom prst="rect">
            <a:avLst/>
          </a:prstGeom>
        </p:spPr>
      </p:pic>
      <p:sp>
        <p:nvSpPr>
          <p:cNvPr id="12" name="TextBox 11"/>
          <p:cNvSpPr txBox="1"/>
          <p:nvPr/>
        </p:nvSpPr>
        <p:spPr>
          <a:xfrm>
            <a:off x="530352" y="3136392"/>
            <a:ext cx="5431536" cy="182880"/>
          </a:xfrm>
          <a:prstGeom prst="rect">
            <a:avLst/>
          </a:prstGeom>
          <a:noFill/>
        </p:spPr>
        <p:txBody>
          <a:bodyPr wrap="square" anchor="t" lIns="0" rIns="0" tIns="0" bIns="0">
            <a:spAutoFit/>
          </a:bodyPr>
          <a:lstStyle/>
          <a:p>
            <a:pPr algn="r"/>
            <a:r>
              <a:rPr sz="860" b="0" i="1">
                <a:solidFill>
                  <a:srgbClr val="64748B"/>
                </a:solidFill>
                <a:latin typeface="DM Sans"/>
              </a:rPr>
              <a:t>Original design assets: KiCad HX711 channel (left) and FreeCAD assembly (right)</a:t>
            </a:r>
          </a:p>
        </p:txBody>
      </p:sp>
      <p:sp>
        <p:nvSpPr>
          <p:cNvPr id="13" name="Rounded Rectangle 12"/>
          <p:cNvSpPr/>
          <p:nvPr/>
        </p:nvSpPr>
        <p:spPr>
          <a:xfrm>
            <a:off x="530352" y="3401568"/>
            <a:ext cx="5431536" cy="1901952"/>
          </a:xfrm>
          <a:prstGeom prst="roundRect">
            <a:avLst>
              <a:gd name="adj" fmla="val 288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fea_plot.png"/>
          <p:cNvPicPr>
            <a:picLocks noChangeAspect="1"/>
          </p:cNvPicPr>
          <p:nvPr/>
        </p:nvPicPr>
        <p:blipFill>
          <a:blip r:embed="rId7"/>
          <a:stretch>
            <a:fillRect/>
          </a:stretch>
        </p:blipFill>
        <p:spPr>
          <a:xfrm>
            <a:off x="1254760" y="3456432"/>
            <a:ext cx="3982720" cy="1792224"/>
          </a:xfrm>
          <a:prstGeom prst="rect">
            <a:avLst/>
          </a:prstGeom>
        </p:spPr>
      </p:pic>
      <p:sp>
        <p:nvSpPr>
          <p:cNvPr id="15" name="TextBox 14"/>
          <p:cNvSpPr txBox="1"/>
          <p:nvPr/>
        </p:nvSpPr>
        <p:spPr>
          <a:xfrm>
            <a:off x="530352" y="5330952"/>
            <a:ext cx="5431536" cy="182880"/>
          </a:xfrm>
          <a:prstGeom prst="rect">
            <a:avLst/>
          </a:prstGeom>
          <a:noFill/>
        </p:spPr>
        <p:txBody>
          <a:bodyPr wrap="square" anchor="t" lIns="0" rIns="0" tIns="0" bIns="0">
            <a:spAutoFit/>
          </a:bodyPr>
          <a:lstStyle/>
          <a:p>
            <a:pPr algn="r"/>
            <a:r>
              <a:rPr sz="860" b="0" i="1">
                <a:solidFill>
                  <a:srgbClr val="64748B"/>
                </a:solidFill>
                <a:latin typeface="DM Sans"/>
              </a:rPr>
              <a:t>Iteration evidence: FEA sag result drove the 20 mm enclosure cap</a:t>
            </a:r>
          </a:p>
        </p:txBody>
      </p:sp>
      <p:sp>
        <p:nvSpPr>
          <p:cNvPr id="16" name="Rounded Rectangle 15"/>
          <p:cNvSpPr/>
          <p:nvPr/>
        </p:nvSpPr>
        <p:spPr>
          <a:xfrm>
            <a:off x="6227064" y="960120"/>
            <a:ext cx="5431536" cy="4553712"/>
          </a:xfrm>
          <a:prstGeom prst="roundRect">
            <a:avLst>
              <a:gd name="adj" fmla="val 1606"/>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446520" y="1133856"/>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65976" y="1078992"/>
            <a:ext cx="4809744" cy="237744"/>
          </a:xfrm>
          <a:prstGeom prst="rect">
            <a:avLst/>
          </a:prstGeom>
          <a:noFill/>
        </p:spPr>
        <p:txBody>
          <a:bodyPr wrap="square" anchor="t" lIns="0" rIns="0" tIns="0" bIns="0">
            <a:spAutoFit/>
          </a:bodyPr>
          <a:lstStyle/>
          <a:p>
            <a:pPr algn="l"/>
            <a:r>
              <a:rPr sz="1125" b="1" i="0">
                <a:solidFill>
                  <a:srgbClr val="0F172A"/>
                </a:solidFill>
                <a:latin typeface="DM Sans"/>
              </a:rPr>
              <a:t>Stage 1 → Stage 2 Engineering Iterations</a:t>
            </a:r>
          </a:p>
        </p:txBody>
      </p:sp>
      <p:sp>
        <p:nvSpPr>
          <p:cNvPr id="19" name="TextBox 18"/>
          <p:cNvSpPr txBox="1"/>
          <p:nvPr/>
        </p:nvSpPr>
        <p:spPr>
          <a:xfrm>
            <a:off x="6446520" y="1417320"/>
            <a:ext cx="5029200" cy="4069080"/>
          </a:xfrm>
          <a:prstGeom prst="rect">
            <a:avLst/>
          </a:prstGeom>
          <a:noFill/>
        </p:spPr>
        <p:txBody>
          <a:bodyPr wrap="square" anchor="t" lIns="0" rIns="0" tIns="0" bIns="0">
            <a:spAutoFit/>
          </a:bodyPr>
          <a:lstStyle/>
          <a:p>
            <a:pPr marL="146304" indent="-146304">
              <a:lnSpc>
                <a:spcPct val="108000"/>
              </a:lnSpc>
              <a:spcAft>
                <a:spcPts val="400"/>
              </a:spcAft>
              <a:buClr>
                <a:srgbClr val="059669"/>
              </a:buClr>
              <a:buSzPct val="100000"/>
              <a:buFont typeface="Arial"/>
              <a:buChar char="▪"/>
            </a:pPr>
            <a:r>
              <a:rPr sz="900" b="1" i="0">
                <a:solidFill>
                  <a:srgbClr val="0F172A"/>
                </a:solidFill>
                <a:latin typeface="DM Sans"/>
              </a:rPr>
              <a:t>Rev 1 → Rev 2 audit: </a:t>
            </a:r>
            <a:r>
              <a:rPr sz="900" b="0" i="0">
                <a:solidFill>
                  <a:srgbClr val="334155"/>
                </a:solidFill>
                <a:latin typeface="DM Sans"/>
              </a:rPr>
              <a:t>10 specification errors fixed: gain 32 → 128, 10 → 80 Hz, "perfect sync" replaced by a declared 12.5 ms skew, Z-mount cross-talk claim withdrawn, shimming made mandatory, PEA95 adopted, hard-coded cut-offs replaced by a baseline-referenced score, haptic disabled.</a:t>
            </a:r>
          </a:p>
          <a:p>
            <a:pPr marL="146304" indent="-146304">
              <a:lnSpc>
                <a:spcPct val="108000"/>
              </a:lnSpc>
              <a:spcAft>
                <a:spcPts val="400"/>
              </a:spcAft>
              <a:buClr>
                <a:srgbClr val="059669"/>
              </a:buClr>
              <a:buSzPct val="100000"/>
              <a:buFont typeface="Arial"/>
              <a:buChar char="▪"/>
            </a:pPr>
            <a:r>
              <a:rPr sz="900" b="1" i="0">
                <a:solidFill>
                  <a:srgbClr val="0F172A"/>
                </a:solidFill>
                <a:latin typeface="DM Sans"/>
              </a:rPr>
              <a:t>CAD milestone: </a:t>
            </a:r>
            <a:r>
              <a:rPr sz="900" b="0" i="0">
                <a:solidFill>
                  <a:srgbClr val="334155"/>
                </a:solidFill>
                <a:latin typeface="DM Sans"/>
              </a:rPr>
              <a:t>FreeCAD 1.1 assembly (44 solids) with STEP export; CalculiX FEA of the top plate (56,502 nodes) run 14 Oct 2026.</a:t>
            </a:r>
          </a:p>
          <a:p>
            <a:pPr marL="146304" indent="-146304">
              <a:lnSpc>
                <a:spcPct val="108000"/>
              </a:lnSpc>
              <a:spcAft>
                <a:spcPts val="400"/>
              </a:spcAft>
              <a:buClr>
                <a:srgbClr val="059669"/>
              </a:buClr>
              <a:buSzPct val="100000"/>
              <a:buFont typeface="Arial"/>
              <a:buChar char="▪"/>
            </a:pPr>
            <a:r>
              <a:rPr sz="900" b="1" i="0">
                <a:solidFill>
                  <a:srgbClr val="0F172A"/>
                </a:solidFill>
                <a:latin typeface="DM Sans"/>
              </a:rPr>
              <a:t>EDA milestone: </a:t>
            </a:r>
            <a:r>
              <a:rPr sz="900" b="0" i="0">
                <a:solidFill>
                  <a:srgbClr val="334155"/>
                </a:solidFill>
                <a:latin typeface="DM Sans"/>
              </a:rPr>
              <a:t>KiCad 10 schematic, 46 symbols, ERC clean; netlist, BOM and PDF exported.</a:t>
            </a:r>
          </a:p>
          <a:p>
            <a:pPr marL="146304" indent="-146304">
              <a:lnSpc>
                <a:spcPct val="108000"/>
              </a:lnSpc>
              <a:spcAft>
                <a:spcPts val="400"/>
              </a:spcAft>
              <a:buClr>
                <a:srgbClr val="059669"/>
              </a:buClr>
              <a:buSzPct val="100000"/>
              <a:buFont typeface="Arial"/>
              <a:buChar char="▪"/>
            </a:pPr>
            <a:r>
              <a:rPr sz="900" b="1" i="0">
                <a:solidFill>
                  <a:srgbClr val="0F172A"/>
                </a:solidFill>
                <a:latin typeface="DM Sans"/>
              </a:rPr>
              <a:t>Datasheet catch: </a:t>
            </a:r>
            <a:r>
              <a:rPr sz="900" b="0" i="0">
                <a:solidFill>
                  <a:srgbClr val="334155"/>
                </a:solidFill>
                <a:latin typeface="DM Sans"/>
              </a:rPr>
              <a:t>the RATE jumper goes to DVDD (pin 16), not VBG (pin 6), giving a valid logic-high for 80 SPS.</a:t>
            </a:r>
          </a:p>
          <a:p>
            <a:pPr marL="146304" indent="-146304">
              <a:lnSpc>
                <a:spcPct val="108000"/>
              </a:lnSpc>
              <a:spcAft>
                <a:spcPts val="400"/>
              </a:spcAft>
              <a:buClr>
                <a:srgbClr val="059669"/>
              </a:buClr>
              <a:buSzPct val="100000"/>
              <a:buFont typeface="Arial"/>
              <a:buChar char="▪"/>
            </a:pPr>
            <a:r>
              <a:rPr sz="900" b="1" i="0">
                <a:solidFill>
                  <a:srgbClr val="0F172A"/>
                </a:solidFill>
                <a:latin typeface="DM Sans"/>
              </a:rPr>
              <a:t>Repository: </a:t>
            </a:r>
            <a:r>
              <a:rPr sz="900" b="0" i="0">
                <a:solidFill>
                  <a:srgbClr val="334155"/>
                </a:solidFill>
                <a:latin typeface="DM Sans"/>
              </a:rPr>
              <a:t>github.com/amalnathkp13-boop/EquiSense-ForcePlatform with hardware/cad (.FCStd, .step, FEA), hardware/kicad (.kicad_sch, ERC, netlist, BOM, PDF), docs/ and analysis/.</a:t>
            </a:r>
          </a:p>
        </p:txBody>
      </p:sp>
      <p:pic>
        <p:nvPicPr>
          <p:cNvPr id="20" name="Picture 19" descr="image.png"/>
          <p:cNvPicPr>
            <a:picLocks noChangeAspect="1"/>
          </p:cNvPicPr>
          <p:nvPr/>
        </p:nvPicPr>
        <p:blipFill>
          <a:blip r:embed="rId8"/>
          <a:stretch>
            <a:fillRect/>
          </a:stretch>
        </p:blipFill>
        <p:spPr>
          <a:xfrm>
            <a:off x="530352" y="5669280"/>
            <a:ext cx="11128248" cy="365760"/>
          </a:xfrm>
          <a:prstGeom prst="rect">
            <a:avLst/>
          </a:prstGeom>
        </p:spPr>
      </p:pic>
      <p:sp>
        <p:nvSpPr>
          <p:cNvPr id="21" name="TextBox 20"/>
          <p:cNvSpPr txBox="1"/>
          <p:nvPr/>
        </p:nvSpPr>
        <p:spPr>
          <a:xfrm>
            <a:off x="694944" y="5687568"/>
            <a:ext cx="10835640" cy="329184"/>
          </a:xfrm>
          <a:prstGeom prst="rect">
            <a:avLst/>
          </a:prstGeom>
          <a:noFill/>
        </p:spPr>
        <p:txBody>
          <a:bodyPr wrap="square" anchor="ctr" lIns="0" rIns="0" tIns="0" bIns="0">
            <a:spAutoFit/>
          </a:bodyPr>
          <a:lstStyle/>
          <a:p>
            <a:pPr algn="l"/>
            <a:r>
              <a:rPr sz="940" b="1" i="0">
                <a:solidFill>
                  <a:srgbClr val="0F172A"/>
                </a:solidFill>
                <a:latin typeface="DM Sans"/>
              </a:rPr>
              <a:t>Institutional Sign-Off: </a:t>
            </a:r>
            <a:r>
              <a:rPr sz="940" b="0" i="0">
                <a:solidFill>
                  <a:srgbClr val="475569"/>
                </a:solidFill>
                <a:latin typeface="DM Sans"/>
              </a:rPr>
              <a:t>work supervised by Mrs. C. Radhika, AP/BME, Department of Biomedical Engineering.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rcRect l="14673" r="15820" t="33074" b="44466"/>
          <a:stretch>
            <a:fillRect/>
          </a:stretch>
        </p:blipFill>
        <p:spPr>
          <a:xfrm>
            <a:off x="0" y="6281013"/>
            <a:ext cx="1785823" cy="576986"/>
          </a:xfrm>
          <a:prstGeom prst="rect">
            <a:avLst/>
          </a:prstGeom>
        </p:spPr>
      </p:pic>
      <p:pic>
        <p:nvPicPr>
          <p:cNvPr id="4" name="Picture 3" descr="image.png"/>
          <p:cNvPicPr>
            <a:picLocks noChangeAspect="1"/>
          </p:cNvPicPr>
          <p:nvPr/>
        </p:nvPicPr>
        <p:blipFill>
          <a:blip r:embed="rId4"/>
          <a:stretch>
            <a:fillRect/>
          </a:stretch>
        </p:blipFill>
        <p:spPr>
          <a:xfrm>
            <a:off x="11095329" y="6281013"/>
            <a:ext cx="1096365" cy="576986"/>
          </a:xfrm>
          <a:prstGeom prst="rect">
            <a:avLst/>
          </a:prstGeom>
        </p:spPr>
      </p:pic>
      <p:sp>
        <p:nvSpPr>
          <p:cNvPr id="5" name="TextBox 4"/>
          <p:cNvSpPr txBox="1"/>
          <p:nvPr/>
        </p:nvSpPr>
        <p:spPr>
          <a:xfrm>
            <a:off x="530352" y="402336"/>
            <a:ext cx="8595360" cy="365760"/>
          </a:xfrm>
          <a:prstGeom prst="rect">
            <a:avLst/>
          </a:prstGeom>
          <a:noFill/>
        </p:spPr>
        <p:txBody>
          <a:bodyPr wrap="square" anchor="t" lIns="0" rIns="0" tIns="0" bIns="0">
            <a:spAutoFit/>
          </a:bodyPr>
          <a:lstStyle/>
          <a:p>
            <a:pPr algn="l"/>
            <a:r>
              <a:rPr sz="2025" b="1" i="0">
                <a:solidFill>
                  <a:srgbClr val="0F172A"/>
                </a:solidFill>
                <a:latin typeface="Poppins"/>
              </a:rPr>
              <a:t>Safety &amp; Hazard Mitigation</a:t>
            </a:r>
          </a:p>
        </p:txBody>
      </p:sp>
      <p:sp>
        <p:nvSpPr>
          <p:cNvPr id="6" name="Rounded Rectangle 5"/>
          <p:cNvSpPr/>
          <p:nvPr/>
        </p:nvSpPr>
        <p:spPr>
          <a:xfrm>
            <a:off x="10378440" y="484632"/>
            <a:ext cx="1280160" cy="210312"/>
          </a:xfrm>
          <a:prstGeom prst="roundRect">
            <a:avLst>
              <a:gd name="adj" fmla="val 50000"/>
            </a:avLst>
          </a:prstGeom>
          <a:solidFill>
            <a:srgbClr val="DCFCE7"/>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378440" y="484632"/>
            <a:ext cx="1280160" cy="210312"/>
          </a:xfrm>
          <a:prstGeom prst="rect">
            <a:avLst/>
          </a:prstGeom>
          <a:noFill/>
        </p:spPr>
        <p:txBody>
          <a:bodyPr wrap="square" anchor="ctr" lIns="0" rIns="0" tIns="0" bIns="0">
            <a:spAutoFit/>
          </a:bodyPr>
          <a:lstStyle/>
          <a:p>
            <a:pPr algn="ctr"/>
            <a:r>
              <a:rPr sz="750" b="1" i="0">
                <a:solidFill>
                  <a:srgbClr val="047857"/>
                </a:solidFill>
                <a:latin typeface="Poppins"/>
              </a:rPr>
              <a:t>SAFETY</a:t>
            </a:r>
          </a:p>
        </p:txBody>
      </p:sp>
      <p:sp>
        <p:nvSpPr>
          <p:cNvPr id="8" name="Rounded Rectangle 7"/>
          <p:cNvSpPr/>
          <p:nvPr/>
        </p:nvSpPr>
        <p:spPr>
          <a:xfrm>
            <a:off x="530352" y="960120"/>
            <a:ext cx="5431536" cy="4553712"/>
          </a:xfrm>
          <a:prstGeom prst="roundRect">
            <a:avLst>
              <a:gd name="adj" fmla="val 160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731520" y="1133856"/>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50976" y="1078992"/>
            <a:ext cx="4809744" cy="237744"/>
          </a:xfrm>
          <a:prstGeom prst="rect">
            <a:avLst/>
          </a:prstGeom>
          <a:noFill/>
        </p:spPr>
        <p:txBody>
          <a:bodyPr wrap="square" anchor="t" lIns="0" rIns="0" tIns="0" bIns="0">
            <a:spAutoFit/>
          </a:bodyPr>
          <a:lstStyle/>
          <a:p>
            <a:pPr algn="l"/>
            <a:r>
              <a:rPr sz="1125" b="1" i="0">
                <a:solidFill>
                  <a:srgbClr val="0F172A"/>
                </a:solidFill>
                <a:latin typeface="DM Sans"/>
              </a:rPr>
              <a:t>Physical Fail-Safes &amp; Mechanical Safety</a:t>
            </a:r>
          </a:p>
        </p:txBody>
      </p:sp>
      <p:sp>
        <p:nvSpPr>
          <p:cNvPr id="11" name="Rounded Rectangle 10"/>
          <p:cNvSpPr/>
          <p:nvPr/>
        </p:nvSpPr>
        <p:spPr>
          <a:xfrm>
            <a:off x="731520" y="1472184"/>
            <a:ext cx="292608" cy="292608"/>
          </a:xfrm>
          <a:prstGeom prst="roundRect">
            <a:avLst>
              <a:gd name="adj" fmla="val 1875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1520" y="1472184"/>
            <a:ext cx="292608" cy="292608"/>
          </a:xfrm>
          <a:prstGeom prst="rect">
            <a:avLst/>
          </a:prstGeom>
          <a:noFill/>
        </p:spPr>
        <p:txBody>
          <a:bodyPr wrap="square" anchor="ctr" lIns="0" rIns="0" tIns="0" bIns="0">
            <a:spAutoFit/>
          </a:bodyPr>
          <a:lstStyle/>
          <a:p>
            <a:pPr algn="ctr"/>
            <a:r>
              <a:rPr sz="1000" b="1" i="0">
                <a:solidFill>
                  <a:srgbClr val="059669"/>
                </a:solidFill>
                <a:latin typeface="DM Sans"/>
              </a:rPr>
              <a:t>✓</a:t>
            </a:r>
          </a:p>
        </p:txBody>
      </p:sp>
      <p:sp>
        <p:nvSpPr>
          <p:cNvPr id="13" name="TextBox 12"/>
          <p:cNvSpPr txBox="1"/>
          <p:nvPr/>
        </p:nvSpPr>
        <p:spPr>
          <a:xfrm>
            <a:off x="1143000" y="1417320"/>
            <a:ext cx="4663440" cy="228600"/>
          </a:xfrm>
          <a:prstGeom prst="rect">
            <a:avLst/>
          </a:prstGeom>
          <a:noFill/>
        </p:spPr>
        <p:txBody>
          <a:bodyPr wrap="square" anchor="t" lIns="0" rIns="0" tIns="0" bIns="0">
            <a:spAutoFit/>
          </a:bodyPr>
          <a:lstStyle/>
          <a:p>
            <a:pPr algn="l"/>
            <a:r>
              <a:rPr sz="980" b="1" i="0">
                <a:solidFill>
                  <a:srgbClr val="0F172A"/>
                </a:solidFill>
                <a:latin typeface="DM Sans"/>
              </a:rPr>
              <a:t>Battery-only supply</a:t>
            </a:r>
          </a:p>
        </p:txBody>
      </p:sp>
      <p:sp>
        <p:nvSpPr>
          <p:cNvPr id="14" name="TextBox 13"/>
          <p:cNvSpPr txBox="1"/>
          <p:nvPr/>
        </p:nvSpPr>
        <p:spPr>
          <a:xfrm>
            <a:off x="1143000" y="1645920"/>
            <a:ext cx="4663440" cy="548640"/>
          </a:xfrm>
          <a:prstGeom prst="rect">
            <a:avLst/>
          </a:prstGeom>
          <a:noFill/>
        </p:spPr>
        <p:txBody>
          <a:bodyPr wrap="square" anchor="t" lIns="0" rIns="0" tIns="0" bIns="0">
            <a:spAutoFit/>
          </a:bodyPr>
          <a:lstStyle/>
          <a:p>
            <a:pPr algn="l"/>
            <a:r>
              <a:rPr sz="919" b="0" i="0">
                <a:solidFill>
                  <a:srgbClr val="334155"/>
                </a:solidFill>
                <a:latin typeface="DM Sans"/>
              </a:rPr>
              <a:t>2 × 18650 cells, ≤ 5 V everywhere; no conductive path from mains to the participant.</a:t>
            </a:r>
          </a:p>
        </p:txBody>
      </p:sp>
      <p:sp>
        <p:nvSpPr>
          <p:cNvPr id="15" name="Rounded Rectangle 14"/>
          <p:cNvSpPr/>
          <p:nvPr/>
        </p:nvSpPr>
        <p:spPr>
          <a:xfrm>
            <a:off x="731520" y="2276856"/>
            <a:ext cx="292608" cy="292608"/>
          </a:xfrm>
          <a:prstGeom prst="roundRect">
            <a:avLst>
              <a:gd name="adj" fmla="val 1875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2276856"/>
            <a:ext cx="292608" cy="292608"/>
          </a:xfrm>
          <a:prstGeom prst="rect">
            <a:avLst/>
          </a:prstGeom>
          <a:noFill/>
        </p:spPr>
        <p:txBody>
          <a:bodyPr wrap="square" anchor="ctr" lIns="0" rIns="0" tIns="0" bIns="0">
            <a:spAutoFit/>
          </a:bodyPr>
          <a:lstStyle/>
          <a:p>
            <a:pPr algn="ctr"/>
            <a:r>
              <a:rPr sz="1000" b="1" i="0">
                <a:solidFill>
                  <a:srgbClr val="059669"/>
                </a:solidFill>
                <a:latin typeface="DM Sans"/>
              </a:rPr>
              <a:t>✓</a:t>
            </a:r>
          </a:p>
        </p:txBody>
      </p:sp>
      <p:sp>
        <p:nvSpPr>
          <p:cNvPr id="17" name="TextBox 16"/>
          <p:cNvSpPr txBox="1"/>
          <p:nvPr/>
        </p:nvSpPr>
        <p:spPr>
          <a:xfrm>
            <a:off x="1143000" y="2221992"/>
            <a:ext cx="4663440" cy="228600"/>
          </a:xfrm>
          <a:prstGeom prst="rect">
            <a:avLst/>
          </a:prstGeom>
          <a:noFill/>
        </p:spPr>
        <p:txBody>
          <a:bodyPr wrap="square" anchor="t" lIns="0" rIns="0" tIns="0" bIns="0">
            <a:spAutoFit/>
          </a:bodyPr>
          <a:lstStyle/>
          <a:p>
            <a:pPr algn="l"/>
            <a:r>
              <a:rPr sz="980" b="1" i="0">
                <a:solidFill>
                  <a:srgbClr val="0F172A"/>
                </a:solidFill>
                <a:latin typeface="DM Sans"/>
              </a:rPr>
              <a:t>Haptic isolation</a:t>
            </a:r>
          </a:p>
        </p:txBody>
      </p:sp>
      <p:sp>
        <p:nvSpPr>
          <p:cNvPr id="18" name="TextBox 17"/>
          <p:cNvSpPr txBox="1"/>
          <p:nvPr/>
        </p:nvSpPr>
        <p:spPr>
          <a:xfrm>
            <a:off x="1143000" y="2450592"/>
            <a:ext cx="4663440" cy="548640"/>
          </a:xfrm>
          <a:prstGeom prst="rect">
            <a:avLst/>
          </a:prstGeom>
          <a:noFill/>
        </p:spPr>
        <p:txBody>
          <a:bodyPr wrap="square" anchor="t" lIns="0" rIns="0" tIns="0" bIns="0">
            <a:spAutoFit/>
          </a:bodyPr>
          <a:lstStyle/>
          <a:p>
            <a:pPr algn="l"/>
            <a:r>
              <a:rPr sz="919" b="0" i="0">
                <a:solidFill>
                  <a:srgbClr val="334155"/>
                </a:solidFill>
                <a:latin typeface="DM Sans"/>
              </a:rPr>
              <a:t>JP1 jumper removed and actuator disabled in firmware for all human trials.</a:t>
            </a:r>
          </a:p>
        </p:txBody>
      </p:sp>
      <p:sp>
        <p:nvSpPr>
          <p:cNvPr id="19" name="Rounded Rectangle 18"/>
          <p:cNvSpPr/>
          <p:nvPr/>
        </p:nvSpPr>
        <p:spPr>
          <a:xfrm>
            <a:off x="731520" y="3081528"/>
            <a:ext cx="292608" cy="292608"/>
          </a:xfrm>
          <a:prstGeom prst="roundRect">
            <a:avLst>
              <a:gd name="adj" fmla="val 1875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1520" y="3081528"/>
            <a:ext cx="292608" cy="292608"/>
          </a:xfrm>
          <a:prstGeom prst="rect">
            <a:avLst/>
          </a:prstGeom>
          <a:noFill/>
        </p:spPr>
        <p:txBody>
          <a:bodyPr wrap="square" anchor="ctr" lIns="0" rIns="0" tIns="0" bIns="0">
            <a:spAutoFit/>
          </a:bodyPr>
          <a:lstStyle/>
          <a:p>
            <a:pPr algn="ctr"/>
            <a:r>
              <a:rPr sz="1000" b="1" i="0">
                <a:solidFill>
                  <a:srgbClr val="059669"/>
                </a:solidFill>
                <a:latin typeface="DM Sans"/>
              </a:rPr>
              <a:t>✓</a:t>
            </a:r>
          </a:p>
        </p:txBody>
      </p:sp>
      <p:sp>
        <p:nvSpPr>
          <p:cNvPr id="21" name="TextBox 20"/>
          <p:cNvSpPr txBox="1"/>
          <p:nvPr/>
        </p:nvSpPr>
        <p:spPr>
          <a:xfrm>
            <a:off x="1143000" y="3026664"/>
            <a:ext cx="4663440" cy="228600"/>
          </a:xfrm>
          <a:prstGeom prst="rect">
            <a:avLst/>
          </a:prstGeom>
          <a:noFill/>
        </p:spPr>
        <p:txBody>
          <a:bodyPr wrap="square" anchor="t" lIns="0" rIns="0" tIns="0" bIns="0">
            <a:spAutoFit/>
          </a:bodyPr>
          <a:lstStyle/>
          <a:p>
            <a:pPr algn="l"/>
            <a:r>
              <a:rPr sz="980" b="1" i="0">
                <a:solidFill>
                  <a:srgbClr val="0F172A"/>
                </a:solidFill>
                <a:latin typeface="DM Sans"/>
              </a:rPr>
              <a:t>Structural margin</a:t>
            </a:r>
          </a:p>
        </p:txBody>
      </p:sp>
      <p:sp>
        <p:nvSpPr>
          <p:cNvPr id="22" name="TextBox 21"/>
          <p:cNvSpPr txBox="1"/>
          <p:nvPr/>
        </p:nvSpPr>
        <p:spPr>
          <a:xfrm>
            <a:off x="1143000" y="3255264"/>
            <a:ext cx="4663440" cy="548640"/>
          </a:xfrm>
          <a:prstGeom prst="rect">
            <a:avLst/>
          </a:prstGeom>
          <a:noFill/>
        </p:spPr>
        <p:txBody>
          <a:bodyPr wrap="square" anchor="t" lIns="0" rIns="0" tIns="0" bIns="0">
            <a:spAutoFit/>
          </a:bodyPr>
          <a:lstStyle/>
          <a:p>
            <a:pPr algn="l"/>
            <a:r>
              <a:rPr sz="919" b="0" i="0">
                <a:solidFill>
                  <a:srgbClr val="334155"/>
                </a:solidFill>
                <a:latin typeface="DM Sans"/>
              </a:rPr>
              <a:t>4 × 200 kg cells = 800 kg gross; safety factor &gt; 5.3 at the 150 kg participant limit.</a:t>
            </a:r>
          </a:p>
        </p:txBody>
      </p:sp>
      <p:sp>
        <p:nvSpPr>
          <p:cNvPr id="23" name="Rounded Rectangle 22"/>
          <p:cNvSpPr/>
          <p:nvPr/>
        </p:nvSpPr>
        <p:spPr>
          <a:xfrm>
            <a:off x="731520" y="3886200"/>
            <a:ext cx="292608" cy="292608"/>
          </a:xfrm>
          <a:prstGeom prst="roundRect">
            <a:avLst>
              <a:gd name="adj" fmla="val 1875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31520" y="3886200"/>
            <a:ext cx="292608" cy="292608"/>
          </a:xfrm>
          <a:prstGeom prst="rect">
            <a:avLst/>
          </a:prstGeom>
          <a:noFill/>
        </p:spPr>
        <p:txBody>
          <a:bodyPr wrap="square" anchor="ctr" lIns="0" rIns="0" tIns="0" bIns="0">
            <a:spAutoFit/>
          </a:bodyPr>
          <a:lstStyle/>
          <a:p>
            <a:pPr algn="ctr"/>
            <a:r>
              <a:rPr sz="1000" b="1" i="0">
                <a:solidFill>
                  <a:srgbClr val="059669"/>
                </a:solidFill>
                <a:latin typeface="DM Sans"/>
              </a:rPr>
              <a:t>✓</a:t>
            </a:r>
          </a:p>
        </p:txBody>
      </p:sp>
      <p:sp>
        <p:nvSpPr>
          <p:cNvPr id="25" name="TextBox 24"/>
          <p:cNvSpPr txBox="1"/>
          <p:nvPr/>
        </p:nvSpPr>
        <p:spPr>
          <a:xfrm>
            <a:off x="1143000" y="3831336"/>
            <a:ext cx="4663440" cy="228600"/>
          </a:xfrm>
          <a:prstGeom prst="rect">
            <a:avLst/>
          </a:prstGeom>
          <a:noFill/>
        </p:spPr>
        <p:txBody>
          <a:bodyPr wrap="square" anchor="t" lIns="0" rIns="0" tIns="0" bIns="0">
            <a:spAutoFit/>
          </a:bodyPr>
          <a:lstStyle/>
          <a:p>
            <a:pPr algn="l"/>
            <a:r>
              <a:rPr sz="980" b="1" i="0">
                <a:solidFill>
                  <a:srgbClr val="0F172A"/>
                </a:solidFill>
                <a:latin typeface="DM Sans"/>
              </a:rPr>
              <a:t>Low step height</a:t>
            </a:r>
          </a:p>
        </p:txBody>
      </p:sp>
      <p:sp>
        <p:nvSpPr>
          <p:cNvPr id="26" name="TextBox 25"/>
          <p:cNvSpPr txBox="1"/>
          <p:nvPr/>
        </p:nvSpPr>
        <p:spPr>
          <a:xfrm>
            <a:off x="1143000" y="4059936"/>
            <a:ext cx="4663440" cy="548640"/>
          </a:xfrm>
          <a:prstGeom prst="rect">
            <a:avLst/>
          </a:prstGeom>
          <a:noFill/>
        </p:spPr>
        <p:txBody>
          <a:bodyPr wrap="square" anchor="t" lIns="0" rIns="0" tIns="0" bIns="0">
            <a:spAutoFit/>
          </a:bodyPr>
          <a:lstStyle/>
          <a:p>
            <a:pPr algn="l"/>
            <a:r>
              <a:rPr sz="919" b="0" i="0">
                <a:solidFill>
                  <a:srgbClr val="334155"/>
                </a:solidFill>
                <a:latin typeface="DM Sans"/>
              </a:rPr>
              <a:t>71 mm platform height; spotter and support rail beside the plate during trials.</a:t>
            </a:r>
          </a:p>
        </p:txBody>
      </p:sp>
      <p:sp>
        <p:nvSpPr>
          <p:cNvPr id="27" name="Rounded Rectangle 26"/>
          <p:cNvSpPr/>
          <p:nvPr/>
        </p:nvSpPr>
        <p:spPr>
          <a:xfrm>
            <a:off x="731520" y="4690872"/>
            <a:ext cx="292608" cy="292608"/>
          </a:xfrm>
          <a:prstGeom prst="roundRect">
            <a:avLst>
              <a:gd name="adj" fmla="val 1875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1520" y="4690872"/>
            <a:ext cx="292608" cy="292608"/>
          </a:xfrm>
          <a:prstGeom prst="rect">
            <a:avLst/>
          </a:prstGeom>
          <a:noFill/>
        </p:spPr>
        <p:txBody>
          <a:bodyPr wrap="square" anchor="ctr" lIns="0" rIns="0" tIns="0" bIns="0">
            <a:spAutoFit/>
          </a:bodyPr>
          <a:lstStyle/>
          <a:p>
            <a:pPr algn="ctr"/>
            <a:r>
              <a:rPr sz="1000" b="1" i="0">
                <a:solidFill>
                  <a:srgbClr val="059669"/>
                </a:solidFill>
                <a:latin typeface="DM Sans"/>
              </a:rPr>
              <a:t>✓</a:t>
            </a:r>
          </a:p>
        </p:txBody>
      </p:sp>
      <p:sp>
        <p:nvSpPr>
          <p:cNvPr id="29" name="TextBox 28"/>
          <p:cNvSpPr txBox="1"/>
          <p:nvPr/>
        </p:nvSpPr>
        <p:spPr>
          <a:xfrm>
            <a:off x="1143000" y="4636008"/>
            <a:ext cx="4663440" cy="228600"/>
          </a:xfrm>
          <a:prstGeom prst="rect">
            <a:avLst/>
          </a:prstGeom>
          <a:noFill/>
        </p:spPr>
        <p:txBody>
          <a:bodyPr wrap="square" anchor="t" lIns="0" rIns="0" tIns="0" bIns="0">
            <a:spAutoFit/>
          </a:bodyPr>
          <a:lstStyle/>
          <a:p>
            <a:pPr algn="l"/>
            <a:r>
              <a:rPr sz="980" b="1" i="0">
                <a:solidFill>
                  <a:srgbClr val="0F172A"/>
                </a:solidFill>
                <a:latin typeface="DM Sans"/>
              </a:rPr>
              <a:t>Anti-slip &amp; sealing</a:t>
            </a:r>
          </a:p>
        </p:txBody>
      </p:sp>
      <p:sp>
        <p:nvSpPr>
          <p:cNvPr id="30" name="TextBox 29"/>
          <p:cNvSpPr txBox="1"/>
          <p:nvPr/>
        </p:nvSpPr>
        <p:spPr>
          <a:xfrm>
            <a:off x="1143000" y="4864608"/>
            <a:ext cx="4663440" cy="548640"/>
          </a:xfrm>
          <a:prstGeom prst="rect">
            <a:avLst/>
          </a:prstGeom>
          <a:noFill/>
        </p:spPr>
        <p:txBody>
          <a:bodyPr wrap="square" anchor="t" lIns="0" rIns="0" tIns="0" bIns="0">
            <a:spAutoFit/>
          </a:bodyPr>
          <a:lstStyle/>
          <a:p>
            <a:pPr algn="l"/>
            <a:r>
              <a:rPr sz="919" b="0" i="0">
                <a:solidFill>
                  <a:srgbClr val="334155"/>
                </a:solidFill>
                <a:latin typeface="DM Sans"/>
              </a:rPr>
              <a:t>Rubber levelling feet; IP65 load cells; enclosure with cable glands.</a:t>
            </a:r>
          </a:p>
        </p:txBody>
      </p:sp>
      <p:sp>
        <p:nvSpPr>
          <p:cNvPr id="31" name="Rounded Rectangle 30"/>
          <p:cNvSpPr/>
          <p:nvPr/>
        </p:nvSpPr>
        <p:spPr>
          <a:xfrm>
            <a:off x="6227064" y="960120"/>
            <a:ext cx="5431536" cy="4553712"/>
          </a:xfrm>
          <a:prstGeom prst="roundRect">
            <a:avLst>
              <a:gd name="adj" fmla="val 1606"/>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446520" y="1133856"/>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665976" y="1078992"/>
            <a:ext cx="4809744" cy="237744"/>
          </a:xfrm>
          <a:prstGeom prst="rect">
            <a:avLst/>
          </a:prstGeom>
          <a:noFill/>
        </p:spPr>
        <p:txBody>
          <a:bodyPr wrap="square" anchor="t" lIns="0" rIns="0" tIns="0" bIns="0">
            <a:spAutoFit/>
          </a:bodyPr>
          <a:lstStyle/>
          <a:p>
            <a:pPr algn="l"/>
            <a:r>
              <a:rPr sz="1125" b="1" i="0">
                <a:solidFill>
                  <a:srgbClr val="0F172A"/>
                </a:solidFill>
                <a:latin typeface="DM Sans"/>
              </a:rPr>
              <a:t>Standards Compliance &amp; Regulatory Position</a:t>
            </a:r>
          </a:p>
        </p:txBody>
      </p:sp>
      <p:graphicFrame>
        <p:nvGraphicFramePr>
          <p:cNvPr id="34" name="Table 33"/>
          <p:cNvGraphicFramePr>
            <a:graphicFrameLocks noGrp="1"/>
          </p:cNvGraphicFramePr>
          <p:nvPr/>
        </p:nvGraphicFramePr>
        <p:xfrm>
          <a:off x="6446520" y="1417320"/>
          <a:ext cx="5010911" cy="3401568"/>
        </p:xfrm>
        <a:graphic>
          <a:graphicData uri="http://schemas.openxmlformats.org/drawingml/2006/table">
            <a:tbl>
              <a:tblPr firstRow="0" bandRow="0">
                <a:tableStyleId>{5940675A-B579-460E-94D1-54222C63F5DA}</a:tableStyleId>
              </a:tblPr>
              <a:tblGrid>
                <a:gridCol w="1822149"/>
                <a:gridCol w="3188762"/>
              </a:tblGrid>
              <a:tr h="566928">
                <a:tc>
                  <a:txBody>
                    <a:bodyPr wrap="square"/>
                    <a:lstStyle/>
                    <a:p>
                      <a:r>
                        <a:rPr sz="860" b="1" i="0">
                          <a:solidFill>
                            <a:srgbClr val="0F172A"/>
                          </a:solidFill>
                          <a:latin typeface="DM Sans"/>
                        </a:rPr>
                        <a:t>Standard / guideline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860" b="1" i="0">
                          <a:solidFill>
                            <a:srgbClr val="0F172A"/>
                          </a:solidFill>
                          <a:latin typeface="DM Sans"/>
                        </a:rPr>
                        <a:t>How it is addressed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r>
              <a:tr h="566928">
                <a:tc>
                  <a:txBody>
                    <a:bodyPr wrap="square"/>
                    <a:lstStyle/>
                    <a:p>
                      <a:r>
                        <a:rPr sz="860" b="0" i="0">
                          <a:solidFill>
                            <a:srgbClr val="334155"/>
                          </a:solidFill>
                          <a:latin typeface="DM Sans"/>
                        </a:rPr>
                        <a:t>ICMR National Ethical Guidelines 2017</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Observational protocol; IEC clearance before any human data; bilingual (Tamil/English) consent</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566928">
                <a:tc>
                  <a:txBody>
                    <a:bodyPr wrap="square"/>
                    <a:lstStyle/>
                    <a:p>
                      <a:r>
                        <a:rPr sz="860" b="0" i="0">
                          <a:solidFill>
                            <a:srgbClr val="334155"/>
                          </a:solidFill>
                          <a:latin typeface="DM Sans"/>
                        </a:rPr>
                        <a:t>CDSCO Medical Device Rules 2017</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Haptic feedback disabled so the study stays non-interventional</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566928">
                <a:tc>
                  <a:txBody>
                    <a:bodyPr wrap="square"/>
                    <a:lstStyle/>
                    <a:p>
                      <a:r>
                        <a:rPr sz="860" b="0" i="0">
                          <a:solidFill>
                            <a:srgbClr val="334155"/>
                          </a:solidFill>
                          <a:latin typeface="DM Sans"/>
                        </a:rPr>
                        <a:t>IEC 60601-1 (electrical safety)</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Not claimed; investigational instrument, battery-only low-voltage supply</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566928">
                <a:tc>
                  <a:txBody>
                    <a:bodyPr wrap="square"/>
                    <a:lstStyle/>
                    <a:p>
                      <a:r>
                        <a:rPr sz="860" b="0" i="0">
                          <a:solidFill>
                            <a:srgbClr val="334155"/>
                          </a:solidFill>
                          <a:latin typeface="DM Sans"/>
                        </a:rPr>
                        <a:t>IEC 62133-2 (Li-ion cells)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Use certified 18650 cells in the battery shield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566928">
                <a:tc>
                  <a:txBody>
                    <a:bodyPr wrap="square"/>
                    <a:lstStyle/>
                    <a:p>
                      <a:r>
                        <a:rPr sz="860" b="0" i="0">
                          <a:solidFill>
                            <a:srgbClr val="334155"/>
                          </a:solidFill>
                          <a:latin typeface="DM Sans"/>
                        </a:rPr>
                        <a:t>IEC 60529 IP65</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60" b="0" i="0">
                          <a:solidFill>
                            <a:srgbClr val="334155"/>
                          </a:solidFill>
                          <a:latin typeface="DM Sans"/>
                        </a:rPr>
                        <a:t>Sealed load cells (Phaeton 611E)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bl>
          </a:graphicData>
        </a:graphic>
      </p:graphicFrame>
      <p:pic>
        <p:nvPicPr>
          <p:cNvPr id="35" name="Picture 34" descr="image.png"/>
          <p:cNvPicPr>
            <a:picLocks noChangeAspect="1"/>
          </p:cNvPicPr>
          <p:nvPr/>
        </p:nvPicPr>
        <p:blipFill>
          <a:blip r:embed="rId5"/>
          <a:stretch>
            <a:fillRect/>
          </a:stretch>
        </p:blipFill>
        <p:spPr>
          <a:xfrm>
            <a:off x="530352" y="5669280"/>
            <a:ext cx="11128248" cy="365760"/>
          </a:xfrm>
          <a:prstGeom prst="rect">
            <a:avLst/>
          </a:prstGeom>
        </p:spPr>
      </p:pic>
      <p:sp>
        <p:nvSpPr>
          <p:cNvPr id="36" name="TextBox 35"/>
          <p:cNvSpPr txBox="1"/>
          <p:nvPr/>
        </p:nvSpPr>
        <p:spPr>
          <a:xfrm>
            <a:off x="694944" y="5687568"/>
            <a:ext cx="10835640" cy="329184"/>
          </a:xfrm>
          <a:prstGeom prst="rect">
            <a:avLst/>
          </a:prstGeom>
          <a:noFill/>
        </p:spPr>
        <p:txBody>
          <a:bodyPr wrap="square" anchor="ctr" lIns="0" rIns="0" tIns="0" bIns="0">
            <a:spAutoFit/>
          </a:bodyPr>
          <a:lstStyle/>
          <a:p>
            <a:pPr algn="l"/>
            <a:r>
              <a:rPr sz="940" b="1" i="0">
                <a:solidFill>
                  <a:srgbClr val="0F172A"/>
                </a:solidFill>
                <a:latin typeface="DM Sans"/>
              </a:rPr>
              <a:t>Clinical gating: </a:t>
            </a:r>
            <a:r>
              <a:rPr sz="940" b="0" i="0">
                <a:solidFill>
                  <a:srgbClr val="475569"/>
                </a:solidFill>
                <a:latin typeface="DM Sans"/>
              </a:rPr>
              <a:t>the logistic-regression classifier ships disabled (returns UNCALIBRATED) until it is trained on ≥ 40 trials from ≥ 8 subjects with subject-disjoint cross-validation.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rcRect l="14673" r="15820" t="33074" b="44466"/>
          <a:stretch>
            <a:fillRect/>
          </a:stretch>
        </p:blipFill>
        <p:spPr>
          <a:xfrm>
            <a:off x="0" y="6281013"/>
            <a:ext cx="1785823" cy="576986"/>
          </a:xfrm>
          <a:prstGeom prst="rect">
            <a:avLst/>
          </a:prstGeom>
        </p:spPr>
      </p:pic>
      <p:pic>
        <p:nvPicPr>
          <p:cNvPr id="4" name="Picture 3" descr="image.png"/>
          <p:cNvPicPr>
            <a:picLocks noChangeAspect="1"/>
          </p:cNvPicPr>
          <p:nvPr/>
        </p:nvPicPr>
        <p:blipFill>
          <a:blip r:embed="rId4"/>
          <a:stretch>
            <a:fillRect/>
          </a:stretch>
        </p:blipFill>
        <p:spPr>
          <a:xfrm>
            <a:off x="11095329" y="6281013"/>
            <a:ext cx="1096365" cy="576986"/>
          </a:xfrm>
          <a:prstGeom prst="rect">
            <a:avLst/>
          </a:prstGeom>
        </p:spPr>
      </p:pic>
      <p:sp>
        <p:nvSpPr>
          <p:cNvPr id="5" name="TextBox 4"/>
          <p:cNvSpPr txBox="1"/>
          <p:nvPr/>
        </p:nvSpPr>
        <p:spPr>
          <a:xfrm>
            <a:off x="530352" y="402336"/>
            <a:ext cx="8595360" cy="365760"/>
          </a:xfrm>
          <a:prstGeom prst="rect">
            <a:avLst/>
          </a:prstGeom>
          <a:noFill/>
        </p:spPr>
        <p:txBody>
          <a:bodyPr wrap="square" anchor="t" lIns="0" rIns="0" tIns="0" bIns="0">
            <a:spAutoFit/>
          </a:bodyPr>
          <a:lstStyle/>
          <a:p>
            <a:pPr algn="l"/>
            <a:r>
              <a:rPr sz="2025" b="1" i="0">
                <a:solidFill>
                  <a:srgbClr val="0F172A"/>
                </a:solidFill>
                <a:latin typeface="Poppins"/>
              </a:rPr>
              <a:t>Roadmap: 4-Month Fabrication Plan</a:t>
            </a:r>
          </a:p>
        </p:txBody>
      </p:sp>
      <p:sp>
        <p:nvSpPr>
          <p:cNvPr id="6" name="Rounded Rectangle 5"/>
          <p:cNvSpPr/>
          <p:nvPr/>
        </p:nvSpPr>
        <p:spPr>
          <a:xfrm>
            <a:off x="10378440" y="484632"/>
            <a:ext cx="1280160" cy="210312"/>
          </a:xfrm>
          <a:prstGeom prst="roundRect">
            <a:avLst>
              <a:gd name="adj" fmla="val 50000"/>
            </a:avLst>
          </a:prstGeom>
          <a:solidFill>
            <a:srgbClr val="DCFCE7"/>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378440" y="484632"/>
            <a:ext cx="1280160" cy="210312"/>
          </a:xfrm>
          <a:prstGeom prst="rect">
            <a:avLst/>
          </a:prstGeom>
          <a:noFill/>
        </p:spPr>
        <p:txBody>
          <a:bodyPr wrap="square" anchor="ctr" lIns="0" rIns="0" tIns="0" bIns="0">
            <a:spAutoFit/>
          </a:bodyPr>
          <a:lstStyle/>
          <a:p>
            <a:pPr algn="ctr"/>
            <a:r>
              <a:rPr sz="750" b="1" i="0">
                <a:solidFill>
                  <a:srgbClr val="047857"/>
                </a:solidFill>
                <a:latin typeface="Poppins"/>
              </a:rPr>
              <a:t>ROADMAP</a:t>
            </a:r>
          </a:p>
        </p:txBody>
      </p:sp>
      <p:sp>
        <p:nvSpPr>
          <p:cNvPr id="8" name="Rounded Rectangle 7"/>
          <p:cNvSpPr/>
          <p:nvPr/>
        </p:nvSpPr>
        <p:spPr>
          <a:xfrm>
            <a:off x="530352" y="960120"/>
            <a:ext cx="2670048" cy="3246120"/>
          </a:xfrm>
          <a:prstGeom prst="roundRect">
            <a:avLst>
              <a:gd name="adj" fmla="val 273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30352" y="960120"/>
            <a:ext cx="2670048" cy="566928"/>
          </a:xfrm>
          <a:prstGeom prst="roundRect">
            <a:avLst>
              <a:gd name="adj" fmla="val 12903"/>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67512" y="1005840"/>
            <a:ext cx="2423160" cy="228600"/>
          </a:xfrm>
          <a:prstGeom prst="rect">
            <a:avLst/>
          </a:prstGeom>
          <a:noFill/>
        </p:spPr>
        <p:txBody>
          <a:bodyPr wrap="square" anchor="t" lIns="0" rIns="0" tIns="0" bIns="0">
            <a:spAutoFit/>
          </a:bodyPr>
          <a:lstStyle/>
          <a:p>
            <a:pPr algn="l"/>
            <a:r>
              <a:rPr sz="1000" b="1" i="0">
                <a:solidFill>
                  <a:srgbClr val="FFFFFF"/>
                </a:solidFill>
                <a:latin typeface="Poppins"/>
              </a:rPr>
              <a:t>Month 1 · Nov 2026</a:t>
            </a:r>
          </a:p>
        </p:txBody>
      </p:sp>
      <p:sp>
        <p:nvSpPr>
          <p:cNvPr id="11" name="TextBox 10"/>
          <p:cNvSpPr txBox="1"/>
          <p:nvPr/>
        </p:nvSpPr>
        <p:spPr>
          <a:xfrm>
            <a:off x="667512" y="1243584"/>
            <a:ext cx="2423160" cy="228600"/>
          </a:xfrm>
          <a:prstGeom prst="rect">
            <a:avLst/>
          </a:prstGeom>
          <a:noFill/>
        </p:spPr>
        <p:txBody>
          <a:bodyPr wrap="square" anchor="t" lIns="0" rIns="0" tIns="0" bIns="0">
            <a:spAutoFit/>
          </a:bodyPr>
          <a:lstStyle/>
          <a:p>
            <a:pPr algn="l"/>
            <a:r>
              <a:rPr sz="900" b="0" i="0">
                <a:solidFill>
                  <a:srgbClr val="FFFFFF"/>
                </a:solidFill>
                <a:latin typeface="DM Sans"/>
              </a:rPr>
              <a:t>Procure &amp; machine</a:t>
            </a:r>
          </a:p>
        </p:txBody>
      </p:sp>
      <p:sp>
        <p:nvSpPr>
          <p:cNvPr id="12" name="TextBox 11"/>
          <p:cNvSpPr txBox="1"/>
          <p:nvPr/>
        </p:nvSpPr>
        <p:spPr>
          <a:xfrm>
            <a:off x="667512" y="1691640"/>
            <a:ext cx="2423160" cy="1691640"/>
          </a:xfrm>
          <a:prstGeom prst="rect">
            <a:avLst/>
          </a:prstGeom>
          <a:noFill/>
        </p:spPr>
        <p:txBody>
          <a:bodyPr wrap="square" anchor="t" lIns="0" rIns="0" tIns="0" bIns="0">
            <a:spAutoFit/>
          </a:bodyPr>
          <a:lstStyle/>
          <a:p>
            <a:pPr marL="146304" indent="-146304">
              <a:lnSpc>
                <a:spcPct val="108000"/>
              </a:lnSpc>
              <a:spcAft>
                <a:spcPts val="600"/>
              </a:spcAft>
              <a:buClr>
                <a:srgbClr val="0369A1"/>
              </a:buClr>
              <a:buSzPct val="100000"/>
              <a:buFont typeface="Arial"/>
              <a:buChar char="▪"/>
            </a:pPr>
            <a:r>
              <a:rPr sz="940" b="0" i="0">
                <a:solidFill>
                  <a:srgbClr val="334155"/>
                </a:solidFill>
                <a:latin typeface="DM Sans"/>
              </a:rPr>
              <a:t>Order cells, HX711s, ESP32, battery shield</a:t>
            </a:r>
          </a:p>
          <a:p>
            <a:pPr marL="146304" indent="-146304">
              <a:lnSpc>
                <a:spcPct val="108000"/>
              </a:lnSpc>
              <a:spcAft>
                <a:spcPts val="600"/>
              </a:spcAft>
              <a:buClr>
                <a:srgbClr val="0369A1"/>
              </a:buClr>
              <a:buSzPct val="100000"/>
              <a:buFont typeface="Arial"/>
              <a:buChar char="▪"/>
            </a:pPr>
            <a:r>
              <a:rPr sz="940" b="0" i="0">
                <a:solidFill>
                  <a:srgbClr val="334155"/>
                </a:solidFill>
                <a:latin typeface="DM Sans"/>
              </a:rPr>
              <a:t>Waterjet top plate; laser-cut spacers and shims</a:t>
            </a:r>
          </a:p>
          <a:p>
            <a:pPr marL="146304" indent="-146304">
              <a:lnSpc>
                <a:spcPct val="108000"/>
              </a:lnSpc>
              <a:spcAft>
                <a:spcPts val="600"/>
              </a:spcAft>
              <a:buClr>
                <a:srgbClr val="0369A1"/>
              </a:buClr>
              <a:buSzPct val="100000"/>
              <a:buFont typeface="Arial"/>
              <a:buChar char="▪"/>
            </a:pPr>
            <a:r>
              <a:rPr sz="940" b="0" i="0">
                <a:solidFill>
                  <a:srgbClr val="334155"/>
                </a:solidFill>
                <a:latin typeface="DM Sans"/>
              </a:rPr>
              <a:t>RATE mod on 4 boards; V1 rate test ≥ 60 Hz</a:t>
            </a:r>
          </a:p>
        </p:txBody>
      </p:sp>
      <p:sp>
        <p:nvSpPr>
          <p:cNvPr id="13" name="Rounded Rectangle 12"/>
          <p:cNvSpPr/>
          <p:nvPr/>
        </p:nvSpPr>
        <p:spPr>
          <a:xfrm>
            <a:off x="667512" y="3383280"/>
            <a:ext cx="2395728" cy="685800"/>
          </a:xfrm>
          <a:prstGeom prst="roundRect">
            <a:avLst>
              <a:gd name="adj" fmla="val 1066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3429000"/>
            <a:ext cx="2194560" cy="182880"/>
          </a:xfrm>
          <a:prstGeom prst="rect">
            <a:avLst/>
          </a:prstGeom>
          <a:noFill/>
        </p:spPr>
        <p:txBody>
          <a:bodyPr wrap="square" anchor="t" lIns="0" rIns="0" tIns="0" bIns="0">
            <a:spAutoFit/>
          </a:bodyPr>
          <a:lstStyle/>
          <a:p>
            <a:pPr algn="l"/>
            <a:r>
              <a:rPr sz="760" b="1" i="0">
                <a:solidFill>
                  <a:srgbClr val="0369A1"/>
                </a:solidFill>
                <a:latin typeface="Poppins"/>
              </a:rPr>
              <a:t>DELIVERABLE</a:t>
            </a:r>
          </a:p>
        </p:txBody>
      </p:sp>
      <p:sp>
        <p:nvSpPr>
          <p:cNvPr id="15" name="TextBox 14"/>
          <p:cNvSpPr txBox="1"/>
          <p:nvPr/>
        </p:nvSpPr>
        <p:spPr>
          <a:xfrm>
            <a:off x="777240" y="3630168"/>
            <a:ext cx="2194560" cy="411480"/>
          </a:xfrm>
          <a:prstGeom prst="rect">
            <a:avLst/>
          </a:prstGeom>
          <a:noFill/>
        </p:spPr>
        <p:txBody>
          <a:bodyPr wrap="square" anchor="t" lIns="0" rIns="0" tIns="0" bIns="0">
            <a:spAutoFit/>
          </a:bodyPr>
          <a:lstStyle/>
          <a:p>
            <a:pPr algn="l"/>
            <a:r>
              <a:rPr sz="900" b="0" i="0">
                <a:solidFill>
                  <a:srgbClr val="0F172A"/>
                </a:solidFill>
                <a:latin typeface="DM Sans"/>
              </a:rPr>
              <a:t>Machined plate + 4 modified HX711 boards</a:t>
            </a:r>
          </a:p>
        </p:txBody>
      </p:sp>
      <p:cxnSp>
        <p:nvCxnSpPr>
          <p:cNvPr id="16" name="Connector 15"/>
          <p:cNvCxnSpPr/>
          <p:nvPr/>
        </p:nvCxnSpPr>
        <p:spPr>
          <a:xfrm>
            <a:off x="3200400" y="2606040"/>
            <a:ext cx="146304" cy="0"/>
          </a:xfrm>
          <a:prstGeom prst="line">
            <a:avLst/>
          </a:prstGeom>
          <a:ln w="19050">
            <a:solidFill>
              <a:srgbClr val="0F17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346704" y="960120"/>
            <a:ext cx="2670048" cy="3246120"/>
          </a:xfrm>
          <a:prstGeom prst="roundRect">
            <a:avLst>
              <a:gd name="adj" fmla="val 273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3346704" y="960120"/>
            <a:ext cx="2670048" cy="566928"/>
          </a:xfrm>
          <a:prstGeom prst="roundRect">
            <a:avLst>
              <a:gd name="adj" fmla="val 12903"/>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83864" y="1005840"/>
            <a:ext cx="2423160" cy="228600"/>
          </a:xfrm>
          <a:prstGeom prst="rect">
            <a:avLst/>
          </a:prstGeom>
          <a:noFill/>
        </p:spPr>
        <p:txBody>
          <a:bodyPr wrap="square" anchor="t" lIns="0" rIns="0" tIns="0" bIns="0">
            <a:spAutoFit/>
          </a:bodyPr>
          <a:lstStyle/>
          <a:p>
            <a:pPr algn="l"/>
            <a:r>
              <a:rPr sz="1000" b="1" i="0">
                <a:solidFill>
                  <a:srgbClr val="FFFFFF"/>
                </a:solidFill>
                <a:latin typeface="Poppins"/>
              </a:rPr>
              <a:t>Month 2 · Dec 2026</a:t>
            </a:r>
          </a:p>
        </p:txBody>
      </p:sp>
      <p:sp>
        <p:nvSpPr>
          <p:cNvPr id="20" name="TextBox 19"/>
          <p:cNvSpPr txBox="1"/>
          <p:nvPr/>
        </p:nvSpPr>
        <p:spPr>
          <a:xfrm>
            <a:off x="3483864" y="1243584"/>
            <a:ext cx="2423160" cy="228600"/>
          </a:xfrm>
          <a:prstGeom prst="rect">
            <a:avLst/>
          </a:prstGeom>
          <a:noFill/>
        </p:spPr>
        <p:txBody>
          <a:bodyPr wrap="square" anchor="t" lIns="0" rIns="0" tIns="0" bIns="0">
            <a:spAutoFit/>
          </a:bodyPr>
          <a:lstStyle/>
          <a:p>
            <a:pPr algn="l"/>
            <a:r>
              <a:rPr sz="900" b="0" i="0">
                <a:solidFill>
                  <a:srgbClr val="FFFFFF"/>
                </a:solidFill>
                <a:latin typeface="DM Sans"/>
              </a:rPr>
              <a:t>Assemble &amp; bring up</a:t>
            </a:r>
          </a:p>
        </p:txBody>
      </p:sp>
      <p:sp>
        <p:nvSpPr>
          <p:cNvPr id="21" name="TextBox 20"/>
          <p:cNvSpPr txBox="1"/>
          <p:nvPr/>
        </p:nvSpPr>
        <p:spPr>
          <a:xfrm>
            <a:off x="3483864" y="1691640"/>
            <a:ext cx="2423160" cy="1691640"/>
          </a:xfrm>
          <a:prstGeom prst="rect">
            <a:avLst/>
          </a:prstGeom>
          <a:noFill/>
        </p:spPr>
        <p:txBody>
          <a:bodyPr wrap="square" anchor="t" lIns="0" rIns="0" tIns="0" bIns="0">
            <a:spAutoFit/>
          </a:bodyPr>
          <a:lstStyle/>
          <a:p>
            <a:pPr marL="146304" indent="-146304">
              <a:lnSpc>
                <a:spcPct val="108000"/>
              </a:lnSpc>
              <a:spcAft>
                <a:spcPts val="600"/>
              </a:spcAft>
              <a:buClr>
                <a:srgbClr val="0369A1"/>
              </a:buClr>
              <a:buSzPct val="100000"/>
              <a:buFont typeface="Arial"/>
              <a:buChar char="▪"/>
            </a:pPr>
            <a:r>
              <a:rPr sz="940" b="0" i="0">
                <a:solidFill>
                  <a:srgbClr val="334155"/>
                </a:solidFill>
                <a:latin typeface="DM Sans"/>
              </a:rPr>
              <a:t>Z-mount assembly, shimming, 8 N·m torque</a:t>
            </a:r>
          </a:p>
          <a:p>
            <a:pPr marL="146304" indent="-146304">
              <a:lnSpc>
                <a:spcPct val="108000"/>
              </a:lnSpc>
              <a:spcAft>
                <a:spcPts val="600"/>
              </a:spcAft>
              <a:buClr>
                <a:srgbClr val="0369A1"/>
              </a:buClr>
              <a:buSzPct val="100000"/>
              <a:buFont typeface="Arial"/>
              <a:buChar char="▪"/>
            </a:pPr>
            <a:r>
              <a:rPr sz="940" b="0" i="0">
                <a:solidFill>
                  <a:srgbClr val="334155"/>
                </a:solidFill>
                <a:latin typeface="DM Sans"/>
              </a:rPr>
              <a:t>Dual-core firmware + Wi-Fi dashboard</a:t>
            </a:r>
          </a:p>
          <a:p>
            <a:pPr marL="146304" indent="-146304">
              <a:lnSpc>
                <a:spcPct val="108000"/>
              </a:lnSpc>
              <a:spcAft>
                <a:spcPts val="600"/>
              </a:spcAft>
              <a:buClr>
                <a:srgbClr val="0369A1"/>
              </a:buClr>
              <a:buSzPct val="100000"/>
              <a:buFont typeface="Arial"/>
              <a:buChar char="▪"/>
            </a:pPr>
            <a:r>
              <a:rPr sz="940" b="0" i="0">
                <a:solidFill>
                  <a:srgbClr val="334155"/>
                </a:solidFill>
                <a:latin typeface="DM Sans"/>
              </a:rPr>
              <a:t>V2 noise, V3 linearity, V4 mass, V5 drift</a:t>
            </a:r>
          </a:p>
        </p:txBody>
      </p:sp>
      <p:sp>
        <p:nvSpPr>
          <p:cNvPr id="22" name="Rounded Rectangle 21"/>
          <p:cNvSpPr/>
          <p:nvPr/>
        </p:nvSpPr>
        <p:spPr>
          <a:xfrm>
            <a:off x="3483864" y="3383280"/>
            <a:ext cx="2395728" cy="685800"/>
          </a:xfrm>
          <a:prstGeom prst="roundRect">
            <a:avLst>
              <a:gd name="adj" fmla="val 1066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593592" y="3429000"/>
            <a:ext cx="2194560" cy="182880"/>
          </a:xfrm>
          <a:prstGeom prst="rect">
            <a:avLst/>
          </a:prstGeom>
          <a:noFill/>
        </p:spPr>
        <p:txBody>
          <a:bodyPr wrap="square" anchor="t" lIns="0" rIns="0" tIns="0" bIns="0">
            <a:spAutoFit/>
          </a:bodyPr>
          <a:lstStyle/>
          <a:p>
            <a:pPr algn="l"/>
            <a:r>
              <a:rPr sz="760" b="1" i="0">
                <a:solidFill>
                  <a:srgbClr val="0369A1"/>
                </a:solidFill>
                <a:latin typeface="Poppins"/>
              </a:rPr>
              <a:t>DELIVERABLE</a:t>
            </a:r>
          </a:p>
        </p:txBody>
      </p:sp>
      <p:sp>
        <p:nvSpPr>
          <p:cNvPr id="24" name="TextBox 23"/>
          <p:cNvSpPr txBox="1"/>
          <p:nvPr/>
        </p:nvSpPr>
        <p:spPr>
          <a:xfrm>
            <a:off x="3593592" y="3630168"/>
            <a:ext cx="2194560" cy="411480"/>
          </a:xfrm>
          <a:prstGeom prst="rect">
            <a:avLst/>
          </a:prstGeom>
          <a:noFill/>
        </p:spPr>
        <p:txBody>
          <a:bodyPr wrap="square" anchor="t" lIns="0" rIns="0" tIns="0" bIns="0">
            <a:spAutoFit/>
          </a:bodyPr>
          <a:lstStyle/>
          <a:p>
            <a:pPr algn="l"/>
            <a:r>
              <a:rPr sz="900" b="0" i="0">
                <a:solidFill>
                  <a:srgbClr val="0F172A"/>
                </a:solidFill>
                <a:latin typeface="DM Sans"/>
              </a:rPr>
              <a:t>Assembled platform streaming 80 Hz CoP</a:t>
            </a:r>
          </a:p>
        </p:txBody>
      </p:sp>
      <p:cxnSp>
        <p:nvCxnSpPr>
          <p:cNvPr id="25" name="Connector 24"/>
          <p:cNvCxnSpPr/>
          <p:nvPr/>
        </p:nvCxnSpPr>
        <p:spPr>
          <a:xfrm>
            <a:off x="6016752" y="2606040"/>
            <a:ext cx="146304" cy="0"/>
          </a:xfrm>
          <a:prstGeom prst="line">
            <a:avLst/>
          </a:prstGeom>
          <a:ln w="19050">
            <a:solidFill>
              <a:srgbClr val="0F17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163056" y="960120"/>
            <a:ext cx="2670048" cy="3246120"/>
          </a:xfrm>
          <a:prstGeom prst="roundRect">
            <a:avLst>
              <a:gd name="adj" fmla="val 2739"/>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6163056" y="960120"/>
            <a:ext cx="2670048" cy="566928"/>
          </a:xfrm>
          <a:prstGeom prst="roundRect">
            <a:avLst>
              <a:gd name="adj" fmla="val 12903"/>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300216" y="1005840"/>
            <a:ext cx="2423160" cy="228600"/>
          </a:xfrm>
          <a:prstGeom prst="rect">
            <a:avLst/>
          </a:prstGeom>
          <a:noFill/>
        </p:spPr>
        <p:txBody>
          <a:bodyPr wrap="square" anchor="t" lIns="0" rIns="0" tIns="0" bIns="0">
            <a:spAutoFit/>
          </a:bodyPr>
          <a:lstStyle/>
          <a:p>
            <a:pPr algn="l"/>
            <a:r>
              <a:rPr sz="1000" b="1" i="0">
                <a:solidFill>
                  <a:srgbClr val="FFFFFF"/>
                </a:solidFill>
                <a:latin typeface="Poppins"/>
              </a:rPr>
              <a:t>Month 3 · Jan 2027</a:t>
            </a:r>
          </a:p>
        </p:txBody>
      </p:sp>
      <p:sp>
        <p:nvSpPr>
          <p:cNvPr id="29" name="TextBox 28"/>
          <p:cNvSpPr txBox="1"/>
          <p:nvPr/>
        </p:nvSpPr>
        <p:spPr>
          <a:xfrm>
            <a:off x="6300216" y="1243584"/>
            <a:ext cx="2423160" cy="228600"/>
          </a:xfrm>
          <a:prstGeom prst="rect">
            <a:avLst/>
          </a:prstGeom>
          <a:noFill/>
        </p:spPr>
        <p:txBody>
          <a:bodyPr wrap="square" anchor="t" lIns="0" rIns="0" tIns="0" bIns="0">
            <a:spAutoFit/>
          </a:bodyPr>
          <a:lstStyle/>
          <a:p>
            <a:pPr algn="l"/>
            <a:r>
              <a:rPr sz="900" b="0" i="0">
                <a:solidFill>
                  <a:srgbClr val="FFFFFF"/>
                </a:solidFill>
                <a:latin typeface="DM Sans"/>
              </a:rPr>
              <a:t>Metrology</a:t>
            </a:r>
          </a:p>
        </p:txBody>
      </p:sp>
      <p:sp>
        <p:nvSpPr>
          <p:cNvPr id="30" name="TextBox 29"/>
          <p:cNvSpPr txBox="1"/>
          <p:nvPr/>
        </p:nvSpPr>
        <p:spPr>
          <a:xfrm>
            <a:off x="6300216" y="1691640"/>
            <a:ext cx="2423160" cy="1691640"/>
          </a:xfrm>
          <a:prstGeom prst="rect">
            <a:avLst/>
          </a:prstGeom>
          <a:noFill/>
        </p:spPr>
        <p:txBody>
          <a:bodyPr wrap="square" anchor="t" lIns="0" rIns="0" tIns="0" bIns="0">
            <a:spAutoFit/>
          </a:bodyPr>
          <a:lstStyle/>
          <a:p>
            <a:pPr marL="146304" indent="-146304">
              <a:lnSpc>
                <a:spcPct val="108000"/>
              </a:lnSpc>
              <a:spcAft>
                <a:spcPts val="600"/>
              </a:spcAft>
              <a:buClr>
                <a:srgbClr val="059669"/>
              </a:buClr>
              <a:buSzPct val="100000"/>
              <a:buFont typeface="Arial"/>
              <a:buChar char="▪"/>
            </a:pPr>
            <a:r>
              <a:rPr sz="940" b="0" i="0">
                <a:solidFill>
                  <a:srgbClr val="334155"/>
                </a:solidFill>
                <a:latin typeface="DM Sans"/>
              </a:rPr>
              <a:t>V6 25-point grid, affine fit (≤ 5 mm RMS)</a:t>
            </a:r>
          </a:p>
          <a:p>
            <a:pPr marL="146304" indent="-146304">
              <a:lnSpc>
                <a:spcPct val="108000"/>
              </a:lnSpc>
              <a:spcAft>
                <a:spcPts val="600"/>
              </a:spcAft>
              <a:buClr>
                <a:srgbClr val="059669"/>
              </a:buClr>
              <a:buSzPct val="100000"/>
              <a:buFont typeface="Arial"/>
              <a:buChar char="▪"/>
            </a:pPr>
            <a:r>
              <a:rPr sz="940" b="0" i="0">
                <a:solidFill>
                  <a:srgbClr val="334155"/>
                </a:solidFill>
                <a:latin typeface="DM Sans"/>
              </a:rPr>
              <a:t>V7 repeatability, V8 CoP noise, V9 cross-talk</a:t>
            </a:r>
          </a:p>
          <a:p>
            <a:pPr marL="146304" indent="-146304">
              <a:lnSpc>
                <a:spcPct val="108000"/>
              </a:lnSpc>
              <a:spcAft>
                <a:spcPts val="600"/>
              </a:spcAft>
              <a:buClr>
                <a:srgbClr val="059669"/>
              </a:buClr>
              <a:buSzPct val="100000"/>
              <a:buFont typeface="Arial"/>
              <a:buChar char="▪"/>
            </a:pPr>
            <a:r>
              <a:rPr sz="940" b="0" i="0">
                <a:solidFill>
                  <a:srgbClr val="334155"/>
                </a:solidFill>
                <a:latin typeface="DM Sans"/>
              </a:rPr>
              <a:t>Plate/enclosure fix if residual &gt; 3 mm</a:t>
            </a:r>
          </a:p>
        </p:txBody>
      </p:sp>
      <p:sp>
        <p:nvSpPr>
          <p:cNvPr id="31" name="Rounded Rectangle 30"/>
          <p:cNvSpPr/>
          <p:nvPr/>
        </p:nvSpPr>
        <p:spPr>
          <a:xfrm>
            <a:off x="6300216" y="3383280"/>
            <a:ext cx="2395728" cy="685800"/>
          </a:xfrm>
          <a:prstGeom prst="roundRect">
            <a:avLst>
              <a:gd name="adj" fmla="val 1066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9944" y="3429000"/>
            <a:ext cx="2194560" cy="182880"/>
          </a:xfrm>
          <a:prstGeom prst="rect">
            <a:avLst/>
          </a:prstGeom>
          <a:noFill/>
        </p:spPr>
        <p:txBody>
          <a:bodyPr wrap="square" anchor="t" lIns="0" rIns="0" tIns="0" bIns="0">
            <a:spAutoFit/>
          </a:bodyPr>
          <a:lstStyle/>
          <a:p>
            <a:pPr algn="l"/>
            <a:r>
              <a:rPr sz="760" b="1" i="0">
                <a:solidFill>
                  <a:srgbClr val="047857"/>
                </a:solidFill>
                <a:latin typeface="Poppins"/>
              </a:rPr>
              <a:t>DELIVERABLE</a:t>
            </a:r>
          </a:p>
        </p:txBody>
      </p:sp>
      <p:sp>
        <p:nvSpPr>
          <p:cNvPr id="33" name="TextBox 32"/>
          <p:cNvSpPr txBox="1"/>
          <p:nvPr/>
        </p:nvSpPr>
        <p:spPr>
          <a:xfrm>
            <a:off x="6409944" y="3630168"/>
            <a:ext cx="2194560" cy="411480"/>
          </a:xfrm>
          <a:prstGeom prst="rect">
            <a:avLst/>
          </a:prstGeom>
          <a:noFill/>
        </p:spPr>
        <p:txBody>
          <a:bodyPr wrap="square" anchor="t" lIns="0" rIns="0" tIns="0" bIns="0">
            <a:spAutoFit/>
          </a:bodyPr>
          <a:lstStyle/>
          <a:p>
            <a:pPr algn="l"/>
            <a:r>
              <a:rPr sz="900" b="0" i="0">
                <a:solidFill>
                  <a:srgbClr val="0F172A"/>
                </a:solidFill>
                <a:latin typeface="DM Sans"/>
              </a:rPr>
              <a:t>Signed V1–V9 bench test report</a:t>
            </a:r>
          </a:p>
        </p:txBody>
      </p:sp>
      <p:cxnSp>
        <p:nvCxnSpPr>
          <p:cNvPr id="34" name="Connector 33"/>
          <p:cNvCxnSpPr/>
          <p:nvPr/>
        </p:nvCxnSpPr>
        <p:spPr>
          <a:xfrm>
            <a:off x="8833104" y="2606040"/>
            <a:ext cx="146304" cy="0"/>
          </a:xfrm>
          <a:prstGeom prst="line">
            <a:avLst/>
          </a:prstGeom>
          <a:ln w="19050">
            <a:solidFill>
              <a:srgbClr val="0F17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979408" y="960120"/>
            <a:ext cx="2670048" cy="3246120"/>
          </a:xfrm>
          <a:prstGeom prst="roundRect">
            <a:avLst>
              <a:gd name="adj" fmla="val 2739"/>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8979408" y="960120"/>
            <a:ext cx="2670048" cy="566928"/>
          </a:xfrm>
          <a:prstGeom prst="roundRect">
            <a:avLst>
              <a:gd name="adj" fmla="val 12903"/>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116568" y="1005840"/>
            <a:ext cx="2423160" cy="228600"/>
          </a:xfrm>
          <a:prstGeom prst="rect">
            <a:avLst/>
          </a:prstGeom>
          <a:noFill/>
        </p:spPr>
        <p:txBody>
          <a:bodyPr wrap="square" anchor="t" lIns="0" rIns="0" tIns="0" bIns="0">
            <a:spAutoFit/>
          </a:bodyPr>
          <a:lstStyle/>
          <a:p>
            <a:pPr algn="l"/>
            <a:r>
              <a:rPr sz="1000" b="1" i="0">
                <a:solidFill>
                  <a:srgbClr val="FFFFFF"/>
                </a:solidFill>
                <a:latin typeface="Poppins"/>
              </a:rPr>
              <a:t>Month 4 · Feb 2027</a:t>
            </a:r>
          </a:p>
        </p:txBody>
      </p:sp>
      <p:sp>
        <p:nvSpPr>
          <p:cNvPr id="38" name="TextBox 37"/>
          <p:cNvSpPr txBox="1"/>
          <p:nvPr/>
        </p:nvSpPr>
        <p:spPr>
          <a:xfrm>
            <a:off x="9116568" y="1243584"/>
            <a:ext cx="2423160" cy="228600"/>
          </a:xfrm>
          <a:prstGeom prst="rect">
            <a:avLst/>
          </a:prstGeom>
          <a:noFill/>
        </p:spPr>
        <p:txBody>
          <a:bodyPr wrap="square" anchor="t" lIns="0" rIns="0" tIns="0" bIns="0">
            <a:spAutoFit/>
          </a:bodyPr>
          <a:lstStyle/>
          <a:p>
            <a:pPr algn="l"/>
            <a:r>
              <a:rPr sz="900" b="0" i="0">
                <a:solidFill>
                  <a:srgbClr val="FFFFFF"/>
                </a:solidFill>
                <a:latin typeface="DM Sans"/>
              </a:rPr>
              <a:t>Integrate &amp; document</a:t>
            </a:r>
          </a:p>
        </p:txBody>
      </p:sp>
      <p:sp>
        <p:nvSpPr>
          <p:cNvPr id="39" name="TextBox 38"/>
          <p:cNvSpPr txBox="1"/>
          <p:nvPr/>
        </p:nvSpPr>
        <p:spPr>
          <a:xfrm>
            <a:off x="9116568" y="1691640"/>
            <a:ext cx="2423160" cy="1691640"/>
          </a:xfrm>
          <a:prstGeom prst="rect">
            <a:avLst/>
          </a:prstGeom>
          <a:noFill/>
        </p:spPr>
        <p:txBody>
          <a:bodyPr wrap="square" anchor="t" lIns="0" rIns="0" tIns="0" bIns="0">
            <a:spAutoFit/>
          </a:bodyPr>
          <a:lstStyle/>
          <a:p>
            <a:pPr marL="146304" indent="-146304">
              <a:lnSpc>
                <a:spcPct val="108000"/>
              </a:lnSpc>
              <a:spcAft>
                <a:spcPts val="600"/>
              </a:spcAft>
              <a:buClr>
                <a:srgbClr val="059669"/>
              </a:buClr>
              <a:buSzPct val="100000"/>
              <a:buFont typeface="Arial"/>
              <a:buChar char="▪"/>
            </a:pPr>
            <a:r>
              <a:rPr sz="940" b="0" i="0">
                <a:solidFill>
                  <a:srgbClr val="334155"/>
                </a:solidFill>
                <a:latin typeface="DM Sans"/>
              </a:rPr>
              <a:t>Run selftest + offline filtfilt pipeline</a:t>
            </a:r>
          </a:p>
          <a:p>
            <a:pPr marL="146304" indent="-146304">
              <a:lnSpc>
                <a:spcPct val="108000"/>
              </a:lnSpc>
              <a:spcAft>
                <a:spcPts val="600"/>
              </a:spcAft>
              <a:buClr>
                <a:srgbClr val="059669"/>
              </a:buClr>
              <a:buSzPct val="100000"/>
              <a:buFont typeface="Arial"/>
              <a:buChar char="▪"/>
            </a:pPr>
            <a:r>
              <a:rPr sz="940" b="0" i="0">
                <a:solidFill>
                  <a:srgbClr val="334155"/>
                </a:solidFill>
                <a:latin typeface="DM Sans"/>
              </a:rPr>
              <a:t>Submit observational protocol to IEC</a:t>
            </a:r>
          </a:p>
          <a:p>
            <a:pPr marL="146304" indent="-146304">
              <a:lnSpc>
                <a:spcPct val="108000"/>
              </a:lnSpc>
              <a:spcAft>
                <a:spcPts val="600"/>
              </a:spcAft>
              <a:buClr>
                <a:srgbClr val="059669"/>
              </a:buClr>
              <a:buSzPct val="100000"/>
              <a:buFont typeface="Arial"/>
              <a:buChar char="▪"/>
            </a:pPr>
            <a:r>
              <a:rPr sz="940" b="0" i="0">
                <a:solidFill>
                  <a:srgbClr val="334155"/>
                </a:solidFill>
                <a:latin typeface="DM Sans"/>
              </a:rPr>
              <a:t>Freeze Rev 2.1 drawings, BOM and demo kit</a:t>
            </a:r>
          </a:p>
        </p:txBody>
      </p:sp>
      <p:sp>
        <p:nvSpPr>
          <p:cNvPr id="40" name="Rounded Rectangle 39"/>
          <p:cNvSpPr/>
          <p:nvPr/>
        </p:nvSpPr>
        <p:spPr>
          <a:xfrm>
            <a:off x="9116568" y="3383280"/>
            <a:ext cx="2395728" cy="685800"/>
          </a:xfrm>
          <a:prstGeom prst="roundRect">
            <a:avLst>
              <a:gd name="adj" fmla="val 1066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226296" y="3429000"/>
            <a:ext cx="2194560" cy="182880"/>
          </a:xfrm>
          <a:prstGeom prst="rect">
            <a:avLst/>
          </a:prstGeom>
          <a:noFill/>
        </p:spPr>
        <p:txBody>
          <a:bodyPr wrap="square" anchor="t" lIns="0" rIns="0" tIns="0" bIns="0">
            <a:spAutoFit/>
          </a:bodyPr>
          <a:lstStyle/>
          <a:p>
            <a:pPr algn="l"/>
            <a:r>
              <a:rPr sz="760" b="1" i="0">
                <a:solidFill>
                  <a:srgbClr val="047857"/>
                </a:solidFill>
                <a:latin typeface="Poppins"/>
              </a:rPr>
              <a:t>DELIVERABLE</a:t>
            </a:r>
          </a:p>
        </p:txBody>
      </p:sp>
      <p:sp>
        <p:nvSpPr>
          <p:cNvPr id="42" name="TextBox 41"/>
          <p:cNvSpPr txBox="1"/>
          <p:nvPr/>
        </p:nvSpPr>
        <p:spPr>
          <a:xfrm>
            <a:off x="9226296" y="3630168"/>
            <a:ext cx="2194560" cy="411480"/>
          </a:xfrm>
          <a:prstGeom prst="rect">
            <a:avLst/>
          </a:prstGeom>
          <a:noFill/>
        </p:spPr>
        <p:txBody>
          <a:bodyPr wrap="square" anchor="t" lIns="0" rIns="0" tIns="0" bIns="0">
            <a:spAutoFit/>
          </a:bodyPr>
          <a:lstStyle/>
          <a:p>
            <a:pPr algn="l"/>
            <a:r>
              <a:rPr sz="900" b="0" i="0">
                <a:solidFill>
                  <a:srgbClr val="0F172A"/>
                </a:solidFill>
                <a:latin typeface="DM Sans"/>
              </a:rPr>
              <a:t>IEC dossier + Stage 3 demo kit</a:t>
            </a:r>
          </a:p>
        </p:txBody>
      </p:sp>
      <p:sp>
        <p:nvSpPr>
          <p:cNvPr id="43" name="Rounded Rectangle 42"/>
          <p:cNvSpPr/>
          <p:nvPr/>
        </p:nvSpPr>
        <p:spPr>
          <a:xfrm>
            <a:off x="530352" y="4370832"/>
            <a:ext cx="11128248" cy="1143000"/>
          </a:xfrm>
          <a:prstGeom prst="roundRect">
            <a:avLst>
              <a:gd name="adj" fmla="val 6400"/>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731520" y="4535424"/>
            <a:ext cx="137160" cy="137160"/>
          </a:xfrm>
          <a:prstGeom prst="roundRect">
            <a:avLst>
              <a:gd name="adj" fmla="val 20000"/>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50976" y="4480560"/>
            <a:ext cx="10296144" cy="237744"/>
          </a:xfrm>
          <a:prstGeom prst="rect">
            <a:avLst/>
          </a:prstGeom>
          <a:noFill/>
        </p:spPr>
        <p:txBody>
          <a:bodyPr wrap="square" anchor="t" lIns="0" rIns="0" tIns="0" bIns="0">
            <a:spAutoFit/>
          </a:bodyPr>
          <a:lstStyle/>
          <a:p>
            <a:pPr algn="l"/>
            <a:r>
              <a:rPr sz="1125" b="1" i="0">
                <a:solidFill>
                  <a:srgbClr val="0F172A"/>
                </a:solidFill>
                <a:latin typeface="DM Sans"/>
              </a:rPr>
              <a:t>Stage 3 Commitment</a:t>
            </a:r>
          </a:p>
        </p:txBody>
      </p:sp>
      <p:sp>
        <p:nvSpPr>
          <p:cNvPr id="46" name="TextBox 45"/>
          <p:cNvSpPr txBox="1"/>
          <p:nvPr/>
        </p:nvSpPr>
        <p:spPr>
          <a:xfrm>
            <a:off x="731520" y="4791456"/>
            <a:ext cx="10607040" cy="685800"/>
          </a:xfrm>
          <a:prstGeom prst="rect">
            <a:avLst/>
          </a:prstGeom>
          <a:noFill/>
        </p:spPr>
        <p:txBody>
          <a:bodyPr wrap="square" anchor="t" lIns="0" rIns="0" tIns="0" bIns="0">
            <a:spAutoFit/>
          </a:bodyPr>
          <a:lstStyle/>
          <a:p>
            <a:pPr algn="l"/>
            <a:r>
              <a:rPr sz="1000" b="0" i="0">
                <a:solidFill>
                  <a:srgbClr val="334155"/>
                </a:solidFill>
                <a:latin typeface="DM Sans"/>
              </a:rPr>
              <a:t>A bench-validated EquiSense platform that passes V1–V9, ready for a live jury demo: standing CoP trace, MVELO and PEA95 on the Wi-Fi dashboard, and the 25-point grid accuracy run on certified masses. Human data only after IEC clearance.</a:t>
            </a:r>
          </a:p>
        </p:txBody>
      </p:sp>
      <p:pic>
        <p:nvPicPr>
          <p:cNvPr id="47" name="Picture 46" descr="image.png"/>
          <p:cNvPicPr>
            <a:picLocks noChangeAspect="1"/>
          </p:cNvPicPr>
          <p:nvPr/>
        </p:nvPicPr>
        <p:blipFill>
          <a:blip r:embed="rId5"/>
          <a:stretch>
            <a:fillRect/>
          </a:stretch>
        </p:blipFill>
        <p:spPr>
          <a:xfrm>
            <a:off x="530352" y="5669280"/>
            <a:ext cx="11128248" cy="365760"/>
          </a:xfrm>
          <a:prstGeom prst="rect">
            <a:avLst/>
          </a:prstGeom>
        </p:spPr>
      </p:pic>
      <p:sp>
        <p:nvSpPr>
          <p:cNvPr id="48" name="TextBox 47"/>
          <p:cNvSpPr txBox="1"/>
          <p:nvPr/>
        </p:nvSpPr>
        <p:spPr>
          <a:xfrm>
            <a:off x="694944" y="5687568"/>
            <a:ext cx="10835640" cy="329184"/>
          </a:xfrm>
          <a:prstGeom prst="rect">
            <a:avLst/>
          </a:prstGeom>
          <a:noFill/>
        </p:spPr>
        <p:txBody>
          <a:bodyPr wrap="square" anchor="ctr" lIns="0" rIns="0" tIns="0" bIns="0">
            <a:spAutoFit/>
          </a:bodyPr>
          <a:lstStyle/>
          <a:p>
            <a:pPr algn="l"/>
            <a:r>
              <a:rPr sz="940" b="1" i="0">
                <a:solidFill>
                  <a:srgbClr val="0F172A"/>
                </a:solidFill>
                <a:latin typeface="DM Sans"/>
              </a:rPr>
              <a:t>Fabrication timeline: </a:t>
            </a:r>
            <a:r>
              <a:rPr sz="940" b="0" i="0">
                <a:solidFill>
                  <a:srgbClr val="475569"/>
                </a:solidFill>
                <a:latin typeface="DM Sans"/>
              </a:rPr>
              <a:t>machining (M1) → assembly and firmware (M2) → metrology V6–V9 (M3) → integration, IEC submission and Stage 3 kit (M4).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rcRect l="14673" r="15820" t="33074" b="44466"/>
          <a:stretch>
            <a:fillRect/>
          </a:stretch>
        </p:blipFill>
        <p:spPr>
          <a:xfrm>
            <a:off x="0" y="6281013"/>
            <a:ext cx="1785823" cy="576986"/>
          </a:xfrm>
          <a:prstGeom prst="rect">
            <a:avLst/>
          </a:prstGeom>
        </p:spPr>
      </p:pic>
      <p:pic>
        <p:nvPicPr>
          <p:cNvPr id="4" name="Picture 3" descr="image.png"/>
          <p:cNvPicPr>
            <a:picLocks noChangeAspect="1"/>
          </p:cNvPicPr>
          <p:nvPr/>
        </p:nvPicPr>
        <p:blipFill>
          <a:blip r:embed="rId4"/>
          <a:stretch>
            <a:fillRect/>
          </a:stretch>
        </p:blipFill>
        <p:spPr>
          <a:xfrm>
            <a:off x="11095329" y="6281013"/>
            <a:ext cx="1096365" cy="576986"/>
          </a:xfrm>
          <a:prstGeom prst="rect">
            <a:avLst/>
          </a:prstGeom>
        </p:spPr>
      </p:pic>
      <p:sp>
        <p:nvSpPr>
          <p:cNvPr id="5" name="TextBox 4"/>
          <p:cNvSpPr txBox="1"/>
          <p:nvPr/>
        </p:nvSpPr>
        <p:spPr>
          <a:xfrm>
            <a:off x="530352" y="402336"/>
            <a:ext cx="8595360" cy="365760"/>
          </a:xfrm>
          <a:prstGeom prst="rect">
            <a:avLst/>
          </a:prstGeom>
          <a:noFill/>
        </p:spPr>
        <p:txBody>
          <a:bodyPr wrap="square" anchor="t" lIns="0" rIns="0" tIns="0" bIns="0">
            <a:spAutoFit/>
          </a:bodyPr>
          <a:lstStyle/>
          <a:p>
            <a:pPr algn="l"/>
            <a:r>
              <a:rPr sz="2025" b="1" i="0">
                <a:solidFill>
                  <a:srgbClr val="0F172A"/>
                </a:solidFill>
                <a:latin typeface="Poppins"/>
              </a:rPr>
              <a:t>Safety by Design &amp; Roadmap</a:t>
            </a:r>
          </a:p>
        </p:txBody>
      </p:sp>
      <p:sp>
        <p:nvSpPr>
          <p:cNvPr id="6" name="Rounded Rectangle 5"/>
          <p:cNvSpPr/>
          <p:nvPr/>
        </p:nvSpPr>
        <p:spPr>
          <a:xfrm>
            <a:off x="10241280" y="484632"/>
            <a:ext cx="1417319" cy="210312"/>
          </a:xfrm>
          <a:prstGeom prst="roundRect">
            <a:avLst>
              <a:gd name="adj" fmla="val 50000"/>
            </a:avLst>
          </a:prstGeom>
          <a:solidFill>
            <a:srgbClr val="DCFCE7"/>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241280" y="484632"/>
            <a:ext cx="1417319" cy="210312"/>
          </a:xfrm>
          <a:prstGeom prst="rect">
            <a:avLst/>
          </a:prstGeom>
          <a:noFill/>
        </p:spPr>
        <p:txBody>
          <a:bodyPr wrap="square" anchor="ctr" lIns="0" rIns="0" tIns="0" bIns="0">
            <a:spAutoFit/>
          </a:bodyPr>
          <a:lstStyle/>
          <a:p>
            <a:pPr algn="ctr"/>
            <a:r>
              <a:rPr sz="750" b="1" i="0">
                <a:solidFill>
                  <a:srgbClr val="047857"/>
                </a:solidFill>
                <a:latin typeface="Poppins"/>
              </a:rPr>
              <a:t>SAFETY &amp; ROADMAP</a:t>
            </a:r>
          </a:p>
        </p:txBody>
      </p:sp>
      <p:sp>
        <p:nvSpPr>
          <p:cNvPr id="8" name="Rounded Rectangle 7"/>
          <p:cNvSpPr/>
          <p:nvPr/>
        </p:nvSpPr>
        <p:spPr>
          <a:xfrm>
            <a:off x="530352" y="960120"/>
            <a:ext cx="11128248" cy="2697480"/>
          </a:xfrm>
          <a:prstGeom prst="roundRect">
            <a:avLst>
              <a:gd name="adj" fmla="val 2711"/>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731520" y="1115568"/>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50976" y="1060704"/>
            <a:ext cx="10296144" cy="237744"/>
          </a:xfrm>
          <a:prstGeom prst="rect">
            <a:avLst/>
          </a:prstGeom>
          <a:noFill/>
        </p:spPr>
        <p:txBody>
          <a:bodyPr wrap="square" anchor="t" lIns="0" rIns="0" tIns="0" bIns="0">
            <a:spAutoFit/>
          </a:bodyPr>
          <a:lstStyle/>
          <a:p>
            <a:pPr algn="l"/>
            <a:r>
              <a:rPr sz="1125" b="1" i="0">
                <a:solidFill>
                  <a:srgbClr val="0F172A"/>
                </a:solidFill>
                <a:latin typeface="DM Sans"/>
              </a:rPr>
              <a:t>Design FMEA (Failure Mode and Effects Analysis)</a:t>
            </a:r>
          </a:p>
        </p:txBody>
      </p:sp>
      <p:graphicFrame>
        <p:nvGraphicFramePr>
          <p:cNvPr id="11" name="Table 10"/>
          <p:cNvGraphicFramePr>
            <a:graphicFrameLocks noGrp="1"/>
          </p:cNvGraphicFramePr>
          <p:nvPr/>
        </p:nvGraphicFramePr>
        <p:xfrm>
          <a:off x="731520" y="1371600"/>
          <a:ext cx="10725912" cy="2112264"/>
        </p:xfrm>
        <a:graphic>
          <a:graphicData uri="http://schemas.openxmlformats.org/drawingml/2006/table">
            <a:tbl>
              <a:tblPr firstRow="0" bandRow="0">
                <a:tableStyleId>{5940675A-B579-460E-94D1-54222C63F5DA}</a:tableStyleId>
              </a:tblPr>
              <a:tblGrid>
                <a:gridCol w="2734056"/>
                <a:gridCol w="3154680"/>
                <a:gridCol w="4837176"/>
              </a:tblGrid>
              <a:tr h="301752">
                <a:tc>
                  <a:txBody>
                    <a:bodyPr wrap="square"/>
                    <a:lstStyle/>
                    <a:p>
                      <a:r>
                        <a:rPr sz="840" b="1" i="0">
                          <a:solidFill>
                            <a:srgbClr val="0F172A"/>
                          </a:solidFill>
                          <a:latin typeface="DM Sans"/>
                        </a:rPr>
                        <a:t>Failure mode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840" b="1" i="0">
                          <a:solidFill>
                            <a:srgbClr val="0F172A"/>
                          </a:solidFill>
                          <a:latin typeface="DM Sans"/>
                        </a:rPr>
                        <a:t>Potential hazard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840" b="1" i="0">
                          <a:solidFill>
                            <a:srgbClr val="0F172A"/>
                          </a:solidFill>
                          <a:latin typeface="DM Sans"/>
                        </a:rPr>
                        <a:t>Embedded fail-safe / mitigation</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r>
              <a:tr h="301752">
                <a:tc>
                  <a:txBody>
                    <a:bodyPr wrap="square"/>
                    <a:lstStyle/>
                    <a:p>
                      <a:r>
                        <a:rPr sz="840" b="0" i="0">
                          <a:solidFill>
                            <a:srgbClr val="334155"/>
                          </a:solidFill>
                          <a:latin typeface="DM Sans"/>
                        </a:rPr>
                        <a:t>HX711 left at 10 Hz (RATE mod missing)</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40" b="0" i="0">
                          <a:solidFill>
                            <a:srgbClr val="334155"/>
                          </a:solidFill>
                          <a:latin typeface="DM Sans"/>
                        </a:rPr>
                        <a:t>MVELO under-read, so the patient looks falsely stable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40" b="0" i="0">
                          <a:solidFill>
                            <a:srgbClr val="334155"/>
                          </a:solidFill>
                          <a:latin typeface="DM Sans"/>
                        </a:rPr>
                        <a:t>Boot self-test measures rate; trials blocked below 60 Hz</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301752">
                <a:tc>
                  <a:txBody>
                    <a:bodyPr wrap="square"/>
                    <a:lstStyle/>
                    <a:p>
                      <a:r>
                        <a:rPr sz="840" b="0" i="0">
                          <a:solidFill>
                            <a:srgbClr val="334155"/>
                          </a:solidFill>
                          <a:latin typeface="DM Sans"/>
                        </a:rPr>
                        <a:t>PD_SCK pulse &gt; 60 µs (RTOS preemption)</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40" b="0" i="0">
                          <a:solidFill>
                            <a:srgbClr val="334155"/>
                          </a:solidFill>
                          <a:latin typeface="DM Sans"/>
                        </a:rPr>
                        <a:t>HX711 powers down; corrupted sample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40" b="0" i="0">
                          <a:solidFill>
                            <a:srgbClr val="334155"/>
                          </a:solidFill>
                          <a:latin typeface="DM Sans"/>
                        </a:rPr>
                        <a:t>25 pulses clocked inside taskENTER_CRITICAL</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301752">
                <a:tc>
                  <a:txBody>
                    <a:bodyPr wrap="square"/>
                    <a:lstStyle/>
                    <a:p>
                      <a:r>
                        <a:rPr sz="840" b="0" i="0">
                          <a:solidFill>
                            <a:srgbClr val="334155"/>
                          </a:solidFill>
                          <a:latin typeface="DM Sans"/>
                        </a:rPr>
                        <a:t>Corner unloading / stepping off</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40" b="0" i="0">
                          <a:solidFill>
                            <a:srgbClr val="334155"/>
                          </a:solidFill>
                          <a:latin typeface="DM Sans"/>
                        </a:rPr>
                        <a:t>CoP extrapolated beyond the sensors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40" b="0" i="0">
                          <a:solidFill>
                            <a:srgbClr val="334155"/>
                          </a:solidFill>
                          <a:latin typeface="DM Sans"/>
                        </a:rPr>
                        <a:t>Clamp F &lt; 0; CoP only when ΣF ≥ 20 kg; reject |X|, |Y| &gt; 195 mm</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301752">
                <a:tc>
                  <a:txBody>
                    <a:bodyPr wrap="square"/>
                    <a:lstStyle/>
                    <a:p>
                      <a:r>
                        <a:rPr sz="840" b="0" i="0">
                          <a:solidFill>
                            <a:srgbClr val="334155"/>
                          </a:solidFill>
                          <a:latin typeface="DM Sans"/>
                        </a:rPr>
                        <a:t>Uneven support heights (&gt; 0.2 mm)</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40" b="0" i="0">
                          <a:solidFill>
                            <a:srgbClr val="334155"/>
                          </a:solidFill>
                          <a:latin typeface="DM Sans"/>
                        </a:rPr>
                        <a:t>Hidden CoP bias that calibration cannot see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40" b="0" i="0">
                          <a:solidFill>
                            <a:srgbClr val="334155"/>
                          </a:solidFill>
                          <a:latin typeface="DM Sans"/>
                        </a:rPr>
                        <a:t>Shims + 8 N·m torque; V6 grid residual &gt; 3 mm flags a mechanical fault</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301752">
                <a:tc>
                  <a:txBody>
                    <a:bodyPr wrap="square"/>
                    <a:lstStyle/>
                    <a:p>
                      <a:r>
                        <a:rPr sz="840" b="0" i="0">
                          <a:solidFill>
                            <a:srgbClr val="334155"/>
                          </a:solidFill>
                          <a:latin typeface="DM Sans"/>
                        </a:rPr>
                        <a:t>Warm-up / thermal drift</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40" b="0" i="0">
                          <a:solidFill>
                            <a:srgbClr val="334155"/>
                          </a:solidFill>
                          <a:latin typeface="DM Sans"/>
                        </a:rPr>
                        <a:t>Mass and CoP drift during a trial</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40" b="0" i="0">
                          <a:solidFill>
                            <a:srgbClr val="334155"/>
                          </a:solidFill>
                          <a:latin typeface="DM Sans"/>
                        </a:rPr>
                        <a:t>60-min warm-up; V5 limit &lt; 0.5% drift over 30 min</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301752">
                <a:tc>
                  <a:txBody>
                    <a:bodyPr wrap="square"/>
                    <a:lstStyle/>
                    <a:p>
                      <a:r>
                        <a:rPr sz="840" b="0" i="0">
                          <a:solidFill>
                            <a:srgbClr val="334155"/>
                          </a:solidFill>
                          <a:latin typeface="DM Sans"/>
                        </a:rPr>
                        <a:t>Participant loses balance on the plate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40" b="0" i="0">
                          <a:solidFill>
                            <a:srgbClr val="334155"/>
                          </a:solidFill>
                          <a:latin typeface="DM Sans"/>
                        </a:rPr>
                        <a:t>Fall injury</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840" b="0" i="0">
                          <a:solidFill>
                            <a:srgbClr val="334155"/>
                          </a:solidFill>
                          <a:latin typeface="DM Sans"/>
                        </a:rPr>
                        <a:t>71 mm step height; spotter and support rail; mass ≤ 150 kg (SF &gt; 5.3)</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bl>
          </a:graphicData>
        </a:graphic>
      </p:graphicFrame>
      <p:sp>
        <p:nvSpPr>
          <p:cNvPr id="12" name="Rounded Rectangle 11"/>
          <p:cNvSpPr/>
          <p:nvPr/>
        </p:nvSpPr>
        <p:spPr>
          <a:xfrm>
            <a:off x="530352" y="3794760"/>
            <a:ext cx="5468112" cy="1737360"/>
          </a:xfrm>
          <a:prstGeom prst="roundRect">
            <a:avLst>
              <a:gd name="adj" fmla="val 421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731519" y="3950208"/>
            <a:ext cx="137160" cy="137160"/>
          </a:xfrm>
          <a:prstGeom prst="roundRect">
            <a:avLst>
              <a:gd name="adj" fmla="val 20000"/>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895344"/>
            <a:ext cx="4901183" cy="237744"/>
          </a:xfrm>
          <a:prstGeom prst="rect">
            <a:avLst/>
          </a:prstGeom>
          <a:noFill/>
        </p:spPr>
        <p:txBody>
          <a:bodyPr wrap="square" anchor="t" lIns="0" rIns="0" tIns="0" bIns="0">
            <a:spAutoFit/>
          </a:bodyPr>
          <a:lstStyle/>
          <a:p>
            <a:pPr algn="l"/>
            <a:r>
              <a:rPr sz="1125" b="1" i="0">
                <a:solidFill>
                  <a:srgbClr val="0F172A"/>
                </a:solidFill>
                <a:latin typeface="DM Sans"/>
              </a:rPr>
              <a:t>Fabrication Phase (Months 1–2)</a:t>
            </a:r>
          </a:p>
        </p:txBody>
      </p:sp>
      <p:sp>
        <p:nvSpPr>
          <p:cNvPr id="15" name="TextBox 14"/>
          <p:cNvSpPr txBox="1"/>
          <p:nvPr/>
        </p:nvSpPr>
        <p:spPr>
          <a:xfrm>
            <a:off x="731519" y="4224528"/>
            <a:ext cx="5074920" cy="1280160"/>
          </a:xfrm>
          <a:prstGeom prst="rect">
            <a:avLst/>
          </a:prstGeom>
          <a:noFill/>
        </p:spPr>
        <p:txBody>
          <a:bodyPr wrap="square" anchor="t" lIns="0" rIns="0" tIns="0" bIns="0">
            <a:spAutoFit/>
          </a:bodyPr>
          <a:lstStyle/>
          <a:p>
            <a:pPr marL="146304" indent="-146304">
              <a:lnSpc>
                <a:spcPct val="108000"/>
              </a:lnSpc>
              <a:spcAft>
                <a:spcPts val="400"/>
              </a:spcAft>
              <a:buClr>
                <a:srgbClr val="0369A1"/>
              </a:buClr>
              <a:buSzPct val="100000"/>
              <a:buFont typeface="Arial"/>
              <a:buChar char="▪"/>
            </a:pPr>
            <a:r>
              <a:rPr sz="919" b="1" i="0">
                <a:solidFill>
                  <a:srgbClr val="0F172A"/>
                </a:solidFill>
                <a:latin typeface="DM Sans"/>
              </a:rPr>
              <a:t>Nov 2026: </a:t>
            </a:r>
            <a:r>
              <a:rPr sz="919" b="0" i="0">
                <a:solidFill>
                  <a:srgbClr val="334155"/>
                </a:solidFill>
                <a:latin typeface="DM Sans"/>
              </a:rPr>
              <a:t>order parts; waterjet the top plate; laser-cut spacers and shims; RATE mod on 4 HX711 boards; V1 rate test.</a:t>
            </a:r>
          </a:p>
          <a:p>
            <a:pPr marL="146304" indent="-146304">
              <a:lnSpc>
                <a:spcPct val="108000"/>
              </a:lnSpc>
              <a:spcAft>
                <a:spcPts val="400"/>
              </a:spcAft>
              <a:buClr>
                <a:srgbClr val="0369A1"/>
              </a:buClr>
              <a:buSzPct val="100000"/>
              <a:buFont typeface="Arial"/>
              <a:buChar char="▪"/>
            </a:pPr>
            <a:r>
              <a:rPr sz="919" b="1" i="0">
                <a:solidFill>
                  <a:srgbClr val="0F172A"/>
                </a:solidFill>
                <a:latin typeface="DM Sans"/>
              </a:rPr>
              <a:t>Dec 2026: </a:t>
            </a:r>
            <a:r>
              <a:rPr sz="919" b="0" i="0">
                <a:solidFill>
                  <a:srgbClr val="334155"/>
                </a:solidFill>
                <a:latin typeface="DM Sans"/>
              </a:rPr>
              <a:t>Z-mount assembly, shimming and 8 N·m torque; dual-core firmware and Wi-Fi dashboard; V2–V5 bench tests.</a:t>
            </a:r>
          </a:p>
        </p:txBody>
      </p:sp>
      <p:sp>
        <p:nvSpPr>
          <p:cNvPr id="16" name="Rounded Rectangle 15"/>
          <p:cNvSpPr/>
          <p:nvPr/>
        </p:nvSpPr>
        <p:spPr>
          <a:xfrm>
            <a:off x="6190488" y="3794760"/>
            <a:ext cx="5468112" cy="1737360"/>
          </a:xfrm>
          <a:prstGeom prst="roundRect">
            <a:avLst>
              <a:gd name="adj" fmla="val 421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391656" y="3950208"/>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11112" y="3895344"/>
            <a:ext cx="4901183" cy="237744"/>
          </a:xfrm>
          <a:prstGeom prst="rect">
            <a:avLst/>
          </a:prstGeom>
          <a:noFill/>
        </p:spPr>
        <p:txBody>
          <a:bodyPr wrap="square" anchor="t" lIns="0" rIns="0" tIns="0" bIns="0">
            <a:spAutoFit/>
          </a:bodyPr>
          <a:lstStyle/>
          <a:p>
            <a:pPr algn="l"/>
            <a:r>
              <a:rPr sz="1125" b="1" i="0">
                <a:solidFill>
                  <a:srgbClr val="0F172A"/>
                </a:solidFill>
                <a:latin typeface="DM Sans"/>
              </a:rPr>
              <a:t>Integration &amp; Validation (Months 3–4)</a:t>
            </a:r>
          </a:p>
        </p:txBody>
      </p:sp>
      <p:sp>
        <p:nvSpPr>
          <p:cNvPr id="19" name="TextBox 18"/>
          <p:cNvSpPr txBox="1"/>
          <p:nvPr/>
        </p:nvSpPr>
        <p:spPr>
          <a:xfrm>
            <a:off x="6391656" y="4224528"/>
            <a:ext cx="5074920" cy="1280160"/>
          </a:xfrm>
          <a:prstGeom prst="rect">
            <a:avLst/>
          </a:prstGeom>
          <a:noFill/>
        </p:spPr>
        <p:txBody>
          <a:bodyPr wrap="square" anchor="t" lIns="0" rIns="0" tIns="0" bIns="0">
            <a:spAutoFit/>
          </a:bodyPr>
          <a:lstStyle/>
          <a:p>
            <a:pPr marL="146304" indent="-146304">
              <a:lnSpc>
                <a:spcPct val="108000"/>
              </a:lnSpc>
              <a:spcAft>
                <a:spcPts val="400"/>
              </a:spcAft>
              <a:buClr>
                <a:srgbClr val="059669"/>
              </a:buClr>
              <a:buSzPct val="100000"/>
              <a:buFont typeface="Arial"/>
              <a:buChar char="▪"/>
            </a:pPr>
            <a:r>
              <a:rPr sz="919" b="1" i="0">
                <a:solidFill>
                  <a:srgbClr val="0F172A"/>
                </a:solidFill>
                <a:latin typeface="DM Sans"/>
              </a:rPr>
              <a:t>Jan 2027: </a:t>
            </a:r>
            <a:r>
              <a:rPr sz="919" b="0" i="0">
                <a:solidFill>
                  <a:srgbClr val="334155"/>
                </a:solidFill>
                <a:latin typeface="DM Sans"/>
              </a:rPr>
              <a:t>V6 25-point grid with affine fit, V7 repeatability, V8 CoP noise, V9 cross-talk.</a:t>
            </a:r>
          </a:p>
          <a:p>
            <a:pPr marL="146304" indent="-146304">
              <a:lnSpc>
                <a:spcPct val="108000"/>
              </a:lnSpc>
              <a:spcAft>
                <a:spcPts val="400"/>
              </a:spcAft>
              <a:buClr>
                <a:srgbClr val="059669"/>
              </a:buClr>
              <a:buSzPct val="100000"/>
              <a:buFont typeface="Arial"/>
              <a:buChar char="▪"/>
            </a:pPr>
            <a:r>
              <a:rPr sz="919" b="1" i="0">
                <a:solidFill>
                  <a:srgbClr val="0F172A"/>
                </a:solidFill>
                <a:latin typeface="DM Sans"/>
              </a:rPr>
              <a:t>Feb 2027: </a:t>
            </a:r>
            <a:r>
              <a:rPr sz="919" b="0" i="0">
                <a:solidFill>
                  <a:srgbClr val="334155"/>
                </a:solidFill>
                <a:latin typeface="DM Sans"/>
              </a:rPr>
              <a:t>offline filtfilt pipeline, IEC protocol submission, Stage 3 jury demo kit.</a:t>
            </a:r>
          </a:p>
        </p:txBody>
      </p:sp>
      <p:pic>
        <p:nvPicPr>
          <p:cNvPr id="20" name="Picture 19" descr="image.png"/>
          <p:cNvPicPr>
            <a:picLocks noChangeAspect="1"/>
          </p:cNvPicPr>
          <p:nvPr/>
        </p:nvPicPr>
        <p:blipFill>
          <a:blip r:embed="rId5"/>
          <a:stretch>
            <a:fillRect/>
          </a:stretch>
        </p:blipFill>
        <p:spPr>
          <a:xfrm>
            <a:off x="530352" y="5669280"/>
            <a:ext cx="11128248" cy="365760"/>
          </a:xfrm>
          <a:prstGeom prst="rect">
            <a:avLst/>
          </a:prstGeom>
        </p:spPr>
      </p:pic>
      <p:sp>
        <p:nvSpPr>
          <p:cNvPr id="21" name="TextBox 20"/>
          <p:cNvSpPr txBox="1"/>
          <p:nvPr/>
        </p:nvSpPr>
        <p:spPr>
          <a:xfrm>
            <a:off x="694944" y="5687568"/>
            <a:ext cx="10835640" cy="329184"/>
          </a:xfrm>
          <a:prstGeom prst="rect">
            <a:avLst/>
          </a:prstGeom>
          <a:noFill/>
        </p:spPr>
        <p:txBody>
          <a:bodyPr wrap="square" anchor="ctr" lIns="0" rIns="0" tIns="0" bIns="0">
            <a:spAutoFit/>
          </a:bodyPr>
          <a:lstStyle/>
          <a:p>
            <a:pPr algn="l"/>
            <a:r>
              <a:rPr sz="940" b="1" i="0">
                <a:solidFill>
                  <a:srgbClr val="0F172A"/>
                </a:solidFill>
                <a:latin typeface="DM Sans"/>
              </a:rPr>
              <a:t>Stage 3 Target: </a:t>
            </a:r>
            <a:r>
              <a:rPr sz="940" b="0" i="0">
                <a:solidFill>
                  <a:srgbClr val="475569"/>
                </a:solidFill>
                <a:latin typeface="DM Sans"/>
              </a:rPr>
              <a:t>a bench-validated platform passing V1–V9, demonstrated live with a standing CoP trace, MVELO and PEA95 on the Wi-Fi dashboard.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rcRect l="14673" r="15820" t="33074" b="44466"/>
          <a:stretch>
            <a:fillRect/>
          </a:stretch>
        </p:blipFill>
        <p:spPr>
          <a:xfrm>
            <a:off x="0" y="6281013"/>
            <a:ext cx="1785823" cy="576986"/>
          </a:xfrm>
          <a:prstGeom prst="rect">
            <a:avLst/>
          </a:prstGeom>
        </p:spPr>
      </p:pic>
      <p:pic>
        <p:nvPicPr>
          <p:cNvPr id="4" name="Picture 3" descr="image.png"/>
          <p:cNvPicPr>
            <a:picLocks noChangeAspect="1"/>
          </p:cNvPicPr>
          <p:nvPr/>
        </p:nvPicPr>
        <p:blipFill>
          <a:blip r:embed="rId4"/>
          <a:stretch>
            <a:fillRect/>
          </a:stretch>
        </p:blipFill>
        <p:spPr>
          <a:xfrm>
            <a:off x="11095329" y="6281013"/>
            <a:ext cx="1096365" cy="576986"/>
          </a:xfrm>
          <a:prstGeom prst="rect">
            <a:avLst/>
          </a:prstGeom>
        </p:spPr>
      </p:pic>
      <p:sp>
        <p:nvSpPr>
          <p:cNvPr id="5" name="TextBox 4"/>
          <p:cNvSpPr txBox="1"/>
          <p:nvPr/>
        </p:nvSpPr>
        <p:spPr>
          <a:xfrm>
            <a:off x="530352" y="402336"/>
            <a:ext cx="8595360" cy="365760"/>
          </a:xfrm>
          <a:prstGeom prst="rect">
            <a:avLst/>
          </a:prstGeom>
          <a:noFill/>
        </p:spPr>
        <p:txBody>
          <a:bodyPr wrap="square" anchor="t" lIns="0" rIns="0" tIns="0" bIns="0">
            <a:spAutoFit/>
          </a:bodyPr>
          <a:lstStyle/>
          <a:p>
            <a:pPr algn="l"/>
            <a:r>
              <a:rPr sz="2025" b="1" i="0">
                <a:solidFill>
                  <a:srgbClr val="0F172A"/>
                </a:solidFill>
                <a:latin typeface="Poppins"/>
              </a:rPr>
              <a:t>Technical Challenges &amp; Risks</a:t>
            </a:r>
          </a:p>
        </p:txBody>
      </p:sp>
      <p:sp>
        <p:nvSpPr>
          <p:cNvPr id="6" name="Rounded Rectangle 5"/>
          <p:cNvSpPr/>
          <p:nvPr/>
        </p:nvSpPr>
        <p:spPr>
          <a:xfrm>
            <a:off x="10378440" y="484632"/>
            <a:ext cx="1280160" cy="210312"/>
          </a:xfrm>
          <a:prstGeom prst="roundRect">
            <a:avLst>
              <a:gd name="adj" fmla="val 50000"/>
            </a:avLst>
          </a:prstGeom>
          <a:solidFill>
            <a:srgbClr val="DCFCE7"/>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378440" y="484632"/>
            <a:ext cx="1280160" cy="210312"/>
          </a:xfrm>
          <a:prstGeom prst="rect">
            <a:avLst/>
          </a:prstGeom>
          <a:noFill/>
        </p:spPr>
        <p:txBody>
          <a:bodyPr wrap="square" anchor="ctr" lIns="0" rIns="0" tIns="0" bIns="0">
            <a:spAutoFit/>
          </a:bodyPr>
          <a:lstStyle/>
          <a:p>
            <a:pPr algn="ctr"/>
            <a:r>
              <a:rPr sz="750" b="1" i="0">
                <a:solidFill>
                  <a:srgbClr val="047857"/>
                </a:solidFill>
                <a:latin typeface="Poppins"/>
              </a:rPr>
              <a:t>CHALLENGES</a:t>
            </a:r>
          </a:p>
        </p:txBody>
      </p:sp>
      <p:sp>
        <p:nvSpPr>
          <p:cNvPr id="8" name="Rounded Rectangle 7"/>
          <p:cNvSpPr/>
          <p:nvPr/>
        </p:nvSpPr>
        <p:spPr>
          <a:xfrm>
            <a:off x="530352" y="960120"/>
            <a:ext cx="2670048" cy="2331720"/>
          </a:xfrm>
          <a:prstGeom prst="roundRect">
            <a:avLst>
              <a:gd name="adj" fmla="val 313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713232" y="1115568"/>
            <a:ext cx="329184" cy="329184"/>
          </a:xfrm>
          <a:prstGeom prst="roundRect">
            <a:avLst>
              <a:gd name="adj" fmla="val 22222"/>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3232" y="1115568"/>
            <a:ext cx="329184" cy="329184"/>
          </a:xfrm>
          <a:prstGeom prst="rect">
            <a:avLst/>
          </a:prstGeom>
          <a:noFill/>
        </p:spPr>
        <p:txBody>
          <a:bodyPr wrap="square" anchor="ctr" lIns="0" rIns="0" tIns="0" bIns="0">
            <a:spAutoFit/>
          </a:bodyPr>
          <a:lstStyle/>
          <a:p>
            <a:pPr algn="ctr"/>
            <a:r>
              <a:rPr sz="1300" b="1" i="0">
                <a:solidFill>
                  <a:srgbClr val="B91C1C"/>
                </a:solidFill>
                <a:latin typeface="Poppins"/>
              </a:rPr>
              <a:t>!</a:t>
            </a:r>
          </a:p>
        </p:txBody>
      </p:sp>
      <p:sp>
        <p:nvSpPr>
          <p:cNvPr id="11" name="TextBox 10"/>
          <p:cNvSpPr txBox="1"/>
          <p:nvPr/>
        </p:nvSpPr>
        <p:spPr>
          <a:xfrm>
            <a:off x="1133856" y="1143000"/>
            <a:ext cx="2011680" cy="274320"/>
          </a:xfrm>
          <a:prstGeom prst="rect">
            <a:avLst/>
          </a:prstGeom>
          <a:noFill/>
        </p:spPr>
        <p:txBody>
          <a:bodyPr wrap="square" anchor="t" lIns="0" rIns="0" tIns="0" bIns="0">
            <a:spAutoFit/>
          </a:bodyPr>
          <a:lstStyle/>
          <a:p>
            <a:pPr algn="l"/>
            <a:r>
              <a:rPr sz="1050" b="1" i="0">
                <a:solidFill>
                  <a:srgbClr val="0F172A"/>
                </a:solidFill>
                <a:latin typeface="Poppins"/>
              </a:rPr>
              <a:t>Static Indeterminacy</a:t>
            </a:r>
          </a:p>
        </p:txBody>
      </p:sp>
      <p:sp>
        <p:nvSpPr>
          <p:cNvPr id="12" name="TextBox 11"/>
          <p:cNvSpPr txBox="1"/>
          <p:nvPr/>
        </p:nvSpPr>
        <p:spPr>
          <a:xfrm>
            <a:off x="713232" y="1572768"/>
            <a:ext cx="2331720" cy="201168"/>
          </a:xfrm>
          <a:prstGeom prst="rect">
            <a:avLst/>
          </a:prstGeom>
          <a:noFill/>
        </p:spPr>
        <p:txBody>
          <a:bodyPr wrap="square" anchor="t" lIns="0" rIns="0" tIns="0" bIns="0">
            <a:spAutoFit/>
          </a:bodyPr>
          <a:lstStyle/>
          <a:p>
            <a:pPr algn="l"/>
            <a:r>
              <a:rPr sz="840" b="1" i="0">
                <a:solidFill>
                  <a:srgbClr val="B91C1C"/>
                </a:solidFill>
                <a:latin typeface="DM Sans"/>
              </a:rPr>
              <a:t>Observed risk</a:t>
            </a:r>
          </a:p>
        </p:txBody>
      </p:sp>
      <p:sp>
        <p:nvSpPr>
          <p:cNvPr id="13" name="TextBox 12"/>
          <p:cNvSpPr txBox="1"/>
          <p:nvPr/>
        </p:nvSpPr>
        <p:spPr>
          <a:xfrm>
            <a:off x="713232" y="1792224"/>
            <a:ext cx="2331720" cy="1920240"/>
          </a:xfrm>
          <a:prstGeom prst="rect">
            <a:avLst/>
          </a:prstGeom>
          <a:noFill/>
        </p:spPr>
        <p:txBody>
          <a:bodyPr wrap="square" anchor="t" lIns="0" rIns="0" tIns="0" bIns="0">
            <a:spAutoFit/>
          </a:bodyPr>
          <a:lstStyle/>
          <a:p>
            <a:pPr algn="l"/>
            <a:r>
              <a:rPr sz="960" b="0" i="0">
                <a:solidFill>
                  <a:srgbClr val="334155"/>
                </a:solidFill>
                <a:latin typeface="DM Sans"/>
              </a:rPr>
              <a:t>Four supports on one rigid plate are statically indeterminate. A height mismatch over 0.2 mm loads one diagonal more, biasing CoP in a way per-cell calibration cannot see.</a:t>
            </a:r>
          </a:p>
        </p:txBody>
      </p:sp>
      <p:sp>
        <p:nvSpPr>
          <p:cNvPr id="14" name="Rounded Rectangle 13"/>
          <p:cNvSpPr/>
          <p:nvPr/>
        </p:nvSpPr>
        <p:spPr>
          <a:xfrm>
            <a:off x="3346704" y="960120"/>
            <a:ext cx="2670048" cy="2331720"/>
          </a:xfrm>
          <a:prstGeom prst="roundRect">
            <a:avLst>
              <a:gd name="adj" fmla="val 313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3529584" y="1115568"/>
            <a:ext cx="329184" cy="329184"/>
          </a:xfrm>
          <a:prstGeom prst="roundRect">
            <a:avLst>
              <a:gd name="adj" fmla="val 22222"/>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29584" y="1115568"/>
            <a:ext cx="329184" cy="329184"/>
          </a:xfrm>
          <a:prstGeom prst="rect">
            <a:avLst/>
          </a:prstGeom>
          <a:noFill/>
        </p:spPr>
        <p:txBody>
          <a:bodyPr wrap="square" anchor="ctr" lIns="0" rIns="0" tIns="0" bIns="0">
            <a:spAutoFit/>
          </a:bodyPr>
          <a:lstStyle/>
          <a:p>
            <a:pPr algn="ctr"/>
            <a:r>
              <a:rPr sz="1300" b="1" i="0">
                <a:solidFill>
                  <a:srgbClr val="B91C1C"/>
                </a:solidFill>
                <a:latin typeface="Poppins"/>
              </a:rPr>
              <a:t>!</a:t>
            </a:r>
          </a:p>
        </p:txBody>
      </p:sp>
      <p:sp>
        <p:nvSpPr>
          <p:cNvPr id="17" name="TextBox 16"/>
          <p:cNvSpPr txBox="1"/>
          <p:nvPr/>
        </p:nvSpPr>
        <p:spPr>
          <a:xfrm>
            <a:off x="3950208" y="1143000"/>
            <a:ext cx="2011680" cy="274320"/>
          </a:xfrm>
          <a:prstGeom prst="rect">
            <a:avLst/>
          </a:prstGeom>
          <a:noFill/>
        </p:spPr>
        <p:txBody>
          <a:bodyPr wrap="square" anchor="t" lIns="0" rIns="0" tIns="0" bIns="0">
            <a:spAutoFit/>
          </a:bodyPr>
          <a:lstStyle/>
          <a:p>
            <a:pPr algn="l"/>
            <a:r>
              <a:rPr sz="1050" b="1" i="0">
                <a:solidFill>
                  <a:srgbClr val="0F172A"/>
                </a:solidFill>
                <a:latin typeface="Poppins"/>
              </a:rPr>
              <a:t>ADC Timing &amp; Sync</a:t>
            </a:r>
          </a:p>
        </p:txBody>
      </p:sp>
      <p:sp>
        <p:nvSpPr>
          <p:cNvPr id="18" name="TextBox 17"/>
          <p:cNvSpPr txBox="1"/>
          <p:nvPr/>
        </p:nvSpPr>
        <p:spPr>
          <a:xfrm>
            <a:off x="3529584" y="1572768"/>
            <a:ext cx="2331720" cy="201168"/>
          </a:xfrm>
          <a:prstGeom prst="rect">
            <a:avLst/>
          </a:prstGeom>
          <a:noFill/>
        </p:spPr>
        <p:txBody>
          <a:bodyPr wrap="square" anchor="t" lIns="0" rIns="0" tIns="0" bIns="0">
            <a:spAutoFit/>
          </a:bodyPr>
          <a:lstStyle/>
          <a:p>
            <a:pPr algn="l"/>
            <a:r>
              <a:rPr sz="840" b="1" i="0">
                <a:solidFill>
                  <a:srgbClr val="B91C1C"/>
                </a:solidFill>
                <a:latin typeface="DM Sans"/>
              </a:rPr>
              <a:t>Observed risk</a:t>
            </a:r>
          </a:p>
        </p:txBody>
      </p:sp>
      <p:sp>
        <p:nvSpPr>
          <p:cNvPr id="19" name="TextBox 18"/>
          <p:cNvSpPr txBox="1"/>
          <p:nvPr/>
        </p:nvSpPr>
        <p:spPr>
          <a:xfrm>
            <a:off x="3529584" y="1792224"/>
            <a:ext cx="2331720" cy="1920240"/>
          </a:xfrm>
          <a:prstGeom prst="rect">
            <a:avLst/>
          </a:prstGeom>
          <a:noFill/>
        </p:spPr>
        <p:txBody>
          <a:bodyPr wrap="square" anchor="t" lIns="0" rIns="0" tIns="0" bIns="0">
            <a:spAutoFit/>
          </a:bodyPr>
          <a:lstStyle/>
          <a:p>
            <a:pPr algn="l"/>
            <a:r>
              <a:rPr sz="960" b="0" i="0">
                <a:solidFill>
                  <a:srgbClr val="334155"/>
                </a:solidFill>
                <a:latin typeface="DM Sans"/>
              </a:rPr>
              <a:t>The four HX711s run on free-running RC oscillators (worst-case skew 12.5 ms), and a PD_SCK pulse over 60 µs puts the chip into power-down mid-read.</a:t>
            </a:r>
          </a:p>
        </p:txBody>
      </p:sp>
      <p:sp>
        <p:nvSpPr>
          <p:cNvPr id="20" name="Rounded Rectangle 19"/>
          <p:cNvSpPr/>
          <p:nvPr/>
        </p:nvSpPr>
        <p:spPr>
          <a:xfrm>
            <a:off x="6163056" y="960120"/>
            <a:ext cx="2670048" cy="2331720"/>
          </a:xfrm>
          <a:prstGeom prst="roundRect">
            <a:avLst>
              <a:gd name="adj" fmla="val 313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345936" y="1115568"/>
            <a:ext cx="329184" cy="329184"/>
          </a:xfrm>
          <a:prstGeom prst="roundRect">
            <a:avLst>
              <a:gd name="adj" fmla="val 22222"/>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45936" y="1115568"/>
            <a:ext cx="329184" cy="329184"/>
          </a:xfrm>
          <a:prstGeom prst="rect">
            <a:avLst/>
          </a:prstGeom>
          <a:noFill/>
        </p:spPr>
        <p:txBody>
          <a:bodyPr wrap="square" anchor="ctr" lIns="0" rIns="0" tIns="0" bIns="0">
            <a:spAutoFit/>
          </a:bodyPr>
          <a:lstStyle/>
          <a:p>
            <a:pPr algn="ctr"/>
            <a:r>
              <a:rPr sz="1300" b="1" i="0">
                <a:solidFill>
                  <a:srgbClr val="B91C1C"/>
                </a:solidFill>
                <a:latin typeface="Poppins"/>
              </a:rPr>
              <a:t>!</a:t>
            </a:r>
          </a:p>
        </p:txBody>
      </p:sp>
      <p:sp>
        <p:nvSpPr>
          <p:cNvPr id="23" name="TextBox 22"/>
          <p:cNvSpPr txBox="1"/>
          <p:nvPr/>
        </p:nvSpPr>
        <p:spPr>
          <a:xfrm>
            <a:off x="6766560" y="1143000"/>
            <a:ext cx="2011680" cy="274320"/>
          </a:xfrm>
          <a:prstGeom prst="rect">
            <a:avLst/>
          </a:prstGeom>
          <a:noFill/>
        </p:spPr>
        <p:txBody>
          <a:bodyPr wrap="square" anchor="t" lIns="0" rIns="0" tIns="0" bIns="0">
            <a:spAutoFit/>
          </a:bodyPr>
          <a:lstStyle/>
          <a:p>
            <a:pPr algn="l"/>
            <a:r>
              <a:rPr sz="1050" b="1" i="0">
                <a:solidFill>
                  <a:srgbClr val="0F172A"/>
                </a:solidFill>
                <a:latin typeface="Poppins"/>
              </a:rPr>
              <a:t>Plate Compliance</a:t>
            </a:r>
          </a:p>
        </p:txBody>
      </p:sp>
      <p:sp>
        <p:nvSpPr>
          <p:cNvPr id="24" name="TextBox 23"/>
          <p:cNvSpPr txBox="1"/>
          <p:nvPr/>
        </p:nvSpPr>
        <p:spPr>
          <a:xfrm>
            <a:off x="6345936" y="1572768"/>
            <a:ext cx="2331720" cy="201168"/>
          </a:xfrm>
          <a:prstGeom prst="rect">
            <a:avLst/>
          </a:prstGeom>
          <a:noFill/>
        </p:spPr>
        <p:txBody>
          <a:bodyPr wrap="square" anchor="t" lIns="0" rIns="0" tIns="0" bIns="0">
            <a:spAutoFit/>
          </a:bodyPr>
          <a:lstStyle/>
          <a:p>
            <a:pPr algn="l"/>
            <a:r>
              <a:rPr sz="840" b="1" i="0">
                <a:solidFill>
                  <a:srgbClr val="B91C1C"/>
                </a:solidFill>
                <a:latin typeface="DM Sans"/>
              </a:rPr>
              <a:t>Observed risk</a:t>
            </a:r>
          </a:p>
        </p:txBody>
      </p:sp>
      <p:sp>
        <p:nvSpPr>
          <p:cNvPr id="25" name="TextBox 24"/>
          <p:cNvSpPr txBox="1"/>
          <p:nvPr/>
        </p:nvSpPr>
        <p:spPr>
          <a:xfrm>
            <a:off x="6345936" y="1792224"/>
            <a:ext cx="2331720" cy="1920240"/>
          </a:xfrm>
          <a:prstGeom prst="rect">
            <a:avLst/>
          </a:prstGeom>
          <a:noFill/>
        </p:spPr>
        <p:txBody>
          <a:bodyPr wrap="square" anchor="t" lIns="0" rIns="0" tIns="0" bIns="0">
            <a:spAutoFit/>
          </a:bodyPr>
          <a:lstStyle/>
          <a:p>
            <a:pPr algn="l"/>
            <a:r>
              <a:rPr sz="960" b="0" i="0">
                <a:solidFill>
                  <a:srgbClr val="334155"/>
                </a:solidFill>
                <a:latin typeface="DM Sans"/>
              </a:rPr>
              <a:t>FEA: the 6 mm plate sags 2.56 mm under a 2× step-on load, leaving ~1.4 mm over the enclosure. The spacer-edge corner reaches 276 MPa (singular).</a:t>
            </a:r>
          </a:p>
        </p:txBody>
      </p:sp>
      <p:sp>
        <p:nvSpPr>
          <p:cNvPr id="26" name="Rounded Rectangle 25"/>
          <p:cNvSpPr/>
          <p:nvPr/>
        </p:nvSpPr>
        <p:spPr>
          <a:xfrm>
            <a:off x="8979408" y="960120"/>
            <a:ext cx="2670048" cy="2331720"/>
          </a:xfrm>
          <a:prstGeom prst="roundRect">
            <a:avLst>
              <a:gd name="adj" fmla="val 313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9162288" y="1115568"/>
            <a:ext cx="329184" cy="329184"/>
          </a:xfrm>
          <a:prstGeom prst="roundRect">
            <a:avLst>
              <a:gd name="adj" fmla="val 22222"/>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62288" y="1115568"/>
            <a:ext cx="329184" cy="329184"/>
          </a:xfrm>
          <a:prstGeom prst="rect">
            <a:avLst/>
          </a:prstGeom>
          <a:noFill/>
        </p:spPr>
        <p:txBody>
          <a:bodyPr wrap="square" anchor="ctr" lIns="0" rIns="0" tIns="0" bIns="0">
            <a:spAutoFit/>
          </a:bodyPr>
          <a:lstStyle/>
          <a:p>
            <a:pPr algn="ctr"/>
            <a:r>
              <a:rPr sz="1300" b="1" i="0">
                <a:solidFill>
                  <a:srgbClr val="B91C1C"/>
                </a:solidFill>
                <a:latin typeface="Poppins"/>
              </a:rPr>
              <a:t>!</a:t>
            </a:r>
          </a:p>
        </p:txBody>
      </p:sp>
      <p:sp>
        <p:nvSpPr>
          <p:cNvPr id="29" name="TextBox 28"/>
          <p:cNvSpPr txBox="1"/>
          <p:nvPr/>
        </p:nvSpPr>
        <p:spPr>
          <a:xfrm>
            <a:off x="9582912" y="1143000"/>
            <a:ext cx="2011680" cy="274320"/>
          </a:xfrm>
          <a:prstGeom prst="rect">
            <a:avLst/>
          </a:prstGeom>
          <a:noFill/>
        </p:spPr>
        <p:txBody>
          <a:bodyPr wrap="square" anchor="t" lIns="0" rIns="0" tIns="0" bIns="0">
            <a:spAutoFit/>
          </a:bodyPr>
          <a:lstStyle/>
          <a:p>
            <a:pPr algn="l"/>
            <a:r>
              <a:rPr sz="1050" b="1" i="0">
                <a:solidFill>
                  <a:srgbClr val="0F172A"/>
                </a:solidFill>
                <a:latin typeface="Poppins"/>
              </a:rPr>
              <a:t>Cross-Talk &amp; Drift</a:t>
            </a:r>
          </a:p>
        </p:txBody>
      </p:sp>
      <p:sp>
        <p:nvSpPr>
          <p:cNvPr id="30" name="TextBox 29"/>
          <p:cNvSpPr txBox="1"/>
          <p:nvPr/>
        </p:nvSpPr>
        <p:spPr>
          <a:xfrm>
            <a:off x="9162288" y="1572768"/>
            <a:ext cx="2331720" cy="201168"/>
          </a:xfrm>
          <a:prstGeom prst="rect">
            <a:avLst/>
          </a:prstGeom>
          <a:noFill/>
        </p:spPr>
        <p:txBody>
          <a:bodyPr wrap="square" anchor="t" lIns="0" rIns="0" tIns="0" bIns="0">
            <a:spAutoFit/>
          </a:bodyPr>
          <a:lstStyle/>
          <a:p>
            <a:pPr algn="l"/>
            <a:r>
              <a:rPr sz="840" b="1" i="0">
                <a:solidFill>
                  <a:srgbClr val="B91C1C"/>
                </a:solidFill>
                <a:latin typeface="DM Sans"/>
              </a:rPr>
              <a:t>Observed risk</a:t>
            </a:r>
          </a:p>
        </p:txBody>
      </p:sp>
      <p:sp>
        <p:nvSpPr>
          <p:cNvPr id="31" name="TextBox 30"/>
          <p:cNvSpPr txBox="1"/>
          <p:nvPr/>
        </p:nvSpPr>
        <p:spPr>
          <a:xfrm>
            <a:off x="9162288" y="1792224"/>
            <a:ext cx="2331720" cy="1920240"/>
          </a:xfrm>
          <a:prstGeom prst="rect">
            <a:avLst/>
          </a:prstGeom>
          <a:noFill/>
        </p:spPr>
        <p:txBody>
          <a:bodyPr wrap="square" anchor="t" lIns="0" rIns="0" tIns="0" bIns="0">
            <a:spAutoFit/>
          </a:bodyPr>
          <a:lstStyle/>
          <a:p>
            <a:pPr algn="l"/>
            <a:r>
              <a:rPr sz="960" b="0" i="0">
                <a:solidFill>
                  <a:srgbClr val="334155"/>
                </a:solidFill>
                <a:latin typeface="DM Sans"/>
              </a:rPr>
              <a:t>Bar cells respond to off-axis moments (the Z-mount reduces but cannot remove this), and HX711 + bridge output drifts until the system warms up.</a:t>
            </a:r>
          </a:p>
        </p:txBody>
      </p:sp>
      <p:sp>
        <p:nvSpPr>
          <p:cNvPr id="32" name="Rounded Rectangle 31"/>
          <p:cNvSpPr/>
          <p:nvPr/>
        </p:nvSpPr>
        <p:spPr>
          <a:xfrm>
            <a:off x="530352" y="3456432"/>
            <a:ext cx="11128248" cy="2075688"/>
          </a:xfrm>
          <a:prstGeom prst="roundRect">
            <a:avLst>
              <a:gd name="adj" fmla="val 352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731520" y="3621024"/>
            <a:ext cx="137160" cy="137160"/>
          </a:xfrm>
          <a:prstGeom prst="roundRect">
            <a:avLst>
              <a:gd name="adj" fmla="val 20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50976" y="3566160"/>
            <a:ext cx="10296144" cy="237744"/>
          </a:xfrm>
          <a:prstGeom prst="rect">
            <a:avLst/>
          </a:prstGeom>
          <a:noFill/>
        </p:spPr>
        <p:txBody>
          <a:bodyPr wrap="square" anchor="t" lIns="0" rIns="0" tIns="0" bIns="0">
            <a:spAutoFit/>
          </a:bodyPr>
          <a:lstStyle/>
          <a:p>
            <a:pPr algn="l"/>
            <a:r>
              <a:rPr sz="1125" b="1" i="0">
                <a:solidFill>
                  <a:srgbClr val="0F172A"/>
                </a:solidFill>
                <a:latin typeface="DM Sans"/>
              </a:rPr>
              <a:t>Design Trade-offs Met During Simulation &amp; Review</a:t>
            </a:r>
          </a:p>
        </p:txBody>
      </p:sp>
      <p:graphicFrame>
        <p:nvGraphicFramePr>
          <p:cNvPr id="35" name="Table 34"/>
          <p:cNvGraphicFramePr>
            <a:graphicFrameLocks noGrp="1"/>
          </p:cNvGraphicFramePr>
          <p:nvPr/>
        </p:nvGraphicFramePr>
        <p:xfrm>
          <a:off x="731520" y="3913632"/>
          <a:ext cx="10725910" cy="1463040"/>
        </p:xfrm>
        <a:graphic>
          <a:graphicData uri="http://schemas.openxmlformats.org/drawingml/2006/table">
            <a:tbl>
              <a:tblPr firstRow="0" bandRow="0">
                <a:tableStyleId>{5940675A-B579-460E-94D1-54222C63F5DA}</a:tableStyleId>
              </a:tblPr>
              <a:tblGrid>
                <a:gridCol w="2016838"/>
                <a:gridCol w="2750233"/>
                <a:gridCol w="2750233"/>
                <a:gridCol w="3208606"/>
              </a:tblGrid>
              <a:tr h="365760">
                <a:tc>
                  <a:txBody>
                    <a:bodyPr wrap="square"/>
                    <a:lstStyle/>
                    <a:p>
                      <a:r>
                        <a:rPr sz="900" b="1" i="0">
                          <a:solidFill>
                            <a:srgbClr val="0F172A"/>
                          </a:solidFill>
                          <a:latin typeface="DM Sans"/>
                        </a:rPr>
                        <a:t>Trade-off</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900" b="1" i="0">
                          <a:solidFill>
                            <a:srgbClr val="0F172A"/>
                          </a:solidFill>
                          <a:latin typeface="DM Sans"/>
                        </a:rPr>
                        <a:t>Option A</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900" b="1" i="0">
                          <a:solidFill>
                            <a:srgbClr val="0F172A"/>
                          </a:solidFill>
                          <a:latin typeface="DM Sans"/>
                        </a:rPr>
                        <a:t>Option B</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900" b="1" i="0">
                          <a:solidFill>
                            <a:srgbClr val="0F172A"/>
                          </a:solidFill>
                          <a:latin typeface="DM Sans"/>
                        </a:rPr>
                        <a:t>Decision</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r>
              <a:tr h="365760">
                <a:tc>
                  <a:txBody>
                    <a:bodyPr wrap="square"/>
                    <a:lstStyle/>
                    <a:p>
                      <a:r>
                        <a:rPr sz="900" b="0" i="0">
                          <a:solidFill>
                            <a:srgbClr val="334155"/>
                          </a:solidFill>
                          <a:latin typeface="DM Sans"/>
                        </a:rPr>
                        <a:t>Plate stiffness vs weight</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900" b="0" i="0">
                          <a:solidFill>
                            <a:srgbClr val="334155"/>
                          </a:solidFill>
                          <a:latin typeface="DM Sans"/>
                        </a:rPr>
                        <a:t>6 mm Al: 3.3 kg, 2.56 mm sag</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900" b="0" i="0">
                          <a:solidFill>
                            <a:srgbClr val="334155"/>
                          </a:solidFill>
                          <a:latin typeface="DM Sans"/>
                        </a:rPr>
                        <a:t>10 mm Al: 5.5 kg, 0.61 mm sag</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900" b="0" i="0">
                          <a:solidFill>
                            <a:srgbClr val="334155"/>
                          </a:solidFill>
                          <a:latin typeface="DM Sans"/>
                        </a:rPr>
                        <a:t>6 mm + 20 mm enclosure cap; 10 mm if V6 fails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365760">
                <a:tc>
                  <a:txBody>
                    <a:bodyPr wrap="square"/>
                    <a:lstStyle/>
                    <a:p>
                      <a:r>
                        <a:rPr sz="900" b="0" i="0">
                          <a:solidFill>
                            <a:srgbClr val="334155"/>
                          </a:solidFill>
                          <a:latin typeface="DM Sans"/>
                        </a:rPr>
                        <a:t>ADC headroom vs noise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900" b="0" i="0">
                          <a:solidFill>
                            <a:srgbClr val="334155"/>
                          </a:solidFill>
                          <a:latin typeface="DM Sans"/>
                        </a:rPr>
                        <a:t>Gain 32: 1.1% of range used at 70 kg</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900" b="0" i="0">
                          <a:solidFill>
                            <a:srgbClr val="334155"/>
                          </a:solidFill>
                          <a:latin typeface="DM Sans"/>
                        </a:rPr>
                        <a:t>Gain 128: 1.95× headroom at 200 kg</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900" b="0" i="0">
                          <a:solidFill>
                            <a:srgbClr val="334155"/>
                          </a:solidFill>
                          <a:latin typeface="DM Sans"/>
                        </a:rPr>
                        <a:t>Gain 128 (Channel A)</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365760">
                <a:tc>
                  <a:txBody>
                    <a:bodyPr wrap="square"/>
                    <a:lstStyle/>
                    <a:p>
                      <a:r>
                        <a:rPr sz="900" b="0" i="0">
                          <a:solidFill>
                            <a:srgbClr val="334155"/>
                          </a:solidFill>
                          <a:latin typeface="DM Sans"/>
                        </a:rPr>
                        <a:t>Biofeedback vs study class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900" b="0" i="0">
                          <a:solidFill>
                            <a:srgbClr val="334155"/>
                          </a:solidFill>
                          <a:latin typeface="DM Sans"/>
                        </a:rPr>
                        <a:t>Haptic on: interventional (licensing)</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900" b="0" i="0">
                          <a:solidFill>
                            <a:srgbClr val="334155"/>
                          </a:solidFill>
                          <a:latin typeface="DM Sans"/>
                        </a:rPr>
                        <a:t>Haptic off: observational</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900" b="0" i="0">
                          <a:solidFill>
                            <a:srgbClr val="334155"/>
                          </a:solidFill>
                          <a:latin typeface="DM Sans"/>
                        </a:rPr>
                        <a:t>Off and JP1 removed for trials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bl>
          </a:graphicData>
        </a:graphic>
      </p:graphicFrame>
      <p:pic>
        <p:nvPicPr>
          <p:cNvPr id="36" name="Picture 35" descr="image.png"/>
          <p:cNvPicPr>
            <a:picLocks noChangeAspect="1"/>
          </p:cNvPicPr>
          <p:nvPr/>
        </p:nvPicPr>
        <p:blipFill>
          <a:blip r:embed="rId5"/>
          <a:stretch>
            <a:fillRect/>
          </a:stretch>
        </p:blipFill>
        <p:spPr>
          <a:xfrm>
            <a:off x="530352" y="5669280"/>
            <a:ext cx="11128248" cy="365760"/>
          </a:xfrm>
          <a:prstGeom prst="rect">
            <a:avLst/>
          </a:prstGeom>
        </p:spPr>
      </p:pic>
      <p:sp>
        <p:nvSpPr>
          <p:cNvPr id="37" name="TextBox 36"/>
          <p:cNvSpPr txBox="1"/>
          <p:nvPr/>
        </p:nvSpPr>
        <p:spPr>
          <a:xfrm>
            <a:off x="694944" y="5687568"/>
            <a:ext cx="10835640" cy="329184"/>
          </a:xfrm>
          <a:prstGeom prst="rect">
            <a:avLst/>
          </a:prstGeom>
          <a:noFill/>
        </p:spPr>
        <p:txBody>
          <a:bodyPr wrap="square" anchor="ctr" lIns="0" rIns="0" tIns="0" bIns="0">
            <a:spAutoFit/>
          </a:bodyPr>
          <a:lstStyle/>
          <a:p>
            <a:pPr algn="l"/>
            <a:r>
              <a:rPr sz="940" b="1" i="0">
                <a:solidFill>
                  <a:srgbClr val="0F172A"/>
                </a:solidFill>
                <a:latin typeface="DM Sans"/>
              </a:rPr>
              <a:t>Engineering bottleneck: </a:t>
            </a:r>
            <a:r>
              <a:rPr sz="940" b="0" i="0">
                <a:solidFill>
                  <a:srgbClr val="475569"/>
                </a:solidFill>
                <a:latin typeface="DM Sans"/>
              </a:rPr>
              <a:t>force linearity (R² &gt; 0.999) does not prove position accuracy; that depends on gain matching, true geometry and planarity, so it needs the V6 grid test.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rcRect l="14673" r="15820" t="33074" b="44466"/>
          <a:stretch>
            <a:fillRect/>
          </a:stretch>
        </p:blipFill>
        <p:spPr>
          <a:xfrm>
            <a:off x="0" y="6281013"/>
            <a:ext cx="1785823" cy="576986"/>
          </a:xfrm>
          <a:prstGeom prst="rect">
            <a:avLst/>
          </a:prstGeom>
        </p:spPr>
      </p:pic>
      <p:pic>
        <p:nvPicPr>
          <p:cNvPr id="4" name="Picture 3" descr="image.png"/>
          <p:cNvPicPr>
            <a:picLocks noChangeAspect="1"/>
          </p:cNvPicPr>
          <p:nvPr/>
        </p:nvPicPr>
        <p:blipFill>
          <a:blip r:embed="rId4"/>
          <a:stretch>
            <a:fillRect/>
          </a:stretch>
        </p:blipFill>
        <p:spPr>
          <a:xfrm>
            <a:off x="11095329" y="6281013"/>
            <a:ext cx="1096365" cy="576986"/>
          </a:xfrm>
          <a:prstGeom prst="rect">
            <a:avLst/>
          </a:prstGeom>
        </p:spPr>
      </p:pic>
      <p:sp>
        <p:nvSpPr>
          <p:cNvPr id="5" name="TextBox 4"/>
          <p:cNvSpPr txBox="1"/>
          <p:nvPr/>
        </p:nvSpPr>
        <p:spPr>
          <a:xfrm>
            <a:off x="530352" y="402336"/>
            <a:ext cx="8595360" cy="365760"/>
          </a:xfrm>
          <a:prstGeom prst="rect">
            <a:avLst/>
          </a:prstGeom>
          <a:noFill/>
        </p:spPr>
        <p:txBody>
          <a:bodyPr wrap="square" anchor="t" lIns="0" rIns="0" tIns="0" bIns="0">
            <a:spAutoFit/>
          </a:bodyPr>
          <a:lstStyle/>
          <a:p>
            <a:pPr algn="l"/>
            <a:r>
              <a:rPr sz="2025" b="1" i="0">
                <a:solidFill>
                  <a:srgbClr val="0F172A"/>
                </a:solidFill>
                <a:latin typeface="Poppins"/>
              </a:rPr>
              <a:t>Potential Solutions &amp; Risk Mitigation</a:t>
            </a:r>
          </a:p>
        </p:txBody>
      </p:sp>
      <p:sp>
        <p:nvSpPr>
          <p:cNvPr id="6" name="Rounded Rectangle 5"/>
          <p:cNvSpPr/>
          <p:nvPr/>
        </p:nvSpPr>
        <p:spPr>
          <a:xfrm>
            <a:off x="10309860" y="484632"/>
            <a:ext cx="1348740" cy="210312"/>
          </a:xfrm>
          <a:prstGeom prst="roundRect">
            <a:avLst>
              <a:gd name="adj" fmla="val 50000"/>
            </a:avLst>
          </a:prstGeom>
          <a:solidFill>
            <a:srgbClr val="DCFCE7"/>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309860" y="484632"/>
            <a:ext cx="1348740" cy="210312"/>
          </a:xfrm>
          <a:prstGeom prst="rect">
            <a:avLst/>
          </a:prstGeom>
          <a:noFill/>
        </p:spPr>
        <p:txBody>
          <a:bodyPr wrap="square" anchor="ctr" lIns="0" rIns="0" tIns="0" bIns="0">
            <a:spAutoFit/>
          </a:bodyPr>
          <a:lstStyle/>
          <a:p>
            <a:pPr algn="ctr"/>
            <a:r>
              <a:rPr sz="750" b="1" i="0">
                <a:solidFill>
                  <a:srgbClr val="047857"/>
                </a:solidFill>
                <a:latin typeface="Poppins"/>
              </a:rPr>
              <a:t>RISK MITIGATION</a:t>
            </a:r>
          </a:p>
        </p:txBody>
      </p:sp>
      <p:sp>
        <p:nvSpPr>
          <p:cNvPr id="8" name="Rounded Rectangle 7"/>
          <p:cNvSpPr/>
          <p:nvPr/>
        </p:nvSpPr>
        <p:spPr>
          <a:xfrm>
            <a:off x="530352" y="960120"/>
            <a:ext cx="2670048" cy="4553712"/>
          </a:xfrm>
          <a:prstGeom prst="roundRect">
            <a:avLst>
              <a:gd name="adj" fmla="val 2739"/>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713232" y="1115568"/>
            <a:ext cx="329184" cy="329184"/>
          </a:xfrm>
          <a:prstGeom prst="roundRect">
            <a:avLst>
              <a:gd name="adj" fmla="val 22222"/>
            </a:avLst>
          </a:prstGeom>
          <a:solidFill>
            <a:srgbClr val="FFFFFF"/>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3232" y="1115568"/>
            <a:ext cx="329184" cy="329184"/>
          </a:xfrm>
          <a:prstGeom prst="rect">
            <a:avLst/>
          </a:prstGeom>
          <a:noFill/>
        </p:spPr>
        <p:txBody>
          <a:bodyPr wrap="square" anchor="ctr" lIns="0" rIns="0" tIns="0" bIns="0">
            <a:spAutoFit/>
          </a:bodyPr>
          <a:lstStyle/>
          <a:p>
            <a:pPr algn="ctr"/>
            <a:r>
              <a:rPr sz="1200" b="1" i="0">
                <a:solidFill>
                  <a:srgbClr val="059669"/>
                </a:solidFill>
                <a:latin typeface="DM Sans"/>
              </a:rPr>
              <a:t>✓</a:t>
            </a:r>
          </a:p>
        </p:txBody>
      </p:sp>
      <p:sp>
        <p:nvSpPr>
          <p:cNvPr id="11" name="TextBox 10"/>
          <p:cNvSpPr txBox="1"/>
          <p:nvPr/>
        </p:nvSpPr>
        <p:spPr>
          <a:xfrm>
            <a:off x="1133856" y="1143000"/>
            <a:ext cx="2011680" cy="274320"/>
          </a:xfrm>
          <a:prstGeom prst="rect">
            <a:avLst/>
          </a:prstGeom>
          <a:noFill/>
        </p:spPr>
        <p:txBody>
          <a:bodyPr wrap="square" anchor="t" lIns="0" rIns="0" tIns="0" bIns="0">
            <a:spAutoFit/>
          </a:bodyPr>
          <a:lstStyle/>
          <a:p>
            <a:pPr algn="l"/>
            <a:r>
              <a:rPr sz="1050" b="1" i="0">
                <a:solidFill>
                  <a:srgbClr val="0F172A"/>
                </a:solidFill>
                <a:latin typeface="Poppins"/>
              </a:rPr>
              <a:t>Static Indeterminacy</a:t>
            </a:r>
          </a:p>
        </p:txBody>
      </p:sp>
      <p:sp>
        <p:nvSpPr>
          <p:cNvPr id="12" name="TextBox 11"/>
          <p:cNvSpPr txBox="1"/>
          <p:nvPr/>
        </p:nvSpPr>
        <p:spPr>
          <a:xfrm>
            <a:off x="713232" y="1572768"/>
            <a:ext cx="2331720" cy="201168"/>
          </a:xfrm>
          <a:prstGeom prst="rect">
            <a:avLst/>
          </a:prstGeom>
          <a:noFill/>
        </p:spPr>
        <p:txBody>
          <a:bodyPr wrap="square" anchor="t" lIns="0" rIns="0" tIns="0" bIns="0">
            <a:spAutoFit/>
          </a:bodyPr>
          <a:lstStyle/>
          <a:p>
            <a:pPr algn="l"/>
            <a:r>
              <a:rPr sz="840" b="1" i="0">
                <a:solidFill>
                  <a:srgbClr val="047857"/>
                </a:solidFill>
                <a:latin typeface="DM Sans"/>
              </a:rPr>
              <a:t>Mitigation</a:t>
            </a:r>
          </a:p>
        </p:txBody>
      </p:sp>
      <p:sp>
        <p:nvSpPr>
          <p:cNvPr id="13" name="TextBox 12"/>
          <p:cNvSpPr txBox="1"/>
          <p:nvPr/>
        </p:nvSpPr>
        <p:spPr>
          <a:xfrm>
            <a:off x="713232" y="1792224"/>
            <a:ext cx="2331720" cy="1463040"/>
          </a:xfrm>
          <a:prstGeom prst="rect">
            <a:avLst/>
          </a:prstGeom>
          <a:noFill/>
        </p:spPr>
        <p:txBody>
          <a:bodyPr wrap="square" anchor="t" lIns="0" rIns="0" tIns="0" bIns="0">
            <a:spAutoFit/>
          </a:bodyPr>
          <a:lstStyle/>
          <a:p>
            <a:pPr algn="l"/>
            <a:r>
              <a:rPr sz="960" b="0" i="0">
                <a:solidFill>
                  <a:srgbClr val="334155"/>
                </a:solidFill>
                <a:latin typeface="DM Sans"/>
              </a:rPr>
              <a:t>Mandatory shims with 8 N·m torque; V6 25-point affine fit separates spacing errors (fixable in firmware) from binding (residual &gt; 3 mm).</a:t>
            </a:r>
          </a:p>
        </p:txBody>
      </p:sp>
      <p:sp>
        <p:nvSpPr>
          <p:cNvPr id="14" name="TextBox 13"/>
          <p:cNvSpPr txBox="1"/>
          <p:nvPr/>
        </p:nvSpPr>
        <p:spPr>
          <a:xfrm>
            <a:off x="713232" y="3154680"/>
            <a:ext cx="2331720" cy="201168"/>
          </a:xfrm>
          <a:prstGeom prst="rect">
            <a:avLst/>
          </a:prstGeom>
          <a:noFill/>
        </p:spPr>
        <p:txBody>
          <a:bodyPr wrap="square" anchor="t" lIns="0" rIns="0" tIns="0" bIns="0">
            <a:spAutoFit/>
          </a:bodyPr>
          <a:lstStyle/>
          <a:p>
            <a:pPr algn="l"/>
            <a:r>
              <a:rPr sz="840" b="1" i="0">
                <a:solidFill>
                  <a:srgbClr val="0369A1"/>
                </a:solidFill>
                <a:latin typeface="DM Sans"/>
              </a:rPr>
              <a:t>Verified by</a:t>
            </a:r>
          </a:p>
        </p:txBody>
      </p:sp>
      <p:sp>
        <p:nvSpPr>
          <p:cNvPr id="15" name="TextBox 14"/>
          <p:cNvSpPr txBox="1"/>
          <p:nvPr/>
        </p:nvSpPr>
        <p:spPr>
          <a:xfrm>
            <a:off x="713232" y="3374136"/>
            <a:ext cx="2331720" cy="457200"/>
          </a:xfrm>
          <a:prstGeom prst="rect">
            <a:avLst/>
          </a:prstGeom>
          <a:noFill/>
        </p:spPr>
        <p:txBody>
          <a:bodyPr wrap="square" anchor="t" lIns="0" rIns="0" tIns="0" bIns="0">
            <a:spAutoFit/>
          </a:bodyPr>
          <a:lstStyle/>
          <a:p>
            <a:pPr algn="l"/>
            <a:r>
              <a:rPr sz="940" b="0" i="0">
                <a:solidFill>
                  <a:srgbClr val="0F172A"/>
                </a:solidFill>
                <a:latin typeface="DM Sans"/>
              </a:rPr>
              <a:t>V6 grid ≤ 5 mm RMS; V7 σ ≤ 2 mm</a:t>
            </a:r>
          </a:p>
        </p:txBody>
      </p:sp>
      <p:sp>
        <p:nvSpPr>
          <p:cNvPr id="16" name="Rounded Rectangle 15"/>
          <p:cNvSpPr/>
          <p:nvPr/>
        </p:nvSpPr>
        <p:spPr>
          <a:xfrm>
            <a:off x="667512" y="4069080"/>
            <a:ext cx="2395728" cy="1280160"/>
          </a:xfrm>
          <a:prstGeom prst="roundRect">
            <a:avLst>
              <a:gd name="adj" fmla="val 571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4133087"/>
            <a:ext cx="2194560" cy="201168"/>
          </a:xfrm>
          <a:prstGeom prst="rect">
            <a:avLst/>
          </a:prstGeom>
          <a:noFill/>
        </p:spPr>
        <p:txBody>
          <a:bodyPr wrap="square" anchor="t" lIns="0" rIns="0" tIns="0" bIns="0">
            <a:spAutoFit/>
          </a:bodyPr>
          <a:lstStyle/>
          <a:p>
            <a:pPr algn="l"/>
            <a:r>
              <a:rPr sz="760" b="1" i="0">
                <a:solidFill>
                  <a:srgbClr val="047857"/>
                </a:solidFill>
                <a:latin typeface="Poppins"/>
              </a:rPr>
              <a:t>BACKUP SOLUTION</a:t>
            </a:r>
          </a:p>
        </p:txBody>
      </p:sp>
      <p:sp>
        <p:nvSpPr>
          <p:cNvPr id="18" name="TextBox 17"/>
          <p:cNvSpPr txBox="1"/>
          <p:nvPr/>
        </p:nvSpPr>
        <p:spPr>
          <a:xfrm>
            <a:off x="777240" y="4352544"/>
            <a:ext cx="2194560" cy="960120"/>
          </a:xfrm>
          <a:prstGeom prst="rect">
            <a:avLst/>
          </a:prstGeom>
          <a:noFill/>
        </p:spPr>
        <p:txBody>
          <a:bodyPr wrap="square" anchor="t" lIns="0" rIns="0" tIns="0" bIns="0">
            <a:spAutoFit/>
          </a:bodyPr>
          <a:lstStyle/>
          <a:p>
            <a:pPr algn="l"/>
            <a:r>
              <a:rPr sz="919" b="0" i="0">
                <a:solidFill>
                  <a:srgbClr val="334155"/>
                </a:solidFill>
                <a:latin typeface="DM Sans"/>
              </a:rPr>
              <a:t>3-point kinematic seating or re-machined spacers.</a:t>
            </a:r>
          </a:p>
        </p:txBody>
      </p:sp>
      <p:sp>
        <p:nvSpPr>
          <p:cNvPr id="19" name="Rounded Rectangle 18"/>
          <p:cNvSpPr/>
          <p:nvPr/>
        </p:nvSpPr>
        <p:spPr>
          <a:xfrm>
            <a:off x="3346704" y="960120"/>
            <a:ext cx="2670048" cy="4553712"/>
          </a:xfrm>
          <a:prstGeom prst="roundRect">
            <a:avLst>
              <a:gd name="adj" fmla="val 2739"/>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3529584" y="1115568"/>
            <a:ext cx="329184" cy="329184"/>
          </a:xfrm>
          <a:prstGeom prst="roundRect">
            <a:avLst>
              <a:gd name="adj" fmla="val 22222"/>
            </a:avLst>
          </a:prstGeom>
          <a:solidFill>
            <a:srgbClr val="FFFFFF"/>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529584" y="1115568"/>
            <a:ext cx="329184" cy="329184"/>
          </a:xfrm>
          <a:prstGeom prst="rect">
            <a:avLst/>
          </a:prstGeom>
          <a:noFill/>
        </p:spPr>
        <p:txBody>
          <a:bodyPr wrap="square" anchor="ctr" lIns="0" rIns="0" tIns="0" bIns="0">
            <a:spAutoFit/>
          </a:bodyPr>
          <a:lstStyle/>
          <a:p>
            <a:pPr algn="ctr"/>
            <a:r>
              <a:rPr sz="1200" b="1" i="0">
                <a:solidFill>
                  <a:srgbClr val="059669"/>
                </a:solidFill>
                <a:latin typeface="DM Sans"/>
              </a:rPr>
              <a:t>✓</a:t>
            </a:r>
          </a:p>
        </p:txBody>
      </p:sp>
      <p:sp>
        <p:nvSpPr>
          <p:cNvPr id="22" name="TextBox 21"/>
          <p:cNvSpPr txBox="1"/>
          <p:nvPr/>
        </p:nvSpPr>
        <p:spPr>
          <a:xfrm>
            <a:off x="3950208" y="1143000"/>
            <a:ext cx="2011680" cy="274320"/>
          </a:xfrm>
          <a:prstGeom prst="rect">
            <a:avLst/>
          </a:prstGeom>
          <a:noFill/>
        </p:spPr>
        <p:txBody>
          <a:bodyPr wrap="square" anchor="t" lIns="0" rIns="0" tIns="0" bIns="0">
            <a:spAutoFit/>
          </a:bodyPr>
          <a:lstStyle/>
          <a:p>
            <a:pPr algn="l"/>
            <a:r>
              <a:rPr sz="1050" b="1" i="0">
                <a:solidFill>
                  <a:srgbClr val="0F172A"/>
                </a:solidFill>
                <a:latin typeface="Poppins"/>
              </a:rPr>
              <a:t>ADC Timing &amp; Sync</a:t>
            </a:r>
          </a:p>
        </p:txBody>
      </p:sp>
      <p:sp>
        <p:nvSpPr>
          <p:cNvPr id="23" name="TextBox 22"/>
          <p:cNvSpPr txBox="1"/>
          <p:nvPr/>
        </p:nvSpPr>
        <p:spPr>
          <a:xfrm>
            <a:off x="3529584" y="1572768"/>
            <a:ext cx="2331720" cy="201168"/>
          </a:xfrm>
          <a:prstGeom prst="rect">
            <a:avLst/>
          </a:prstGeom>
          <a:noFill/>
        </p:spPr>
        <p:txBody>
          <a:bodyPr wrap="square" anchor="t" lIns="0" rIns="0" tIns="0" bIns="0">
            <a:spAutoFit/>
          </a:bodyPr>
          <a:lstStyle/>
          <a:p>
            <a:pPr algn="l"/>
            <a:r>
              <a:rPr sz="840" b="1" i="0">
                <a:solidFill>
                  <a:srgbClr val="047857"/>
                </a:solidFill>
                <a:latin typeface="DM Sans"/>
              </a:rPr>
              <a:t>Mitigation</a:t>
            </a:r>
          </a:p>
        </p:txBody>
      </p:sp>
      <p:sp>
        <p:nvSpPr>
          <p:cNvPr id="24" name="TextBox 23"/>
          <p:cNvSpPr txBox="1"/>
          <p:nvPr/>
        </p:nvSpPr>
        <p:spPr>
          <a:xfrm>
            <a:off x="3529584" y="1792224"/>
            <a:ext cx="2331720" cy="1463040"/>
          </a:xfrm>
          <a:prstGeom prst="rect">
            <a:avLst/>
          </a:prstGeom>
          <a:noFill/>
        </p:spPr>
        <p:txBody>
          <a:bodyPr wrap="square" anchor="t" lIns="0" rIns="0" tIns="0" bIns="0">
            <a:spAutoFit/>
          </a:bodyPr>
          <a:lstStyle/>
          <a:p>
            <a:pPr algn="l"/>
            <a:r>
              <a:rPr sz="960" b="0" i="0">
                <a:solidFill>
                  <a:srgbClr val="334155"/>
                </a:solidFill>
                <a:latin typeface="DM Sans"/>
              </a:rPr>
              <a:t>Shared PD_SCK starts conversions together; clocking happens in a critical section; declared skew ≤ 0.13 mm at 10 mm/s.</a:t>
            </a:r>
          </a:p>
        </p:txBody>
      </p:sp>
      <p:sp>
        <p:nvSpPr>
          <p:cNvPr id="25" name="TextBox 24"/>
          <p:cNvSpPr txBox="1"/>
          <p:nvPr/>
        </p:nvSpPr>
        <p:spPr>
          <a:xfrm>
            <a:off x="3529584" y="3154680"/>
            <a:ext cx="2331720" cy="201168"/>
          </a:xfrm>
          <a:prstGeom prst="rect">
            <a:avLst/>
          </a:prstGeom>
          <a:noFill/>
        </p:spPr>
        <p:txBody>
          <a:bodyPr wrap="square" anchor="t" lIns="0" rIns="0" tIns="0" bIns="0">
            <a:spAutoFit/>
          </a:bodyPr>
          <a:lstStyle/>
          <a:p>
            <a:pPr algn="l"/>
            <a:r>
              <a:rPr sz="840" b="1" i="0">
                <a:solidFill>
                  <a:srgbClr val="0369A1"/>
                </a:solidFill>
                <a:latin typeface="DM Sans"/>
              </a:rPr>
              <a:t>Verified by</a:t>
            </a:r>
          </a:p>
        </p:txBody>
      </p:sp>
      <p:sp>
        <p:nvSpPr>
          <p:cNvPr id="26" name="TextBox 25"/>
          <p:cNvSpPr txBox="1"/>
          <p:nvPr/>
        </p:nvSpPr>
        <p:spPr>
          <a:xfrm>
            <a:off x="3529584" y="3374136"/>
            <a:ext cx="2331720" cy="457200"/>
          </a:xfrm>
          <a:prstGeom prst="rect">
            <a:avLst/>
          </a:prstGeom>
          <a:noFill/>
        </p:spPr>
        <p:txBody>
          <a:bodyPr wrap="square" anchor="t" lIns="0" rIns="0" tIns="0" bIns="0">
            <a:spAutoFit/>
          </a:bodyPr>
          <a:lstStyle/>
          <a:p>
            <a:pPr algn="l"/>
            <a:r>
              <a:rPr sz="940" b="0" i="0">
                <a:solidFill>
                  <a:srgbClr val="0F172A"/>
                </a:solidFill>
                <a:latin typeface="DM Sans"/>
              </a:rPr>
              <a:t>V1 ≥ 60 Hz; V8 CoP noise &lt; 1 mm</a:t>
            </a:r>
          </a:p>
        </p:txBody>
      </p:sp>
      <p:sp>
        <p:nvSpPr>
          <p:cNvPr id="27" name="Rounded Rectangle 26"/>
          <p:cNvSpPr/>
          <p:nvPr/>
        </p:nvSpPr>
        <p:spPr>
          <a:xfrm>
            <a:off x="3483864" y="4069080"/>
            <a:ext cx="2395728" cy="1280160"/>
          </a:xfrm>
          <a:prstGeom prst="roundRect">
            <a:avLst>
              <a:gd name="adj" fmla="val 571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593592" y="4133087"/>
            <a:ext cx="2194560" cy="201168"/>
          </a:xfrm>
          <a:prstGeom prst="rect">
            <a:avLst/>
          </a:prstGeom>
          <a:noFill/>
        </p:spPr>
        <p:txBody>
          <a:bodyPr wrap="square" anchor="t" lIns="0" rIns="0" tIns="0" bIns="0">
            <a:spAutoFit/>
          </a:bodyPr>
          <a:lstStyle/>
          <a:p>
            <a:pPr algn="l"/>
            <a:r>
              <a:rPr sz="760" b="1" i="0">
                <a:solidFill>
                  <a:srgbClr val="047857"/>
                </a:solidFill>
                <a:latin typeface="Poppins"/>
              </a:rPr>
              <a:t>BACKUP SOLUTION</a:t>
            </a:r>
          </a:p>
        </p:txBody>
      </p:sp>
      <p:sp>
        <p:nvSpPr>
          <p:cNvPr id="29" name="TextBox 28"/>
          <p:cNvSpPr txBox="1"/>
          <p:nvPr/>
        </p:nvSpPr>
        <p:spPr>
          <a:xfrm>
            <a:off x="3593592" y="4352544"/>
            <a:ext cx="2194560" cy="960120"/>
          </a:xfrm>
          <a:prstGeom prst="rect">
            <a:avLst/>
          </a:prstGeom>
          <a:noFill/>
        </p:spPr>
        <p:txBody>
          <a:bodyPr wrap="square" anchor="t" lIns="0" rIns="0" tIns="0" bIns="0">
            <a:spAutoFit/>
          </a:bodyPr>
          <a:lstStyle/>
          <a:p>
            <a:pPr algn="l"/>
            <a:r>
              <a:rPr sz="919" b="0" i="0">
                <a:solidFill>
                  <a:srgbClr val="334155"/>
                </a:solidFill>
                <a:latin typeface="DM Sans"/>
              </a:rPr>
              <a:t>ADS131M04, a 4-channel simultaneous-sampling 24-bit ADC.</a:t>
            </a:r>
          </a:p>
        </p:txBody>
      </p:sp>
      <p:sp>
        <p:nvSpPr>
          <p:cNvPr id="30" name="Rounded Rectangle 29"/>
          <p:cNvSpPr/>
          <p:nvPr/>
        </p:nvSpPr>
        <p:spPr>
          <a:xfrm>
            <a:off x="6163056" y="960120"/>
            <a:ext cx="2670048" cy="4553712"/>
          </a:xfrm>
          <a:prstGeom prst="roundRect">
            <a:avLst>
              <a:gd name="adj" fmla="val 2739"/>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6345936" y="1115568"/>
            <a:ext cx="329184" cy="329184"/>
          </a:xfrm>
          <a:prstGeom prst="roundRect">
            <a:avLst>
              <a:gd name="adj" fmla="val 22222"/>
            </a:avLst>
          </a:prstGeom>
          <a:solidFill>
            <a:srgbClr val="FFFFFF"/>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345936" y="1115568"/>
            <a:ext cx="329184" cy="329184"/>
          </a:xfrm>
          <a:prstGeom prst="rect">
            <a:avLst/>
          </a:prstGeom>
          <a:noFill/>
        </p:spPr>
        <p:txBody>
          <a:bodyPr wrap="square" anchor="ctr" lIns="0" rIns="0" tIns="0" bIns="0">
            <a:spAutoFit/>
          </a:bodyPr>
          <a:lstStyle/>
          <a:p>
            <a:pPr algn="ctr"/>
            <a:r>
              <a:rPr sz="1200" b="1" i="0">
                <a:solidFill>
                  <a:srgbClr val="059669"/>
                </a:solidFill>
                <a:latin typeface="DM Sans"/>
              </a:rPr>
              <a:t>✓</a:t>
            </a:r>
          </a:p>
        </p:txBody>
      </p:sp>
      <p:sp>
        <p:nvSpPr>
          <p:cNvPr id="33" name="TextBox 32"/>
          <p:cNvSpPr txBox="1"/>
          <p:nvPr/>
        </p:nvSpPr>
        <p:spPr>
          <a:xfrm>
            <a:off x="6766560" y="1143000"/>
            <a:ext cx="2011680" cy="274320"/>
          </a:xfrm>
          <a:prstGeom prst="rect">
            <a:avLst/>
          </a:prstGeom>
          <a:noFill/>
        </p:spPr>
        <p:txBody>
          <a:bodyPr wrap="square" anchor="t" lIns="0" rIns="0" tIns="0" bIns="0">
            <a:spAutoFit/>
          </a:bodyPr>
          <a:lstStyle/>
          <a:p>
            <a:pPr algn="l"/>
            <a:r>
              <a:rPr sz="1050" b="1" i="0">
                <a:solidFill>
                  <a:srgbClr val="0F172A"/>
                </a:solidFill>
                <a:latin typeface="Poppins"/>
              </a:rPr>
              <a:t>Plate Compliance</a:t>
            </a:r>
          </a:p>
        </p:txBody>
      </p:sp>
      <p:sp>
        <p:nvSpPr>
          <p:cNvPr id="34" name="TextBox 33"/>
          <p:cNvSpPr txBox="1"/>
          <p:nvPr/>
        </p:nvSpPr>
        <p:spPr>
          <a:xfrm>
            <a:off x="6345936" y="1572768"/>
            <a:ext cx="2331720" cy="201168"/>
          </a:xfrm>
          <a:prstGeom prst="rect">
            <a:avLst/>
          </a:prstGeom>
          <a:noFill/>
        </p:spPr>
        <p:txBody>
          <a:bodyPr wrap="square" anchor="t" lIns="0" rIns="0" tIns="0" bIns="0">
            <a:spAutoFit/>
          </a:bodyPr>
          <a:lstStyle/>
          <a:p>
            <a:pPr algn="l"/>
            <a:r>
              <a:rPr sz="840" b="1" i="0">
                <a:solidFill>
                  <a:srgbClr val="047857"/>
                </a:solidFill>
                <a:latin typeface="DM Sans"/>
              </a:rPr>
              <a:t>Mitigation</a:t>
            </a:r>
          </a:p>
        </p:txBody>
      </p:sp>
      <p:sp>
        <p:nvSpPr>
          <p:cNvPr id="35" name="TextBox 34"/>
          <p:cNvSpPr txBox="1"/>
          <p:nvPr/>
        </p:nvSpPr>
        <p:spPr>
          <a:xfrm>
            <a:off x="6345936" y="1792224"/>
            <a:ext cx="2331720" cy="1463040"/>
          </a:xfrm>
          <a:prstGeom prst="rect">
            <a:avLst/>
          </a:prstGeom>
          <a:noFill/>
        </p:spPr>
        <p:txBody>
          <a:bodyPr wrap="square" anchor="t" lIns="0" rIns="0" tIns="0" bIns="0">
            <a:spAutoFit/>
          </a:bodyPr>
          <a:lstStyle/>
          <a:p>
            <a:pPr algn="l"/>
            <a:r>
              <a:rPr sz="960" b="0" i="0">
                <a:solidFill>
                  <a:srgbClr val="334155"/>
                </a:solidFill>
                <a:latin typeface="DM Sans"/>
              </a:rPr>
              <a:t>Radius the spacer edges, cap the enclosure at 20 mm and recheck sag on the bench at 150 kg.</a:t>
            </a:r>
          </a:p>
        </p:txBody>
      </p:sp>
      <p:sp>
        <p:nvSpPr>
          <p:cNvPr id="36" name="TextBox 35"/>
          <p:cNvSpPr txBox="1"/>
          <p:nvPr/>
        </p:nvSpPr>
        <p:spPr>
          <a:xfrm>
            <a:off x="6345936" y="3154680"/>
            <a:ext cx="2331720" cy="201168"/>
          </a:xfrm>
          <a:prstGeom prst="rect">
            <a:avLst/>
          </a:prstGeom>
          <a:noFill/>
        </p:spPr>
        <p:txBody>
          <a:bodyPr wrap="square" anchor="t" lIns="0" rIns="0" tIns="0" bIns="0">
            <a:spAutoFit/>
          </a:bodyPr>
          <a:lstStyle/>
          <a:p>
            <a:pPr algn="l"/>
            <a:r>
              <a:rPr sz="840" b="1" i="0">
                <a:solidFill>
                  <a:srgbClr val="0369A1"/>
                </a:solidFill>
                <a:latin typeface="DM Sans"/>
              </a:rPr>
              <a:t>Verified by</a:t>
            </a:r>
          </a:p>
        </p:txBody>
      </p:sp>
      <p:sp>
        <p:nvSpPr>
          <p:cNvPr id="37" name="TextBox 36"/>
          <p:cNvSpPr txBox="1"/>
          <p:nvPr/>
        </p:nvSpPr>
        <p:spPr>
          <a:xfrm>
            <a:off x="6345936" y="3374136"/>
            <a:ext cx="2331720" cy="457200"/>
          </a:xfrm>
          <a:prstGeom prst="rect">
            <a:avLst/>
          </a:prstGeom>
          <a:noFill/>
        </p:spPr>
        <p:txBody>
          <a:bodyPr wrap="square" anchor="t" lIns="0" rIns="0" tIns="0" bIns="0">
            <a:spAutoFit/>
          </a:bodyPr>
          <a:lstStyle/>
          <a:p>
            <a:pPr algn="l"/>
            <a:r>
              <a:rPr sz="940" b="0" i="0">
                <a:solidFill>
                  <a:srgbClr val="0F172A"/>
                </a:solidFill>
                <a:latin typeface="DM Sans"/>
              </a:rPr>
              <a:t>Bench sag at 150 kg; V6 residual ≤ 3 mm</a:t>
            </a:r>
          </a:p>
        </p:txBody>
      </p:sp>
      <p:sp>
        <p:nvSpPr>
          <p:cNvPr id="38" name="Rounded Rectangle 37"/>
          <p:cNvSpPr/>
          <p:nvPr/>
        </p:nvSpPr>
        <p:spPr>
          <a:xfrm>
            <a:off x="6300216" y="4069080"/>
            <a:ext cx="2395728" cy="1280160"/>
          </a:xfrm>
          <a:prstGeom prst="roundRect">
            <a:avLst>
              <a:gd name="adj" fmla="val 571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9944" y="4133087"/>
            <a:ext cx="2194560" cy="201168"/>
          </a:xfrm>
          <a:prstGeom prst="rect">
            <a:avLst/>
          </a:prstGeom>
          <a:noFill/>
        </p:spPr>
        <p:txBody>
          <a:bodyPr wrap="square" anchor="t" lIns="0" rIns="0" tIns="0" bIns="0">
            <a:spAutoFit/>
          </a:bodyPr>
          <a:lstStyle/>
          <a:p>
            <a:pPr algn="l"/>
            <a:r>
              <a:rPr sz="760" b="1" i="0">
                <a:solidFill>
                  <a:srgbClr val="047857"/>
                </a:solidFill>
                <a:latin typeface="Poppins"/>
              </a:rPr>
              <a:t>BACKUP SOLUTION</a:t>
            </a:r>
          </a:p>
        </p:txBody>
      </p:sp>
      <p:sp>
        <p:nvSpPr>
          <p:cNvPr id="40" name="TextBox 39"/>
          <p:cNvSpPr txBox="1"/>
          <p:nvPr/>
        </p:nvSpPr>
        <p:spPr>
          <a:xfrm>
            <a:off x="6409944" y="4352544"/>
            <a:ext cx="2194560" cy="960120"/>
          </a:xfrm>
          <a:prstGeom prst="rect">
            <a:avLst/>
          </a:prstGeom>
          <a:noFill/>
        </p:spPr>
        <p:txBody>
          <a:bodyPr wrap="square" anchor="t" lIns="0" rIns="0" tIns="0" bIns="0">
            <a:spAutoFit/>
          </a:bodyPr>
          <a:lstStyle/>
          <a:p>
            <a:pPr algn="l"/>
            <a:r>
              <a:rPr sz="919" b="0" i="0">
                <a:solidFill>
                  <a:srgbClr val="334155"/>
                </a:solidFill>
                <a:latin typeface="DM Sans"/>
              </a:rPr>
              <a:t>10 mm plate (0.61 mm sag, 120 MPa peak) or bonded stiffening ribs.</a:t>
            </a:r>
          </a:p>
        </p:txBody>
      </p:sp>
      <p:sp>
        <p:nvSpPr>
          <p:cNvPr id="41" name="Rounded Rectangle 40"/>
          <p:cNvSpPr/>
          <p:nvPr/>
        </p:nvSpPr>
        <p:spPr>
          <a:xfrm>
            <a:off x="8979408" y="960120"/>
            <a:ext cx="2670048" cy="4553712"/>
          </a:xfrm>
          <a:prstGeom prst="roundRect">
            <a:avLst>
              <a:gd name="adj" fmla="val 2739"/>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a:off x="9162288" y="1115568"/>
            <a:ext cx="329184" cy="329184"/>
          </a:xfrm>
          <a:prstGeom prst="roundRect">
            <a:avLst>
              <a:gd name="adj" fmla="val 22222"/>
            </a:avLst>
          </a:prstGeom>
          <a:solidFill>
            <a:srgbClr val="FFFFFF"/>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62288" y="1115568"/>
            <a:ext cx="329184" cy="329184"/>
          </a:xfrm>
          <a:prstGeom prst="rect">
            <a:avLst/>
          </a:prstGeom>
          <a:noFill/>
        </p:spPr>
        <p:txBody>
          <a:bodyPr wrap="square" anchor="ctr" lIns="0" rIns="0" tIns="0" bIns="0">
            <a:spAutoFit/>
          </a:bodyPr>
          <a:lstStyle/>
          <a:p>
            <a:pPr algn="ctr"/>
            <a:r>
              <a:rPr sz="1200" b="1" i="0">
                <a:solidFill>
                  <a:srgbClr val="059669"/>
                </a:solidFill>
                <a:latin typeface="DM Sans"/>
              </a:rPr>
              <a:t>✓</a:t>
            </a:r>
          </a:p>
        </p:txBody>
      </p:sp>
      <p:sp>
        <p:nvSpPr>
          <p:cNvPr id="44" name="TextBox 43"/>
          <p:cNvSpPr txBox="1"/>
          <p:nvPr/>
        </p:nvSpPr>
        <p:spPr>
          <a:xfrm>
            <a:off x="9582912" y="1143000"/>
            <a:ext cx="2011680" cy="274320"/>
          </a:xfrm>
          <a:prstGeom prst="rect">
            <a:avLst/>
          </a:prstGeom>
          <a:noFill/>
        </p:spPr>
        <p:txBody>
          <a:bodyPr wrap="square" anchor="t" lIns="0" rIns="0" tIns="0" bIns="0">
            <a:spAutoFit/>
          </a:bodyPr>
          <a:lstStyle/>
          <a:p>
            <a:pPr algn="l"/>
            <a:r>
              <a:rPr sz="1050" b="1" i="0">
                <a:solidFill>
                  <a:srgbClr val="0F172A"/>
                </a:solidFill>
                <a:latin typeface="Poppins"/>
              </a:rPr>
              <a:t>Cross-Talk &amp; Drift</a:t>
            </a:r>
          </a:p>
        </p:txBody>
      </p:sp>
      <p:sp>
        <p:nvSpPr>
          <p:cNvPr id="45" name="TextBox 44"/>
          <p:cNvSpPr txBox="1"/>
          <p:nvPr/>
        </p:nvSpPr>
        <p:spPr>
          <a:xfrm>
            <a:off x="9162288" y="1572768"/>
            <a:ext cx="2331720" cy="201168"/>
          </a:xfrm>
          <a:prstGeom prst="rect">
            <a:avLst/>
          </a:prstGeom>
          <a:noFill/>
        </p:spPr>
        <p:txBody>
          <a:bodyPr wrap="square" anchor="t" lIns="0" rIns="0" tIns="0" bIns="0">
            <a:spAutoFit/>
          </a:bodyPr>
          <a:lstStyle/>
          <a:p>
            <a:pPr algn="l"/>
            <a:r>
              <a:rPr sz="840" b="1" i="0">
                <a:solidFill>
                  <a:srgbClr val="047857"/>
                </a:solidFill>
                <a:latin typeface="DM Sans"/>
              </a:rPr>
              <a:t>Mitigation</a:t>
            </a:r>
          </a:p>
        </p:txBody>
      </p:sp>
      <p:sp>
        <p:nvSpPr>
          <p:cNvPr id="46" name="TextBox 45"/>
          <p:cNvSpPr txBox="1"/>
          <p:nvPr/>
        </p:nvSpPr>
        <p:spPr>
          <a:xfrm>
            <a:off x="9162288" y="1792224"/>
            <a:ext cx="2331720" cy="1463040"/>
          </a:xfrm>
          <a:prstGeom prst="rect">
            <a:avLst/>
          </a:prstGeom>
          <a:noFill/>
        </p:spPr>
        <p:txBody>
          <a:bodyPr wrap="square" anchor="t" lIns="0" rIns="0" tIns="0" bIns="0">
            <a:spAutoFit/>
          </a:bodyPr>
          <a:lstStyle/>
          <a:p>
            <a:pPr algn="l"/>
            <a:r>
              <a:rPr sz="960" b="0" i="0">
                <a:solidFill>
                  <a:srgbClr val="334155"/>
                </a:solidFill>
                <a:latin typeface="DM Sans"/>
              </a:rPr>
              <a:t>V9 single-corner loading maps the coupling into a 4 × 4 correction matrix; 60-min warm-up with V5 drift &lt; 0.5%.</a:t>
            </a:r>
          </a:p>
        </p:txBody>
      </p:sp>
      <p:sp>
        <p:nvSpPr>
          <p:cNvPr id="47" name="TextBox 46"/>
          <p:cNvSpPr txBox="1"/>
          <p:nvPr/>
        </p:nvSpPr>
        <p:spPr>
          <a:xfrm>
            <a:off x="9162288" y="3154680"/>
            <a:ext cx="2331720" cy="201168"/>
          </a:xfrm>
          <a:prstGeom prst="rect">
            <a:avLst/>
          </a:prstGeom>
          <a:noFill/>
        </p:spPr>
        <p:txBody>
          <a:bodyPr wrap="square" anchor="t" lIns="0" rIns="0" tIns="0" bIns="0">
            <a:spAutoFit/>
          </a:bodyPr>
          <a:lstStyle/>
          <a:p>
            <a:pPr algn="l"/>
            <a:r>
              <a:rPr sz="840" b="1" i="0">
                <a:solidFill>
                  <a:srgbClr val="0369A1"/>
                </a:solidFill>
                <a:latin typeface="DM Sans"/>
              </a:rPr>
              <a:t>Verified by</a:t>
            </a:r>
          </a:p>
        </p:txBody>
      </p:sp>
      <p:sp>
        <p:nvSpPr>
          <p:cNvPr id="48" name="TextBox 47"/>
          <p:cNvSpPr txBox="1"/>
          <p:nvPr/>
        </p:nvSpPr>
        <p:spPr>
          <a:xfrm>
            <a:off x="9162288" y="3374136"/>
            <a:ext cx="2331720" cy="457200"/>
          </a:xfrm>
          <a:prstGeom prst="rect">
            <a:avLst/>
          </a:prstGeom>
          <a:noFill/>
        </p:spPr>
        <p:txBody>
          <a:bodyPr wrap="square" anchor="t" lIns="0" rIns="0" tIns="0" bIns="0">
            <a:spAutoFit/>
          </a:bodyPr>
          <a:lstStyle/>
          <a:p>
            <a:pPr algn="l"/>
            <a:r>
              <a:rPr sz="940" b="0" i="0">
                <a:solidFill>
                  <a:srgbClr val="0F172A"/>
                </a:solidFill>
                <a:latin typeface="DM Sans"/>
              </a:rPr>
              <a:t>V9 coupling map; V5 drift &lt; 0.5%</a:t>
            </a:r>
          </a:p>
        </p:txBody>
      </p:sp>
      <p:sp>
        <p:nvSpPr>
          <p:cNvPr id="49" name="Rounded Rectangle 48"/>
          <p:cNvSpPr/>
          <p:nvPr/>
        </p:nvSpPr>
        <p:spPr>
          <a:xfrm>
            <a:off x="9116568" y="4069080"/>
            <a:ext cx="2395728" cy="1280160"/>
          </a:xfrm>
          <a:prstGeom prst="roundRect">
            <a:avLst>
              <a:gd name="adj" fmla="val 571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9226296" y="4133087"/>
            <a:ext cx="2194560" cy="201168"/>
          </a:xfrm>
          <a:prstGeom prst="rect">
            <a:avLst/>
          </a:prstGeom>
          <a:noFill/>
        </p:spPr>
        <p:txBody>
          <a:bodyPr wrap="square" anchor="t" lIns="0" rIns="0" tIns="0" bIns="0">
            <a:spAutoFit/>
          </a:bodyPr>
          <a:lstStyle/>
          <a:p>
            <a:pPr algn="l"/>
            <a:r>
              <a:rPr sz="760" b="1" i="0">
                <a:solidFill>
                  <a:srgbClr val="047857"/>
                </a:solidFill>
                <a:latin typeface="Poppins"/>
              </a:rPr>
              <a:t>BACKUP SOLUTION</a:t>
            </a:r>
          </a:p>
        </p:txBody>
      </p:sp>
      <p:sp>
        <p:nvSpPr>
          <p:cNvPr id="51" name="TextBox 50"/>
          <p:cNvSpPr txBox="1"/>
          <p:nvPr/>
        </p:nvSpPr>
        <p:spPr>
          <a:xfrm>
            <a:off x="9226296" y="4352544"/>
            <a:ext cx="2194560" cy="960120"/>
          </a:xfrm>
          <a:prstGeom prst="rect">
            <a:avLst/>
          </a:prstGeom>
          <a:noFill/>
        </p:spPr>
        <p:txBody>
          <a:bodyPr wrap="square" anchor="t" lIns="0" rIns="0" tIns="0" bIns="0">
            <a:spAutoFit/>
          </a:bodyPr>
          <a:lstStyle/>
          <a:p>
            <a:pPr algn="l"/>
            <a:r>
              <a:rPr sz="919" b="0" i="0">
                <a:solidFill>
                  <a:srgbClr val="334155"/>
                </a:solidFill>
                <a:latin typeface="DM Sans"/>
              </a:rPr>
              <a:t>log temperature with each trial and re-zero between trials.</a:t>
            </a:r>
          </a:p>
        </p:txBody>
      </p:sp>
      <p:pic>
        <p:nvPicPr>
          <p:cNvPr id="52" name="Picture 51" descr="image.png"/>
          <p:cNvPicPr>
            <a:picLocks noChangeAspect="1"/>
          </p:cNvPicPr>
          <p:nvPr/>
        </p:nvPicPr>
        <p:blipFill>
          <a:blip r:embed="rId5"/>
          <a:stretch>
            <a:fillRect/>
          </a:stretch>
        </p:blipFill>
        <p:spPr>
          <a:xfrm>
            <a:off x="530352" y="5669280"/>
            <a:ext cx="11128248" cy="365760"/>
          </a:xfrm>
          <a:prstGeom prst="rect">
            <a:avLst/>
          </a:prstGeom>
        </p:spPr>
      </p:pic>
      <p:sp>
        <p:nvSpPr>
          <p:cNvPr id="53" name="TextBox 52"/>
          <p:cNvSpPr txBox="1"/>
          <p:nvPr/>
        </p:nvSpPr>
        <p:spPr>
          <a:xfrm>
            <a:off x="694944" y="5687568"/>
            <a:ext cx="10835640" cy="329184"/>
          </a:xfrm>
          <a:prstGeom prst="rect">
            <a:avLst/>
          </a:prstGeom>
          <a:noFill/>
        </p:spPr>
        <p:txBody>
          <a:bodyPr wrap="square" anchor="ctr" lIns="0" rIns="0" tIns="0" bIns="0">
            <a:spAutoFit/>
          </a:bodyPr>
          <a:lstStyle/>
          <a:p>
            <a:pPr algn="l"/>
            <a:r>
              <a:rPr sz="940" b="1" i="0">
                <a:solidFill>
                  <a:srgbClr val="0F172A"/>
                </a:solidFill>
                <a:latin typeface="DM Sans"/>
              </a:rPr>
              <a:t>Verification: </a:t>
            </a:r>
            <a:r>
              <a:rPr sz="940" b="0" i="0">
                <a:solidFill>
                  <a:srgbClr val="475569"/>
                </a:solidFill>
                <a:latin typeface="DM Sans"/>
              </a:rPr>
              <a:t>every mitigation maps to a V1–V9 acceptance test, so a fix counts only when the corresponding bench criterion passes.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rcRect l="14673" r="15820" t="33074" b="44466"/>
          <a:stretch>
            <a:fillRect/>
          </a:stretch>
        </p:blipFill>
        <p:spPr>
          <a:xfrm>
            <a:off x="0" y="6281013"/>
            <a:ext cx="1785823" cy="576986"/>
          </a:xfrm>
          <a:prstGeom prst="rect">
            <a:avLst/>
          </a:prstGeom>
        </p:spPr>
      </p:pic>
      <p:pic>
        <p:nvPicPr>
          <p:cNvPr id="4" name="Picture 3" descr="image.png"/>
          <p:cNvPicPr>
            <a:picLocks noChangeAspect="1"/>
          </p:cNvPicPr>
          <p:nvPr/>
        </p:nvPicPr>
        <p:blipFill>
          <a:blip r:embed="rId4"/>
          <a:stretch>
            <a:fillRect/>
          </a:stretch>
        </p:blipFill>
        <p:spPr>
          <a:xfrm>
            <a:off x="11095329" y="6281013"/>
            <a:ext cx="1096365" cy="576986"/>
          </a:xfrm>
          <a:prstGeom prst="rect">
            <a:avLst/>
          </a:prstGeom>
        </p:spPr>
      </p:pic>
      <p:sp>
        <p:nvSpPr>
          <p:cNvPr id="5" name="TextBox 4"/>
          <p:cNvSpPr txBox="1"/>
          <p:nvPr/>
        </p:nvSpPr>
        <p:spPr>
          <a:xfrm>
            <a:off x="530352" y="402336"/>
            <a:ext cx="8595360" cy="365760"/>
          </a:xfrm>
          <a:prstGeom prst="rect">
            <a:avLst/>
          </a:prstGeom>
          <a:noFill/>
        </p:spPr>
        <p:txBody>
          <a:bodyPr wrap="square" anchor="t" lIns="0" rIns="0" tIns="0" bIns="0">
            <a:spAutoFit/>
          </a:bodyPr>
          <a:lstStyle/>
          <a:p>
            <a:pPr algn="l"/>
            <a:r>
              <a:rPr sz="2025" b="1" i="0">
                <a:solidFill>
                  <a:srgbClr val="0F172A"/>
                </a:solidFill>
                <a:latin typeface="Poppins"/>
              </a:rPr>
              <a:t>Technical Challenges: Observations &amp; Standards</a:t>
            </a:r>
          </a:p>
        </p:txBody>
      </p:sp>
      <p:sp>
        <p:nvSpPr>
          <p:cNvPr id="6" name="Rounded Rectangle 5"/>
          <p:cNvSpPr/>
          <p:nvPr/>
        </p:nvSpPr>
        <p:spPr>
          <a:xfrm>
            <a:off x="10378440" y="484632"/>
            <a:ext cx="1280160" cy="210312"/>
          </a:xfrm>
          <a:prstGeom prst="roundRect">
            <a:avLst>
              <a:gd name="adj" fmla="val 50000"/>
            </a:avLst>
          </a:prstGeom>
          <a:solidFill>
            <a:srgbClr val="DCFCE7"/>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378440" y="484632"/>
            <a:ext cx="1280160" cy="210312"/>
          </a:xfrm>
          <a:prstGeom prst="rect">
            <a:avLst/>
          </a:prstGeom>
          <a:noFill/>
        </p:spPr>
        <p:txBody>
          <a:bodyPr wrap="square" anchor="ctr" lIns="0" rIns="0" tIns="0" bIns="0">
            <a:spAutoFit/>
          </a:bodyPr>
          <a:lstStyle/>
          <a:p>
            <a:pPr algn="ctr"/>
            <a:r>
              <a:rPr sz="750" b="1" i="0">
                <a:solidFill>
                  <a:srgbClr val="047857"/>
                </a:solidFill>
                <a:latin typeface="Poppins"/>
              </a:rPr>
              <a:t>CHALLENGES</a:t>
            </a:r>
          </a:p>
        </p:txBody>
      </p:sp>
      <p:sp>
        <p:nvSpPr>
          <p:cNvPr id="8" name="Rounded Rectangle 7"/>
          <p:cNvSpPr/>
          <p:nvPr/>
        </p:nvSpPr>
        <p:spPr>
          <a:xfrm>
            <a:off x="530352" y="960120"/>
            <a:ext cx="3584448" cy="2788920"/>
          </a:xfrm>
          <a:prstGeom prst="roundRect">
            <a:avLst>
              <a:gd name="adj" fmla="val 262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713232" y="1133856"/>
            <a:ext cx="137160" cy="137160"/>
          </a:xfrm>
          <a:prstGeom prst="roundRect">
            <a:avLst>
              <a:gd name="adj" fmla="val 20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32688" y="1078992"/>
            <a:ext cx="3072384" cy="237744"/>
          </a:xfrm>
          <a:prstGeom prst="rect">
            <a:avLst/>
          </a:prstGeom>
          <a:noFill/>
        </p:spPr>
        <p:txBody>
          <a:bodyPr wrap="square" anchor="t" lIns="0" rIns="0" tIns="0" bIns="0">
            <a:spAutoFit/>
          </a:bodyPr>
          <a:lstStyle/>
          <a:p>
            <a:pPr algn="l"/>
            <a:r>
              <a:rPr sz="1050" b="1" i="0">
                <a:solidFill>
                  <a:srgbClr val="0F172A"/>
                </a:solidFill>
                <a:latin typeface="DM Sans"/>
              </a:rPr>
              <a:t>Bottleneck: 10 Hz Stock HX711</a:t>
            </a:r>
          </a:p>
        </p:txBody>
      </p:sp>
      <p:sp>
        <p:nvSpPr>
          <p:cNvPr id="11" name="TextBox 10"/>
          <p:cNvSpPr txBox="1"/>
          <p:nvPr/>
        </p:nvSpPr>
        <p:spPr>
          <a:xfrm>
            <a:off x="713232" y="1417320"/>
            <a:ext cx="3246120" cy="2286000"/>
          </a:xfrm>
          <a:prstGeom prst="rect">
            <a:avLst/>
          </a:prstGeom>
          <a:noFill/>
        </p:spPr>
        <p:txBody>
          <a:bodyPr wrap="square" anchor="t" lIns="0" rIns="0" tIns="0" bIns="0">
            <a:spAutoFit/>
          </a:bodyPr>
          <a:lstStyle/>
          <a:p>
            <a:pPr marL="146304" indent="-146304">
              <a:lnSpc>
                <a:spcPct val="108000"/>
              </a:lnSpc>
              <a:spcAft>
                <a:spcPts val="600"/>
              </a:spcAft>
              <a:buClr>
                <a:srgbClr val="B91C1C"/>
              </a:buClr>
              <a:buSzPct val="100000"/>
              <a:buFont typeface="Arial"/>
              <a:buChar char="▪"/>
            </a:pPr>
            <a:r>
              <a:rPr sz="919" b="1" i="0">
                <a:solidFill>
                  <a:srgbClr val="0F172A"/>
                </a:solidFill>
                <a:latin typeface="DM Sans"/>
              </a:rPr>
              <a:t>Observed Risk: </a:t>
            </a:r>
            <a:r>
              <a:rPr sz="919" b="0" i="0">
                <a:solidFill>
                  <a:srgbClr val="334155"/>
                </a:solidFill>
                <a:latin typeface="DM Sans"/>
              </a:rPr>
              <a:t>the green HX711 boards ground RATE (pin 15) with a PCB trace, locking them at 10 SPS. At 10 Hz the sway path is under-sampled and MVELO reads low, so a patient looks falsely stable.</a:t>
            </a:r>
          </a:p>
          <a:p>
            <a:pPr marL="146304" indent="-146304">
              <a:lnSpc>
                <a:spcPct val="108000"/>
              </a:lnSpc>
              <a:spcAft>
                <a:spcPts val="600"/>
              </a:spcAft>
              <a:buClr>
                <a:srgbClr val="B91C1C"/>
              </a:buClr>
              <a:buSzPct val="100000"/>
              <a:buFont typeface="Arial"/>
              <a:buChar char="▪"/>
            </a:pPr>
            <a:r>
              <a:rPr sz="919" b="1" i="0">
                <a:solidFill>
                  <a:srgbClr val="0F172A"/>
                </a:solidFill>
                <a:latin typeface="DM Sans"/>
              </a:rPr>
              <a:t>Mitigation: </a:t>
            </a:r>
            <a:r>
              <a:rPr sz="919" b="0" i="0">
                <a:solidFill>
                  <a:srgbClr val="334155"/>
                </a:solidFill>
                <a:latin typeface="DM Sans"/>
              </a:rPr>
              <a:t>cut the trace, tie RATE to DVDD (pin 16, not VBG pin 6), and block trials in firmware if the measured rate is below 60 Hz.</a:t>
            </a:r>
          </a:p>
        </p:txBody>
      </p:sp>
      <p:sp>
        <p:nvSpPr>
          <p:cNvPr id="12" name="Rounded Rectangle 11"/>
          <p:cNvSpPr/>
          <p:nvPr/>
        </p:nvSpPr>
        <p:spPr>
          <a:xfrm>
            <a:off x="4302252" y="960120"/>
            <a:ext cx="3584448" cy="2788920"/>
          </a:xfrm>
          <a:prstGeom prst="roundRect">
            <a:avLst>
              <a:gd name="adj" fmla="val 262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4485132" y="1133856"/>
            <a:ext cx="137160" cy="137160"/>
          </a:xfrm>
          <a:prstGeom prst="roundRect">
            <a:avLst>
              <a:gd name="adj" fmla="val 20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04588" y="1078992"/>
            <a:ext cx="3072384" cy="237744"/>
          </a:xfrm>
          <a:prstGeom prst="rect">
            <a:avLst/>
          </a:prstGeom>
          <a:noFill/>
        </p:spPr>
        <p:txBody>
          <a:bodyPr wrap="square" anchor="t" lIns="0" rIns="0" tIns="0" bIns="0">
            <a:spAutoFit/>
          </a:bodyPr>
          <a:lstStyle/>
          <a:p>
            <a:pPr algn="l"/>
            <a:r>
              <a:rPr sz="1050" b="1" i="0">
                <a:solidFill>
                  <a:srgbClr val="0F172A"/>
                </a:solidFill>
                <a:latin typeface="DM Sans"/>
              </a:rPr>
              <a:t>Bottleneck: Plate Sag &amp; Clearance</a:t>
            </a:r>
          </a:p>
        </p:txBody>
      </p:sp>
      <p:sp>
        <p:nvSpPr>
          <p:cNvPr id="15" name="TextBox 14"/>
          <p:cNvSpPr txBox="1"/>
          <p:nvPr/>
        </p:nvSpPr>
        <p:spPr>
          <a:xfrm>
            <a:off x="4485132" y="1417320"/>
            <a:ext cx="3246120" cy="2286000"/>
          </a:xfrm>
          <a:prstGeom prst="rect">
            <a:avLst/>
          </a:prstGeom>
          <a:noFill/>
        </p:spPr>
        <p:txBody>
          <a:bodyPr wrap="square" anchor="t" lIns="0" rIns="0" tIns="0" bIns="0">
            <a:spAutoFit/>
          </a:bodyPr>
          <a:lstStyle/>
          <a:p>
            <a:pPr marL="146304" indent="-146304">
              <a:lnSpc>
                <a:spcPct val="108000"/>
              </a:lnSpc>
              <a:spcAft>
                <a:spcPts val="600"/>
              </a:spcAft>
              <a:buClr>
                <a:srgbClr val="B91C1C"/>
              </a:buClr>
              <a:buSzPct val="100000"/>
              <a:buFont typeface="Arial"/>
              <a:buChar char="▪"/>
            </a:pPr>
            <a:r>
              <a:rPr sz="919" b="1" i="0">
                <a:solidFill>
                  <a:srgbClr val="0F172A"/>
                </a:solidFill>
                <a:latin typeface="DM Sans"/>
              </a:rPr>
              <a:t>Observed Risk: </a:t>
            </a:r>
            <a:r>
              <a:rPr sz="919" b="0" i="0">
                <a:solidFill>
                  <a:srgbClr val="334155"/>
                </a:solidFill>
                <a:latin typeface="DM Sans"/>
              </a:rPr>
              <a:t>CalculiX shows 2.56 mm centre sag on the 6 mm plate under a 2× step-on load, leaving ~1.4 mm above a 24 mm enclosure, plus a 276 MPa singular peak at the sharp spacer edge.</a:t>
            </a:r>
          </a:p>
          <a:p>
            <a:pPr marL="146304" indent="-146304">
              <a:lnSpc>
                <a:spcPct val="108000"/>
              </a:lnSpc>
              <a:spcAft>
                <a:spcPts val="600"/>
              </a:spcAft>
              <a:buClr>
                <a:srgbClr val="B91C1C"/>
              </a:buClr>
              <a:buSzPct val="100000"/>
              <a:buFont typeface="Arial"/>
              <a:buChar char="▪"/>
            </a:pPr>
            <a:r>
              <a:rPr sz="919" b="1" i="0">
                <a:solidFill>
                  <a:srgbClr val="0F172A"/>
                </a:solidFill>
                <a:latin typeface="DM Sans"/>
              </a:rPr>
              <a:t>Mitigation: </a:t>
            </a:r>
            <a:r>
              <a:rPr sz="919" b="0" i="0">
                <a:solidFill>
                  <a:srgbClr val="334155"/>
                </a:solidFill>
                <a:latin typeface="DM Sans"/>
              </a:rPr>
              <a:t>cap the enclosure at 20 mm (≥ 5 mm clearance), radius the spacer edges, and keep the 10 mm plate as the upgrade path.</a:t>
            </a:r>
          </a:p>
        </p:txBody>
      </p:sp>
      <p:sp>
        <p:nvSpPr>
          <p:cNvPr id="16" name="Rounded Rectangle 15"/>
          <p:cNvSpPr/>
          <p:nvPr/>
        </p:nvSpPr>
        <p:spPr>
          <a:xfrm>
            <a:off x="8074152" y="960120"/>
            <a:ext cx="3584448" cy="2788920"/>
          </a:xfrm>
          <a:prstGeom prst="roundRect">
            <a:avLst>
              <a:gd name="adj" fmla="val 2622"/>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257031" y="1133856"/>
            <a:ext cx="137160" cy="13716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76488" y="1078992"/>
            <a:ext cx="3072384" cy="237744"/>
          </a:xfrm>
          <a:prstGeom prst="rect">
            <a:avLst/>
          </a:prstGeom>
          <a:noFill/>
        </p:spPr>
        <p:txBody>
          <a:bodyPr wrap="square" anchor="t" lIns="0" rIns="0" tIns="0" bIns="0">
            <a:spAutoFit/>
          </a:bodyPr>
          <a:lstStyle/>
          <a:p>
            <a:pPr algn="l"/>
            <a:r>
              <a:rPr sz="1050" b="1" i="0">
                <a:solidFill>
                  <a:srgbClr val="0F172A"/>
                </a:solidFill>
                <a:latin typeface="DM Sans"/>
              </a:rPr>
              <a:t>Standards &amp; Enclosure Specs</a:t>
            </a:r>
          </a:p>
        </p:txBody>
      </p:sp>
      <p:sp>
        <p:nvSpPr>
          <p:cNvPr id="19" name="TextBox 18"/>
          <p:cNvSpPr txBox="1"/>
          <p:nvPr/>
        </p:nvSpPr>
        <p:spPr>
          <a:xfrm>
            <a:off x="8257031" y="1417320"/>
            <a:ext cx="3246120" cy="2286000"/>
          </a:xfrm>
          <a:prstGeom prst="rect">
            <a:avLst/>
          </a:prstGeom>
          <a:noFill/>
        </p:spPr>
        <p:txBody>
          <a:bodyPr wrap="square" anchor="t" lIns="0" rIns="0" tIns="0" bIns="0">
            <a:spAutoFit/>
          </a:bodyPr>
          <a:lstStyle/>
          <a:p>
            <a:pPr marL="146304" indent="-146304">
              <a:lnSpc>
                <a:spcPct val="108000"/>
              </a:lnSpc>
              <a:spcAft>
                <a:spcPts val="600"/>
              </a:spcAft>
              <a:buClr>
                <a:srgbClr val="059669"/>
              </a:buClr>
              <a:buSzPct val="100000"/>
              <a:buFont typeface="Arial"/>
              <a:buChar char="▪"/>
            </a:pPr>
            <a:r>
              <a:rPr sz="919" b="1" i="0">
                <a:solidFill>
                  <a:srgbClr val="0F172A"/>
                </a:solidFill>
                <a:latin typeface="DM Sans"/>
              </a:rPr>
              <a:t>IEC 60529 IP65: </a:t>
            </a:r>
            <a:r>
              <a:rPr sz="919" b="0" i="0">
                <a:solidFill>
                  <a:srgbClr val="334155"/>
                </a:solidFill>
                <a:latin typeface="DM Sans"/>
              </a:rPr>
              <a:t>sealed Phaeton 611E load cells; enclosure entries through cable glands.</a:t>
            </a:r>
          </a:p>
          <a:p>
            <a:pPr marL="146304" indent="-146304">
              <a:lnSpc>
                <a:spcPct val="108000"/>
              </a:lnSpc>
              <a:spcAft>
                <a:spcPts val="600"/>
              </a:spcAft>
              <a:buClr>
                <a:srgbClr val="059669"/>
              </a:buClr>
              <a:buSzPct val="100000"/>
              <a:buFont typeface="Arial"/>
              <a:buChar char="▪"/>
            </a:pPr>
            <a:r>
              <a:rPr sz="919" b="1" i="0">
                <a:solidFill>
                  <a:srgbClr val="0F172A"/>
                </a:solidFill>
                <a:latin typeface="DM Sans"/>
              </a:rPr>
              <a:t>IEC 62133-2: </a:t>
            </a:r>
            <a:r>
              <a:rPr sz="919" b="0" i="0">
                <a:solidFill>
                  <a:srgbClr val="334155"/>
                </a:solidFill>
                <a:latin typeface="DM Sans"/>
              </a:rPr>
              <a:t>certified Li-ion cells only in the 18650 shield.</a:t>
            </a:r>
          </a:p>
          <a:p>
            <a:pPr marL="146304" indent="-146304">
              <a:lnSpc>
                <a:spcPct val="108000"/>
              </a:lnSpc>
              <a:spcAft>
                <a:spcPts val="600"/>
              </a:spcAft>
              <a:buClr>
                <a:srgbClr val="059669"/>
              </a:buClr>
              <a:buSzPct val="100000"/>
              <a:buFont typeface="Arial"/>
              <a:buChar char="▪"/>
            </a:pPr>
            <a:r>
              <a:rPr sz="919" b="1" i="0">
                <a:solidFill>
                  <a:srgbClr val="0F172A"/>
                </a:solidFill>
                <a:latin typeface="DM Sans"/>
              </a:rPr>
              <a:t>ICMR 2017 / CDSCO MDR 2017: </a:t>
            </a:r>
            <a:r>
              <a:rPr sz="919" b="0" i="0">
                <a:solidFill>
                  <a:srgbClr val="334155"/>
                </a:solidFill>
                <a:latin typeface="DM Sans"/>
              </a:rPr>
              <a:t>observational study design with haptic disabled.</a:t>
            </a:r>
          </a:p>
        </p:txBody>
      </p:sp>
      <p:sp>
        <p:nvSpPr>
          <p:cNvPr id="20" name="Rounded Rectangle 19"/>
          <p:cNvSpPr/>
          <p:nvPr/>
        </p:nvSpPr>
        <p:spPr>
          <a:xfrm>
            <a:off x="530352" y="3886200"/>
            <a:ext cx="11128248" cy="1645920"/>
          </a:xfrm>
          <a:prstGeom prst="roundRect">
            <a:avLst>
              <a:gd name="adj" fmla="val 444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731520" y="4032504"/>
            <a:ext cx="137160" cy="137160"/>
          </a:xfrm>
          <a:prstGeom prst="roundRect">
            <a:avLst>
              <a:gd name="adj" fmla="val 20000"/>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50976" y="3977640"/>
            <a:ext cx="10296144" cy="237744"/>
          </a:xfrm>
          <a:prstGeom prst="rect">
            <a:avLst/>
          </a:prstGeom>
          <a:noFill/>
        </p:spPr>
        <p:txBody>
          <a:bodyPr wrap="square" anchor="t" lIns="0" rIns="0" tIns="0" bIns="0">
            <a:spAutoFit/>
          </a:bodyPr>
          <a:lstStyle/>
          <a:p>
            <a:pPr algn="l"/>
            <a:r>
              <a:rPr sz="1125" b="1" i="0">
                <a:solidFill>
                  <a:srgbClr val="0F172A"/>
                </a:solidFill>
                <a:latin typeface="DM Sans"/>
              </a:rPr>
              <a:t>What the RATE Modification Changes (HX711 datasheet values)</a:t>
            </a:r>
          </a:p>
        </p:txBody>
      </p:sp>
      <p:graphicFrame>
        <p:nvGraphicFramePr>
          <p:cNvPr id="23" name="Table 22"/>
          <p:cNvGraphicFramePr>
            <a:graphicFrameLocks noGrp="1"/>
          </p:cNvGraphicFramePr>
          <p:nvPr/>
        </p:nvGraphicFramePr>
        <p:xfrm>
          <a:off x="731520" y="4297680"/>
          <a:ext cx="10725909" cy="1097280"/>
        </p:xfrm>
        <a:graphic>
          <a:graphicData uri="http://schemas.openxmlformats.org/drawingml/2006/table">
            <a:tbl>
              <a:tblPr firstRow="0" bandRow="0">
                <a:tableStyleId>{5940675A-B579-460E-94D1-54222C63F5DA}</a:tableStyleId>
              </a:tblPr>
              <a:tblGrid>
                <a:gridCol w="2200187"/>
                <a:gridCol w="1375116"/>
                <a:gridCol w="1466791"/>
                <a:gridCol w="2566884"/>
                <a:gridCol w="3116931"/>
              </a:tblGrid>
              <a:tr h="365760">
                <a:tc>
                  <a:txBody>
                    <a:bodyPr wrap="square"/>
                    <a:lstStyle/>
                    <a:p>
                      <a:r>
                        <a:rPr sz="900" b="1" i="0">
                          <a:solidFill>
                            <a:srgbClr val="0F172A"/>
                          </a:solidFill>
                          <a:latin typeface="DM Sans"/>
                        </a:rPr>
                        <a:t>Setting</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900" b="1" i="0">
                          <a:solidFill>
                            <a:srgbClr val="0F172A"/>
                          </a:solidFill>
                          <a:latin typeface="DM Sans"/>
                        </a:rPr>
                        <a:t>Output rate</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900" b="1" i="0">
                          <a:solidFill>
                            <a:srgbClr val="0F172A"/>
                          </a:solidFill>
                          <a:latin typeface="DM Sans"/>
                        </a:rPr>
                        <a:t>Sample interval</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900" b="1" i="0">
                          <a:solidFill>
                            <a:srgbClr val="0F172A"/>
                          </a:solidFill>
                          <a:latin typeface="DM Sans"/>
                        </a:rPr>
                        <a:t>Samples per channel in a 30 s trial</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c>
                  <a:txBody>
                    <a:bodyPr wrap="square"/>
                    <a:lstStyle/>
                    <a:p>
                      <a:r>
                        <a:rPr sz="900" b="1" i="0">
                          <a:solidFill>
                            <a:srgbClr val="0F172A"/>
                          </a:solidFill>
                          <a:latin typeface="DM Sans"/>
                        </a:rPr>
                        <a:t>Suitable for sway velocity (MVELO)?</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1F5F9"/>
                    </a:solidFill>
                  </a:tcPr>
                </a:tc>
              </a:tr>
              <a:tr h="365760">
                <a:tc>
                  <a:txBody>
                    <a:bodyPr wrap="square"/>
                    <a:lstStyle/>
                    <a:p>
                      <a:r>
                        <a:rPr sz="900" b="0" i="0">
                          <a:solidFill>
                            <a:srgbClr val="334155"/>
                          </a:solidFill>
                          <a:latin typeface="DM Sans"/>
                        </a:rPr>
                        <a:t>Stock board (RATE = GND)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900" b="0" i="0">
                          <a:solidFill>
                            <a:srgbClr val="334155"/>
                          </a:solidFill>
                          <a:latin typeface="DM Sans"/>
                        </a:rPr>
                        <a:t>10 SPS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900" b="0" i="0">
                          <a:solidFill>
                            <a:srgbClr val="334155"/>
                          </a:solidFill>
                          <a:latin typeface="DM Sans"/>
                        </a:rPr>
                        <a:t>100 ms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900" b="0" i="0">
                          <a:solidFill>
                            <a:srgbClr val="334155"/>
                          </a:solidFill>
                          <a:latin typeface="DM Sans"/>
                        </a:rPr>
                        <a:t>300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900" b="0" i="0">
                          <a:solidFill>
                            <a:srgbClr val="334155"/>
                          </a:solidFill>
                          <a:latin typeface="DM Sans"/>
                        </a:rPr>
                        <a:t>No: under-samples the sway path</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365760">
                <a:tc>
                  <a:txBody>
                    <a:bodyPr wrap="square"/>
                    <a:lstStyle/>
                    <a:p>
                      <a:r>
                        <a:rPr sz="900" b="0" i="0">
                          <a:solidFill>
                            <a:srgbClr val="334155"/>
                          </a:solidFill>
                          <a:latin typeface="DM Sans"/>
                        </a:rPr>
                        <a:t>Modified (RATE = DVDD)</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900" b="0" i="0">
                          <a:solidFill>
                            <a:srgbClr val="334155"/>
                          </a:solidFill>
                          <a:latin typeface="DM Sans"/>
                        </a:rPr>
                        <a:t>80 SPS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900" b="0" i="0">
                          <a:solidFill>
                            <a:srgbClr val="334155"/>
                          </a:solidFill>
                          <a:latin typeface="DM Sans"/>
                        </a:rPr>
                        <a:t>12.5 ms</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900" b="0" i="0">
                          <a:solidFill>
                            <a:srgbClr val="334155"/>
                          </a:solidFill>
                          <a:latin typeface="DM Sans"/>
                        </a:rPr>
                        <a:t>2,400</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wrap="square"/>
                    <a:lstStyle/>
                    <a:p>
                      <a:r>
                        <a:rPr sz="900" b="0" i="0">
                          <a:solidFill>
                            <a:srgbClr val="334155"/>
                          </a:solidFill>
                          <a:latin typeface="DM Sans"/>
                        </a:rPr>
                        <a:t>Yes: firmware filters at fc 10 Hz</a:t>
                      </a:r>
                    </a:p>
                  </a:txBody>
                  <a:tcPr marL="54864" marR="54864" marT="22860" marB="22860" anchor="ct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bl>
          </a:graphicData>
        </a:graphic>
      </p:graphicFrame>
      <p:pic>
        <p:nvPicPr>
          <p:cNvPr id="24" name="Picture 23" descr="image.png"/>
          <p:cNvPicPr>
            <a:picLocks noChangeAspect="1"/>
          </p:cNvPicPr>
          <p:nvPr/>
        </p:nvPicPr>
        <p:blipFill>
          <a:blip r:embed="rId5"/>
          <a:stretch>
            <a:fillRect/>
          </a:stretch>
        </p:blipFill>
        <p:spPr>
          <a:xfrm>
            <a:off x="530352" y="5669280"/>
            <a:ext cx="11128248" cy="365760"/>
          </a:xfrm>
          <a:prstGeom prst="rect">
            <a:avLst/>
          </a:prstGeom>
        </p:spPr>
      </p:pic>
      <p:sp>
        <p:nvSpPr>
          <p:cNvPr id="25" name="TextBox 24"/>
          <p:cNvSpPr txBox="1"/>
          <p:nvPr/>
        </p:nvSpPr>
        <p:spPr>
          <a:xfrm>
            <a:off x="694944" y="5687568"/>
            <a:ext cx="10835640" cy="329184"/>
          </a:xfrm>
          <a:prstGeom prst="rect">
            <a:avLst/>
          </a:prstGeom>
          <a:noFill/>
        </p:spPr>
        <p:txBody>
          <a:bodyPr wrap="square" anchor="ctr" lIns="0" rIns="0" tIns="0" bIns="0">
            <a:spAutoFit/>
          </a:bodyPr>
          <a:lstStyle/>
          <a:p>
            <a:pPr algn="l"/>
            <a:r>
              <a:rPr sz="940" b="1" i="0">
                <a:solidFill>
                  <a:srgbClr val="0F172A"/>
                </a:solidFill>
                <a:latin typeface="DM Sans"/>
              </a:rPr>
              <a:t>Simulation Verification: </a:t>
            </a:r>
            <a:r>
              <a:rPr sz="940" b="0" i="0">
                <a:solidFill>
                  <a:srgbClr val="475569"/>
                </a:solidFill>
                <a:latin typeface="DM Sans"/>
              </a:rPr>
              <a:t>in identical CalculiX runs the 10 mm plate cut centre deflection by 76% (2.56 → 0.61 mm) and the spacer-edge peak by 57% (276 → 120 MPa).</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rcRect l="14673" r="15820" t="33074" b="44466"/>
          <a:stretch>
            <a:fillRect/>
          </a:stretch>
        </p:blipFill>
        <p:spPr>
          <a:xfrm>
            <a:off x="0" y="6281013"/>
            <a:ext cx="1785823" cy="576986"/>
          </a:xfrm>
          <a:prstGeom prst="rect">
            <a:avLst/>
          </a:prstGeom>
        </p:spPr>
      </p:pic>
      <p:pic>
        <p:nvPicPr>
          <p:cNvPr id="4" name="Picture 3" descr="image.png"/>
          <p:cNvPicPr>
            <a:picLocks noChangeAspect="1"/>
          </p:cNvPicPr>
          <p:nvPr/>
        </p:nvPicPr>
        <p:blipFill>
          <a:blip r:embed="rId4"/>
          <a:stretch>
            <a:fillRect/>
          </a:stretch>
        </p:blipFill>
        <p:spPr>
          <a:xfrm>
            <a:off x="11095329" y="6281013"/>
            <a:ext cx="1096365" cy="576986"/>
          </a:xfrm>
          <a:prstGeom prst="rect">
            <a:avLst/>
          </a:prstGeom>
        </p:spPr>
      </p:pic>
      <p:sp>
        <p:nvSpPr>
          <p:cNvPr id="5" name="TextBox 4"/>
          <p:cNvSpPr txBox="1"/>
          <p:nvPr/>
        </p:nvSpPr>
        <p:spPr>
          <a:xfrm>
            <a:off x="530352" y="402336"/>
            <a:ext cx="8595360" cy="365760"/>
          </a:xfrm>
          <a:prstGeom prst="rect">
            <a:avLst/>
          </a:prstGeom>
          <a:noFill/>
        </p:spPr>
        <p:txBody>
          <a:bodyPr wrap="square" anchor="t" lIns="0" rIns="0" tIns="0" bIns="0">
            <a:spAutoFit/>
          </a:bodyPr>
          <a:lstStyle/>
          <a:p>
            <a:pPr algn="l"/>
            <a:r>
              <a:rPr sz="2025" b="1" i="0">
                <a:solidFill>
                  <a:srgbClr val="0F172A"/>
                </a:solidFill>
                <a:latin typeface="Poppins"/>
              </a:rPr>
              <a:t>References &amp; Sources</a:t>
            </a:r>
          </a:p>
        </p:txBody>
      </p:sp>
      <p:sp>
        <p:nvSpPr>
          <p:cNvPr id="6" name="Rounded Rectangle 5"/>
          <p:cNvSpPr/>
          <p:nvPr/>
        </p:nvSpPr>
        <p:spPr>
          <a:xfrm>
            <a:off x="10378440" y="484632"/>
            <a:ext cx="1280160" cy="210312"/>
          </a:xfrm>
          <a:prstGeom prst="roundRect">
            <a:avLst>
              <a:gd name="adj" fmla="val 50000"/>
            </a:avLst>
          </a:prstGeom>
          <a:solidFill>
            <a:srgbClr val="DCFCE7"/>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378440" y="484632"/>
            <a:ext cx="1280160" cy="210312"/>
          </a:xfrm>
          <a:prstGeom prst="rect">
            <a:avLst/>
          </a:prstGeom>
          <a:noFill/>
        </p:spPr>
        <p:txBody>
          <a:bodyPr wrap="square" anchor="ctr" lIns="0" rIns="0" tIns="0" bIns="0">
            <a:spAutoFit/>
          </a:bodyPr>
          <a:lstStyle/>
          <a:p>
            <a:pPr algn="ctr"/>
            <a:r>
              <a:rPr sz="750" b="1" i="0">
                <a:solidFill>
                  <a:srgbClr val="047857"/>
                </a:solidFill>
                <a:latin typeface="Poppins"/>
              </a:rPr>
              <a:t>REFERENCES</a:t>
            </a:r>
          </a:p>
        </p:txBody>
      </p:sp>
      <p:sp>
        <p:nvSpPr>
          <p:cNvPr id="8" name="TextBox 7"/>
          <p:cNvSpPr txBox="1"/>
          <p:nvPr/>
        </p:nvSpPr>
        <p:spPr>
          <a:xfrm>
            <a:off x="530352" y="1005840"/>
            <a:ext cx="11128248" cy="4480560"/>
          </a:xfrm>
          <a:prstGeom prst="rect">
            <a:avLst/>
          </a:prstGeom>
          <a:noFill/>
        </p:spPr>
        <p:txBody>
          <a:bodyPr wrap="square" anchor="t" lIns="0" rIns="0" tIns="0" bIns="0">
            <a:spAutoFit/>
          </a:bodyPr>
          <a:lstStyle/>
          <a:p>
            <a:pPr marL="146304" indent="-146304">
              <a:lnSpc>
                <a:spcPct val="108000"/>
              </a:lnSpc>
              <a:spcAft>
                <a:spcPts val="900"/>
              </a:spcAft>
              <a:buClr>
                <a:srgbClr val="0369A1"/>
              </a:buClr>
              <a:buSzPct val="100000"/>
              <a:buFont typeface="Arial"/>
              <a:buChar char="▪"/>
            </a:pPr>
            <a:r>
              <a:rPr sz="1000" b="0" i="0">
                <a:solidFill>
                  <a:srgbClr val="334155"/>
                </a:solidFill>
                <a:latin typeface="DM Sans"/>
              </a:rPr>
              <a:t>Prieto TE, Myklebust JB, Hoffmann RG, Lovett EG, Myklebust BM. Measures of postural steadiness: differences between healthy young and elderly adults. IEEE Trans Biomed Eng. 1996;43(9):956–966. doi:10.1109/10.532130</a:t>
            </a:r>
          </a:p>
          <a:p>
            <a:pPr marL="146304" indent="-146304">
              <a:lnSpc>
                <a:spcPct val="108000"/>
              </a:lnSpc>
              <a:spcAft>
                <a:spcPts val="900"/>
              </a:spcAft>
              <a:buClr>
                <a:srgbClr val="0369A1"/>
              </a:buClr>
              <a:buSzPct val="100000"/>
              <a:buFont typeface="Arial"/>
              <a:buChar char="▪"/>
            </a:pPr>
            <a:r>
              <a:rPr sz="1000" b="0" i="0">
                <a:solidFill>
                  <a:srgbClr val="334155"/>
                </a:solidFill>
                <a:latin typeface="DM Sans"/>
              </a:rPr>
              <a:t>Schubert P, Kirchner M. Ellipse area calculations and their applicability in posturography. Gait &amp; Posture. 2014;39(1):518–522. doi:10.1016/j.gaitpost.2013.09.001</a:t>
            </a:r>
          </a:p>
          <a:p>
            <a:pPr marL="146304" indent="-146304">
              <a:lnSpc>
                <a:spcPct val="108000"/>
              </a:lnSpc>
              <a:spcAft>
                <a:spcPts val="900"/>
              </a:spcAft>
              <a:buClr>
                <a:srgbClr val="0369A1"/>
              </a:buClr>
              <a:buSzPct val="100000"/>
              <a:buFont typeface="Arial"/>
              <a:buChar char="▪"/>
            </a:pPr>
            <a:r>
              <a:rPr sz="1000" b="0" i="0">
                <a:solidFill>
                  <a:srgbClr val="334155"/>
                </a:solidFill>
                <a:latin typeface="DM Sans"/>
              </a:rPr>
              <a:t>Winter DA. A.B.C. (Anatomy, Biomechanics and Control) of Balance during Standing and Walking. Waterloo Biomechanics; 1995.</a:t>
            </a:r>
          </a:p>
          <a:p>
            <a:pPr marL="146304" indent="-146304">
              <a:lnSpc>
                <a:spcPct val="108000"/>
              </a:lnSpc>
              <a:spcAft>
                <a:spcPts val="900"/>
              </a:spcAft>
              <a:buClr>
                <a:srgbClr val="0369A1"/>
              </a:buClr>
              <a:buSzPct val="100000"/>
              <a:buFont typeface="Arial"/>
              <a:buChar char="▪"/>
            </a:pPr>
            <a:r>
              <a:rPr sz="1000" b="0" i="0">
                <a:solidFill>
                  <a:srgbClr val="334155"/>
                </a:solidFill>
                <a:latin typeface="DM Sans"/>
              </a:rPr>
              <a:t>Wong CK, Chihuri ST, Li G. Risk of fall-related injury in people with lower limb amputations: a prospective cohort study. J Rehabil Med. 2016;48:80–85. doi:10.2340/16501977-2042  (56.1% fell during follow-up)</a:t>
            </a:r>
          </a:p>
          <a:p>
            <a:pPr marL="146304" indent="-146304">
              <a:lnSpc>
                <a:spcPct val="108000"/>
              </a:lnSpc>
              <a:spcAft>
                <a:spcPts val="900"/>
              </a:spcAft>
              <a:buClr>
                <a:srgbClr val="0369A1"/>
              </a:buClr>
              <a:buSzPct val="100000"/>
              <a:buFont typeface="Arial"/>
              <a:buChar char="▪"/>
            </a:pPr>
            <a:r>
              <a:rPr sz="1000" b="0" i="0">
                <a:solidFill>
                  <a:srgbClr val="334155"/>
                </a:solidFill>
                <a:latin typeface="DM Sans"/>
              </a:rPr>
              <a:t>Viswanathan V, Kumpatla S. Pattern and causes of amputation in diabetic patients: a multicentric study from India. J Assoc Physicians India. 2011;59:148–151. PMID 21751622  (70.9% of 1,295 amputations were minor)</a:t>
            </a:r>
          </a:p>
          <a:p>
            <a:pPr marL="146304" indent="-146304">
              <a:lnSpc>
                <a:spcPct val="108000"/>
              </a:lnSpc>
              <a:spcAft>
                <a:spcPts val="900"/>
              </a:spcAft>
              <a:buClr>
                <a:srgbClr val="0369A1"/>
              </a:buClr>
              <a:buSzPct val="100000"/>
              <a:buFont typeface="Arial"/>
              <a:buChar char="▪"/>
            </a:pPr>
            <a:r>
              <a:rPr sz="1000" b="0" i="0">
                <a:solidFill>
                  <a:srgbClr val="334155"/>
                </a:solidFill>
                <a:latin typeface="DM Sans"/>
              </a:rPr>
              <a:t>Avia Semiconductor. HX711 24-bit ADC for weigh scales, datasheet (pin functions, RATE 10/80 SPS, AVDD regulator).</a:t>
            </a:r>
          </a:p>
          <a:p>
            <a:pPr marL="146304" indent="-146304">
              <a:lnSpc>
                <a:spcPct val="108000"/>
              </a:lnSpc>
              <a:spcAft>
                <a:spcPts val="900"/>
              </a:spcAft>
              <a:buClr>
                <a:srgbClr val="0369A1"/>
              </a:buClr>
              <a:buSzPct val="100000"/>
              <a:buFont typeface="Arial"/>
              <a:buChar char="▪"/>
            </a:pPr>
            <a:r>
              <a:rPr sz="1000" b="0" i="0">
                <a:solidFill>
                  <a:srgbClr val="334155"/>
                </a:solidFill>
                <a:latin typeface="DM Sans"/>
              </a:rPr>
              <a:t>Espressif Systems. ESP32-WROOM-32 datasheet (strapping pins, flash-connected GPIO 6–11).</a:t>
            </a:r>
          </a:p>
          <a:p>
            <a:pPr marL="146304" indent="-146304">
              <a:lnSpc>
                <a:spcPct val="108000"/>
              </a:lnSpc>
              <a:spcAft>
                <a:spcPts val="900"/>
              </a:spcAft>
              <a:buClr>
                <a:srgbClr val="0369A1"/>
              </a:buClr>
              <a:buSzPct val="100000"/>
              <a:buFont typeface="Arial"/>
              <a:buChar char="▪"/>
            </a:pPr>
            <a:r>
              <a:rPr sz="1000" b="0" i="0">
                <a:solidFill>
                  <a:srgbClr val="334155"/>
                </a:solidFill>
                <a:latin typeface="DM Sans"/>
              </a:rPr>
              <a:t>FreeCAD 1.1 with FEM workbench (Gmsh mesher, CalculiX solver); KiCad EDA 10.0. Open-source engineering software used for CAD, FEA and schematic capture.</a:t>
            </a:r>
          </a:p>
          <a:p>
            <a:pPr marL="146304" indent="-146304">
              <a:lnSpc>
                <a:spcPct val="108000"/>
              </a:lnSpc>
              <a:spcAft>
                <a:spcPts val="900"/>
              </a:spcAft>
              <a:buClr>
                <a:srgbClr val="0369A1"/>
              </a:buClr>
              <a:buSzPct val="100000"/>
              <a:buFont typeface="Arial"/>
              <a:buChar char="▪"/>
            </a:pPr>
            <a:r>
              <a:rPr sz="1000" b="0" i="0">
                <a:solidFill>
                  <a:srgbClr val="334155"/>
                </a:solidFill>
                <a:latin typeface="DM Sans"/>
              </a:rPr>
              <a:t>ICMR. National Ethical Guidelines for Biomedical and Health Research Involving Human Participants. 2017.  ·  CDSCO. Medical Device Rules, 2017.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rcRect l="14673" r="15820" t="33074" b="44466"/>
          <a:stretch>
            <a:fillRect/>
          </a:stretch>
        </p:blipFill>
        <p:spPr>
          <a:xfrm>
            <a:off x="0" y="6281013"/>
            <a:ext cx="1785823" cy="576986"/>
          </a:xfrm>
          <a:prstGeom prst="rect">
            <a:avLst/>
          </a:prstGeom>
        </p:spPr>
      </p:pic>
      <p:pic>
        <p:nvPicPr>
          <p:cNvPr id="4" name="Picture 3" descr="image.png"/>
          <p:cNvPicPr>
            <a:picLocks noChangeAspect="1"/>
          </p:cNvPicPr>
          <p:nvPr/>
        </p:nvPicPr>
        <p:blipFill>
          <a:blip r:embed="rId4"/>
          <a:stretch>
            <a:fillRect/>
          </a:stretch>
        </p:blipFill>
        <p:spPr>
          <a:xfrm>
            <a:off x="11095329" y="6281013"/>
            <a:ext cx="1096365" cy="576986"/>
          </a:xfrm>
          <a:prstGeom prst="rect">
            <a:avLst/>
          </a:prstGeom>
        </p:spPr>
      </p:pic>
      <p:sp>
        <p:nvSpPr>
          <p:cNvPr id="5" name="TextBox 4"/>
          <p:cNvSpPr txBox="1"/>
          <p:nvPr/>
        </p:nvSpPr>
        <p:spPr>
          <a:xfrm>
            <a:off x="530352" y="402336"/>
            <a:ext cx="8595360" cy="365760"/>
          </a:xfrm>
          <a:prstGeom prst="rect">
            <a:avLst/>
          </a:prstGeom>
          <a:noFill/>
        </p:spPr>
        <p:txBody>
          <a:bodyPr wrap="square" anchor="t" lIns="0" rIns="0" tIns="0" bIns="0">
            <a:spAutoFit/>
          </a:bodyPr>
          <a:lstStyle/>
          <a:p>
            <a:pPr algn="l"/>
            <a:r>
              <a:rPr sz="2025" b="1" i="0">
                <a:solidFill>
                  <a:srgbClr val="0F172A"/>
                </a:solidFill>
                <a:latin typeface="Poppins"/>
              </a:rPr>
              <a:t>Image Sources</a:t>
            </a:r>
          </a:p>
        </p:txBody>
      </p:sp>
      <p:sp>
        <p:nvSpPr>
          <p:cNvPr id="6" name="Rounded Rectangle 5"/>
          <p:cNvSpPr/>
          <p:nvPr/>
        </p:nvSpPr>
        <p:spPr>
          <a:xfrm>
            <a:off x="10378440" y="484632"/>
            <a:ext cx="1280160" cy="210312"/>
          </a:xfrm>
          <a:prstGeom prst="roundRect">
            <a:avLst>
              <a:gd name="adj" fmla="val 50000"/>
            </a:avLst>
          </a:prstGeom>
          <a:solidFill>
            <a:srgbClr val="DCFCE7"/>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378440" y="484632"/>
            <a:ext cx="1280160" cy="210312"/>
          </a:xfrm>
          <a:prstGeom prst="rect">
            <a:avLst/>
          </a:prstGeom>
          <a:noFill/>
        </p:spPr>
        <p:txBody>
          <a:bodyPr wrap="square" anchor="ctr" lIns="0" rIns="0" tIns="0" bIns="0">
            <a:spAutoFit/>
          </a:bodyPr>
          <a:lstStyle/>
          <a:p>
            <a:pPr algn="ctr"/>
            <a:r>
              <a:rPr sz="750" b="1" i="0">
                <a:solidFill>
                  <a:srgbClr val="047857"/>
                </a:solidFill>
                <a:latin typeface="Poppins"/>
              </a:rPr>
              <a:t>IMAGE SOURCES</a:t>
            </a:r>
          </a:p>
        </p:txBody>
      </p:sp>
      <p:sp>
        <p:nvSpPr>
          <p:cNvPr id="8" name="Rounded Rectangle 7"/>
          <p:cNvSpPr/>
          <p:nvPr/>
        </p:nvSpPr>
        <p:spPr>
          <a:xfrm>
            <a:off x="530352" y="960120"/>
            <a:ext cx="960120" cy="621792"/>
          </a:xfrm>
          <a:prstGeom prst="roundRect">
            <a:avLst>
              <a:gd name="adj" fmla="val 882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foot_bos.png"/>
          <p:cNvPicPr>
            <a:picLocks noChangeAspect="1"/>
          </p:cNvPicPr>
          <p:nvPr/>
        </p:nvPicPr>
        <p:blipFill>
          <a:blip r:embed="rId5"/>
          <a:stretch>
            <a:fillRect/>
          </a:stretch>
        </p:blipFill>
        <p:spPr>
          <a:xfrm>
            <a:off x="557784" y="1045796"/>
            <a:ext cx="905256" cy="450438"/>
          </a:xfrm>
          <a:prstGeom prst="rect">
            <a:avLst/>
          </a:prstGeom>
        </p:spPr>
      </p:pic>
      <p:sp>
        <p:nvSpPr>
          <p:cNvPr id="10" name="TextBox 9"/>
          <p:cNvSpPr txBox="1"/>
          <p:nvPr/>
        </p:nvSpPr>
        <p:spPr>
          <a:xfrm>
            <a:off x="1645920" y="1014984"/>
            <a:ext cx="9966960" cy="228600"/>
          </a:xfrm>
          <a:prstGeom prst="rect">
            <a:avLst/>
          </a:prstGeom>
          <a:noFill/>
        </p:spPr>
        <p:txBody>
          <a:bodyPr wrap="square" anchor="t" lIns="0" rIns="0" tIns="0" bIns="0">
            <a:spAutoFit/>
          </a:bodyPr>
          <a:lstStyle/>
          <a:p>
            <a:pPr algn="l"/>
            <a:r>
              <a:rPr sz="980" b="1" i="0">
                <a:solidFill>
                  <a:srgbClr val="0F172A"/>
                </a:solidFill>
                <a:latin typeface="DM Sans"/>
              </a:rPr>
              <a:t>Forefoot base-of-support schematic (slide 4)</a:t>
            </a:r>
          </a:p>
        </p:txBody>
      </p:sp>
      <p:sp>
        <p:nvSpPr>
          <p:cNvPr id="11" name="TextBox 10"/>
          <p:cNvSpPr txBox="1"/>
          <p:nvPr/>
        </p:nvSpPr>
        <p:spPr>
          <a:xfrm>
            <a:off x="1645920" y="1261872"/>
            <a:ext cx="9966960" cy="228600"/>
          </a:xfrm>
          <a:prstGeom prst="rect">
            <a:avLst/>
          </a:prstGeom>
          <a:noFill/>
        </p:spPr>
        <p:txBody>
          <a:bodyPr wrap="square" anchor="t" lIns="0" rIns="0" tIns="0" bIns="0">
            <a:spAutoFit/>
          </a:bodyPr>
          <a:lstStyle/>
          <a:p>
            <a:pPr algn="l"/>
            <a:r>
              <a:rPr sz="900" b="0" i="0">
                <a:solidFill>
                  <a:srgbClr val="64748B"/>
                </a:solidFill>
                <a:latin typeface="DM Sans"/>
              </a:rPr>
              <a:t>Source: </a:t>
            </a:r>
            <a:r>
              <a:rPr sz="900" b="0" i="0">
                <a:solidFill>
                  <a:srgbClr val="0369A1"/>
                </a:solidFill>
                <a:latin typeface="DM Sans"/>
              </a:rPr>
              <a:t>Drawn for this project in Python/matplotlib · docs/figures/foot_bos.png</a:t>
            </a:r>
          </a:p>
        </p:txBody>
      </p:sp>
      <p:sp>
        <p:nvSpPr>
          <p:cNvPr id="12" name="Rounded Rectangle 11"/>
          <p:cNvSpPr/>
          <p:nvPr/>
        </p:nvSpPr>
        <p:spPr>
          <a:xfrm>
            <a:off x="530352" y="1746504"/>
            <a:ext cx="960120" cy="621792"/>
          </a:xfrm>
          <a:prstGeom prst="roundRect">
            <a:avLst>
              <a:gd name="adj" fmla="val 882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cad_iso.png"/>
          <p:cNvPicPr>
            <a:picLocks noChangeAspect="1"/>
          </p:cNvPicPr>
          <p:nvPr/>
        </p:nvPicPr>
        <p:blipFill>
          <a:blip r:embed="rId6"/>
          <a:stretch>
            <a:fillRect/>
          </a:stretch>
        </p:blipFill>
        <p:spPr>
          <a:xfrm>
            <a:off x="579524" y="1773936"/>
            <a:ext cx="861774" cy="566928"/>
          </a:xfrm>
          <a:prstGeom prst="rect">
            <a:avLst/>
          </a:prstGeom>
        </p:spPr>
      </p:pic>
      <p:sp>
        <p:nvSpPr>
          <p:cNvPr id="14" name="TextBox 13"/>
          <p:cNvSpPr txBox="1"/>
          <p:nvPr/>
        </p:nvSpPr>
        <p:spPr>
          <a:xfrm>
            <a:off x="1645920" y="1801368"/>
            <a:ext cx="9966960" cy="228600"/>
          </a:xfrm>
          <a:prstGeom prst="rect">
            <a:avLst/>
          </a:prstGeom>
          <a:noFill/>
        </p:spPr>
        <p:txBody>
          <a:bodyPr wrap="square" anchor="t" lIns="0" rIns="0" tIns="0" bIns="0">
            <a:spAutoFit/>
          </a:bodyPr>
          <a:lstStyle/>
          <a:p>
            <a:pPr algn="l"/>
            <a:r>
              <a:rPr sz="980" b="1" i="0">
                <a:solidFill>
                  <a:srgbClr val="0F172A"/>
                </a:solidFill>
                <a:latin typeface="DM Sans"/>
              </a:rPr>
              <a:t>Assembled platform render (slides 2, 7, 12)</a:t>
            </a:r>
          </a:p>
        </p:txBody>
      </p:sp>
      <p:sp>
        <p:nvSpPr>
          <p:cNvPr id="15" name="TextBox 14"/>
          <p:cNvSpPr txBox="1"/>
          <p:nvPr/>
        </p:nvSpPr>
        <p:spPr>
          <a:xfrm>
            <a:off x="1645920" y="2048256"/>
            <a:ext cx="9966960" cy="228600"/>
          </a:xfrm>
          <a:prstGeom prst="rect">
            <a:avLst/>
          </a:prstGeom>
          <a:noFill/>
        </p:spPr>
        <p:txBody>
          <a:bodyPr wrap="square" anchor="t" lIns="0" rIns="0" tIns="0" bIns="0">
            <a:spAutoFit/>
          </a:bodyPr>
          <a:lstStyle/>
          <a:p>
            <a:pPr algn="l"/>
            <a:r>
              <a:rPr sz="900" b="0" i="0">
                <a:solidFill>
                  <a:srgbClr val="64748B"/>
                </a:solidFill>
                <a:latin typeface="DM Sans"/>
              </a:rPr>
              <a:t>Source: </a:t>
            </a:r>
            <a:r>
              <a:rPr sz="900" b="0" i="0">
                <a:solidFill>
                  <a:srgbClr val="0369A1"/>
                </a:solidFill>
                <a:latin typeface="DM Sans"/>
              </a:rPr>
              <a:t>FreeCAD 1.1 · hardware/cad/renders/cad_iso.png</a:t>
            </a:r>
          </a:p>
        </p:txBody>
      </p:sp>
      <p:sp>
        <p:nvSpPr>
          <p:cNvPr id="16" name="Rounded Rectangle 15"/>
          <p:cNvSpPr/>
          <p:nvPr/>
        </p:nvSpPr>
        <p:spPr>
          <a:xfrm>
            <a:off x="530352" y="2532888"/>
            <a:ext cx="960120" cy="621792"/>
          </a:xfrm>
          <a:prstGeom prst="roundRect">
            <a:avLst>
              <a:gd name="adj" fmla="val 882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ad_exploded.png"/>
          <p:cNvPicPr>
            <a:picLocks noChangeAspect="1"/>
          </p:cNvPicPr>
          <p:nvPr/>
        </p:nvPicPr>
        <p:blipFill>
          <a:blip r:embed="rId7"/>
          <a:stretch>
            <a:fillRect/>
          </a:stretch>
        </p:blipFill>
        <p:spPr>
          <a:xfrm>
            <a:off x="744821" y="2560320"/>
            <a:ext cx="531181" cy="566928"/>
          </a:xfrm>
          <a:prstGeom prst="rect">
            <a:avLst/>
          </a:prstGeom>
        </p:spPr>
      </p:pic>
      <p:sp>
        <p:nvSpPr>
          <p:cNvPr id="18" name="TextBox 17"/>
          <p:cNvSpPr txBox="1"/>
          <p:nvPr/>
        </p:nvSpPr>
        <p:spPr>
          <a:xfrm>
            <a:off x="1645920" y="2587752"/>
            <a:ext cx="9966960" cy="228600"/>
          </a:xfrm>
          <a:prstGeom prst="rect">
            <a:avLst/>
          </a:prstGeom>
          <a:noFill/>
        </p:spPr>
        <p:txBody>
          <a:bodyPr wrap="square" anchor="t" lIns="0" rIns="0" tIns="0" bIns="0">
            <a:spAutoFit/>
          </a:bodyPr>
          <a:lstStyle/>
          <a:p>
            <a:pPr algn="l"/>
            <a:r>
              <a:rPr sz="980" b="1" i="0">
                <a:solidFill>
                  <a:srgbClr val="0F172A"/>
                </a:solidFill>
                <a:latin typeface="DM Sans"/>
              </a:rPr>
              <a:t>Exploded assembly render (slide 7)</a:t>
            </a:r>
          </a:p>
        </p:txBody>
      </p:sp>
      <p:sp>
        <p:nvSpPr>
          <p:cNvPr id="19" name="TextBox 18"/>
          <p:cNvSpPr txBox="1"/>
          <p:nvPr/>
        </p:nvSpPr>
        <p:spPr>
          <a:xfrm>
            <a:off x="1645920" y="2834640"/>
            <a:ext cx="9966960" cy="228600"/>
          </a:xfrm>
          <a:prstGeom prst="rect">
            <a:avLst/>
          </a:prstGeom>
          <a:noFill/>
        </p:spPr>
        <p:txBody>
          <a:bodyPr wrap="square" anchor="t" lIns="0" rIns="0" tIns="0" bIns="0">
            <a:spAutoFit/>
          </a:bodyPr>
          <a:lstStyle/>
          <a:p>
            <a:pPr algn="l"/>
            <a:r>
              <a:rPr sz="900" b="0" i="0">
                <a:solidFill>
                  <a:srgbClr val="64748B"/>
                </a:solidFill>
                <a:latin typeface="DM Sans"/>
              </a:rPr>
              <a:t>Source: </a:t>
            </a:r>
            <a:r>
              <a:rPr sz="900" b="0" i="0">
                <a:solidFill>
                  <a:srgbClr val="0369A1"/>
                </a:solidFill>
                <a:latin typeface="DM Sans"/>
              </a:rPr>
              <a:t>FreeCAD 1.1 · hardware/cad/renders/cad_exploded.png</a:t>
            </a:r>
          </a:p>
        </p:txBody>
      </p:sp>
      <p:sp>
        <p:nvSpPr>
          <p:cNvPr id="20" name="Rounded Rectangle 19"/>
          <p:cNvSpPr/>
          <p:nvPr/>
        </p:nvSpPr>
        <p:spPr>
          <a:xfrm>
            <a:off x="530352" y="3319272"/>
            <a:ext cx="960120" cy="621792"/>
          </a:xfrm>
          <a:prstGeom prst="roundRect">
            <a:avLst>
              <a:gd name="adj" fmla="val 882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fea_plot.png"/>
          <p:cNvPicPr>
            <a:picLocks noChangeAspect="1"/>
          </p:cNvPicPr>
          <p:nvPr/>
        </p:nvPicPr>
        <p:blipFill>
          <a:blip r:embed="rId8"/>
          <a:stretch>
            <a:fillRect/>
          </a:stretch>
        </p:blipFill>
        <p:spPr>
          <a:xfrm>
            <a:off x="557784" y="3426485"/>
            <a:ext cx="905256" cy="407365"/>
          </a:xfrm>
          <a:prstGeom prst="rect">
            <a:avLst/>
          </a:prstGeom>
        </p:spPr>
      </p:pic>
      <p:sp>
        <p:nvSpPr>
          <p:cNvPr id="22" name="TextBox 21"/>
          <p:cNvSpPr txBox="1"/>
          <p:nvPr/>
        </p:nvSpPr>
        <p:spPr>
          <a:xfrm>
            <a:off x="1645920" y="3374136"/>
            <a:ext cx="9966960" cy="228600"/>
          </a:xfrm>
          <a:prstGeom prst="rect">
            <a:avLst/>
          </a:prstGeom>
          <a:noFill/>
        </p:spPr>
        <p:txBody>
          <a:bodyPr wrap="square" anchor="t" lIns="0" rIns="0" tIns="0" bIns="0">
            <a:spAutoFit/>
          </a:bodyPr>
          <a:lstStyle/>
          <a:p>
            <a:pPr algn="l"/>
            <a:r>
              <a:rPr sz="980" b="1" i="0">
                <a:solidFill>
                  <a:srgbClr val="0F172A"/>
                </a:solidFill>
                <a:latin typeface="DM Sans"/>
              </a:rPr>
              <a:t>Top-plate stress and deflection maps (slide 8)</a:t>
            </a:r>
          </a:p>
        </p:txBody>
      </p:sp>
      <p:sp>
        <p:nvSpPr>
          <p:cNvPr id="23" name="TextBox 22"/>
          <p:cNvSpPr txBox="1"/>
          <p:nvPr/>
        </p:nvSpPr>
        <p:spPr>
          <a:xfrm>
            <a:off x="1645920" y="3621024"/>
            <a:ext cx="9966960" cy="228600"/>
          </a:xfrm>
          <a:prstGeom prst="rect">
            <a:avLst/>
          </a:prstGeom>
          <a:noFill/>
        </p:spPr>
        <p:txBody>
          <a:bodyPr wrap="square" anchor="t" lIns="0" rIns="0" tIns="0" bIns="0">
            <a:spAutoFit/>
          </a:bodyPr>
          <a:lstStyle/>
          <a:p>
            <a:pPr algn="l"/>
            <a:r>
              <a:rPr sz="900" b="0" i="0">
                <a:solidFill>
                  <a:srgbClr val="64748B"/>
                </a:solidFill>
                <a:latin typeface="DM Sans"/>
              </a:rPr>
              <a:t>Source: </a:t>
            </a:r>
            <a:r>
              <a:rPr sz="900" b="0" i="0">
                <a:solidFill>
                  <a:srgbClr val="0369A1"/>
                </a:solidFill>
                <a:latin typeface="DM Sans"/>
              </a:rPr>
              <a:t>CalculiX via FreeCAD FEM, plotted with analysis/plot_fea.py</a:t>
            </a:r>
          </a:p>
        </p:txBody>
      </p:sp>
      <p:sp>
        <p:nvSpPr>
          <p:cNvPr id="24" name="Rounded Rectangle 23"/>
          <p:cNvSpPr/>
          <p:nvPr/>
        </p:nvSpPr>
        <p:spPr>
          <a:xfrm>
            <a:off x="530352" y="4105656"/>
            <a:ext cx="960120" cy="621792"/>
          </a:xfrm>
          <a:prstGeom prst="roundRect">
            <a:avLst>
              <a:gd name="adj" fmla="val 882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ch_ch1.png"/>
          <p:cNvPicPr>
            <a:picLocks noChangeAspect="1"/>
          </p:cNvPicPr>
          <p:nvPr/>
        </p:nvPicPr>
        <p:blipFill>
          <a:blip r:embed="rId9"/>
          <a:stretch>
            <a:fillRect/>
          </a:stretch>
        </p:blipFill>
        <p:spPr>
          <a:xfrm>
            <a:off x="662804" y="4133088"/>
            <a:ext cx="695215" cy="566928"/>
          </a:xfrm>
          <a:prstGeom prst="rect">
            <a:avLst/>
          </a:prstGeom>
        </p:spPr>
      </p:pic>
      <p:sp>
        <p:nvSpPr>
          <p:cNvPr id="26" name="TextBox 25"/>
          <p:cNvSpPr txBox="1"/>
          <p:nvPr/>
        </p:nvSpPr>
        <p:spPr>
          <a:xfrm>
            <a:off x="1645920" y="4160520"/>
            <a:ext cx="9966960" cy="228600"/>
          </a:xfrm>
          <a:prstGeom prst="rect">
            <a:avLst/>
          </a:prstGeom>
          <a:noFill/>
        </p:spPr>
        <p:txBody>
          <a:bodyPr wrap="square" anchor="t" lIns="0" rIns="0" tIns="0" bIns="0">
            <a:spAutoFit/>
          </a:bodyPr>
          <a:lstStyle/>
          <a:p>
            <a:pPr algn="l"/>
            <a:r>
              <a:rPr sz="980" b="1" i="0">
                <a:solidFill>
                  <a:srgbClr val="0F172A"/>
                </a:solidFill>
                <a:latin typeface="DM Sans"/>
              </a:rPr>
              <a:t>Electronics schematic views (slides 9, 12)</a:t>
            </a:r>
          </a:p>
        </p:txBody>
      </p:sp>
      <p:sp>
        <p:nvSpPr>
          <p:cNvPr id="27" name="TextBox 26"/>
          <p:cNvSpPr txBox="1"/>
          <p:nvPr/>
        </p:nvSpPr>
        <p:spPr>
          <a:xfrm>
            <a:off x="1645920" y="4407408"/>
            <a:ext cx="9966960" cy="228600"/>
          </a:xfrm>
          <a:prstGeom prst="rect">
            <a:avLst/>
          </a:prstGeom>
          <a:noFill/>
        </p:spPr>
        <p:txBody>
          <a:bodyPr wrap="square" anchor="t" lIns="0" rIns="0" tIns="0" bIns="0">
            <a:spAutoFit/>
          </a:bodyPr>
          <a:lstStyle/>
          <a:p>
            <a:pPr algn="l"/>
            <a:r>
              <a:rPr sz="900" b="0" i="0">
                <a:solidFill>
                  <a:srgbClr val="64748B"/>
                </a:solidFill>
                <a:latin typeface="DM Sans"/>
              </a:rPr>
              <a:t>Source: </a:t>
            </a:r>
            <a:r>
              <a:rPr sz="900" b="0" i="0">
                <a:solidFill>
                  <a:srgbClr val="0369A1"/>
                </a:solidFill>
                <a:latin typeface="DM Sans"/>
              </a:rPr>
              <a:t>KiCad 10 · hardware/kicad/export/EquiSense_schematic.pdf</a:t>
            </a:r>
          </a:p>
        </p:txBody>
      </p:sp>
      <p:sp>
        <p:nvSpPr>
          <p:cNvPr id="28" name="Rounded Rectangle 27"/>
          <p:cNvSpPr/>
          <p:nvPr/>
        </p:nvSpPr>
        <p:spPr>
          <a:xfrm>
            <a:off x="530352" y="4892040"/>
            <a:ext cx="960120" cy="621792"/>
          </a:xfrm>
          <a:prstGeom prst="roundRect">
            <a:avLst>
              <a:gd name="adj" fmla="val 882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fea_vonmises.png"/>
          <p:cNvPicPr>
            <a:picLocks noChangeAspect="1"/>
          </p:cNvPicPr>
          <p:nvPr/>
        </p:nvPicPr>
        <p:blipFill>
          <a:blip r:embed="rId10"/>
          <a:stretch>
            <a:fillRect/>
          </a:stretch>
        </p:blipFill>
        <p:spPr>
          <a:xfrm>
            <a:off x="557784" y="4930422"/>
            <a:ext cx="905256" cy="545026"/>
          </a:xfrm>
          <a:prstGeom prst="rect">
            <a:avLst/>
          </a:prstGeom>
        </p:spPr>
      </p:pic>
      <p:sp>
        <p:nvSpPr>
          <p:cNvPr id="30" name="TextBox 29"/>
          <p:cNvSpPr txBox="1"/>
          <p:nvPr/>
        </p:nvSpPr>
        <p:spPr>
          <a:xfrm>
            <a:off x="1645920" y="4946904"/>
            <a:ext cx="9966960" cy="228600"/>
          </a:xfrm>
          <a:prstGeom prst="rect">
            <a:avLst/>
          </a:prstGeom>
          <a:noFill/>
        </p:spPr>
        <p:txBody>
          <a:bodyPr wrap="square" anchor="t" lIns="0" rIns="0" tIns="0" bIns="0">
            <a:spAutoFit/>
          </a:bodyPr>
          <a:lstStyle/>
          <a:p>
            <a:pPr algn="l"/>
            <a:r>
              <a:rPr sz="980" b="1" i="0">
                <a:solidFill>
                  <a:srgbClr val="0F172A"/>
                </a:solidFill>
                <a:latin typeface="DM Sans"/>
              </a:rPr>
              <a:t>FEM result view (slide 11)</a:t>
            </a:r>
          </a:p>
        </p:txBody>
      </p:sp>
      <p:sp>
        <p:nvSpPr>
          <p:cNvPr id="31" name="TextBox 30"/>
          <p:cNvSpPr txBox="1"/>
          <p:nvPr/>
        </p:nvSpPr>
        <p:spPr>
          <a:xfrm>
            <a:off x="1645920" y="5193792"/>
            <a:ext cx="9966960" cy="228600"/>
          </a:xfrm>
          <a:prstGeom prst="rect">
            <a:avLst/>
          </a:prstGeom>
          <a:noFill/>
        </p:spPr>
        <p:txBody>
          <a:bodyPr wrap="square" anchor="t" lIns="0" rIns="0" tIns="0" bIns="0">
            <a:spAutoFit/>
          </a:bodyPr>
          <a:lstStyle/>
          <a:p>
            <a:pPr algn="l"/>
            <a:r>
              <a:rPr sz="900" b="0" i="0">
                <a:solidFill>
                  <a:srgbClr val="64748B"/>
                </a:solidFill>
                <a:latin typeface="DM Sans"/>
              </a:rPr>
              <a:t>Source: </a:t>
            </a:r>
            <a:r>
              <a:rPr sz="900" b="0" i="0">
                <a:solidFill>
                  <a:srgbClr val="0369A1"/>
                </a:solidFill>
                <a:latin typeface="DM Sans"/>
              </a:rPr>
              <a:t>FreeCAD 1.1 FEM workbench · hardware/cad/renders/fea_vonmises.png</a:t>
            </a:r>
          </a:p>
        </p:txBody>
      </p:sp>
      <p:pic>
        <p:nvPicPr>
          <p:cNvPr id="32" name="Picture 31" descr="image.png"/>
          <p:cNvPicPr>
            <a:picLocks noChangeAspect="1"/>
          </p:cNvPicPr>
          <p:nvPr/>
        </p:nvPicPr>
        <p:blipFill>
          <a:blip r:embed="rId11"/>
          <a:stretch>
            <a:fillRect/>
          </a:stretch>
        </p:blipFill>
        <p:spPr>
          <a:xfrm>
            <a:off x="530352" y="5669280"/>
            <a:ext cx="11128248" cy="365760"/>
          </a:xfrm>
          <a:prstGeom prst="rect">
            <a:avLst/>
          </a:prstGeom>
        </p:spPr>
      </p:pic>
      <p:sp>
        <p:nvSpPr>
          <p:cNvPr id="33" name="TextBox 32"/>
          <p:cNvSpPr txBox="1"/>
          <p:nvPr/>
        </p:nvSpPr>
        <p:spPr>
          <a:xfrm>
            <a:off x="694944" y="5687568"/>
            <a:ext cx="10835640" cy="329184"/>
          </a:xfrm>
          <a:prstGeom prst="rect">
            <a:avLst/>
          </a:prstGeom>
          <a:noFill/>
        </p:spPr>
        <p:txBody>
          <a:bodyPr wrap="square" anchor="ctr" lIns="0" rIns="0" tIns="0" bIns="0">
            <a:spAutoFit/>
          </a:bodyPr>
          <a:lstStyle/>
          <a:p>
            <a:pPr algn="l"/>
            <a:r>
              <a:rPr sz="940" b="1" i="0">
                <a:solidFill>
                  <a:srgbClr val="0F172A"/>
                </a:solidFill>
                <a:latin typeface="DM Sans"/>
              </a:rPr>
              <a:t>All images are original: </a:t>
            </a:r>
            <a:r>
              <a:rPr sz="940" b="0" i="0">
                <a:solidFill>
                  <a:srgbClr val="475569"/>
                </a:solidFill>
                <a:latin typeface="DM Sans"/>
              </a:rPr>
              <a:t>every figure was produced for this project; native files are at https://github.com/amalnathkp13-boop/EquiSense-ForcePlatform. No third-party images are used.</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